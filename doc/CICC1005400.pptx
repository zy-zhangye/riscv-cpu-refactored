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notesSlides/notesSlide3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4.xml" ContentType="application/vnd.openxmlformats-officedocument.presentationml.notesSlide+xml"/>
  <Override PartName="/ppt/tags/tag107.xml" ContentType="application/vnd.openxmlformats-officedocument.presentationml.tags+xml"/>
  <Override PartName="/ppt/notesSlides/notesSlide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7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8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9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0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1.xml" ContentType="application/vnd.openxmlformats-officedocument.presentationml.notesSlide+xml"/>
  <Override PartName="/ppt/tags/tag1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21"/>
  </p:notesMasterIdLst>
  <p:handoutMasterIdLst>
    <p:handoutMasterId r:id="rId22"/>
  </p:handoutMasterIdLst>
  <p:sldIdLst>
    <p:sldId id="256" r:id="rId3"/>
    <p:sldId id="307" r:id="rId4"/>
    <p:sldId id="284" r:id="rId5"/>
    <p:sldId id="314" r:id="rId6"/>
    <p:sldId id="289" r:id="rId7"/>
    <p:sldId id="323" r:id="rId8"/>
    <p:sldId id="327" r:id="rId9"/>
    <p:sldId id="291" r:id="rId10"/>
    <p:sldId id="325" r:id="rId11"/>
    <p:sldId id="295" r:id="rId12"/>
    <p:sldId id="318" r:id="rId13"/>
    <p:sldId id="297" r:id="rId14"/>
    <p:sldId id="299" r:id="rId15"/>
    <p:sldId id="304" r:id="rId16"/>
    <p:sldId id="317" r:id="rId17"/>
    <p:sldId id="320" r:id="rId18"/>
    <p:sldId id="305" r:id="rId19"/>
    <p:sldId id="321" r:id="rId20"/>
  </p:sldIdLst>
  <p:sldSz cx="12192000" cy="6858000"/>
  <p:notesSz cx="6858000" cy="9144000"/>
  <p:embeddedFontLst>
    <p:embeddedFont>
      <p:font typeface="HarmonyOS Sans SC" panose="02010600030101010101" charset="-122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微软雅黑" panose="020B0503020204020204" pitchFamily="34" charset="-122"/>
      <p:regular r:id="rId29"/>
      <p:bold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2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orient="horz" pos="2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E5"/>
    <a:srgbClr val="666666"/>
    <a:srgbClr val="142DA8"/>
    <a:srgbClr val="333333"/>
    <a:srgbClr val="FFFFFF"/>
    <a:srgbClr val="7399E5"/>
    <a:srgbClr val="E3E3E3"/>
    <a:srgbClr val="FF1A29"/>
    <a:srgbClr val="FFDD99"/>
    <a:srgbClr val="FFB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969588-AC4D-4C24-8119-CE000EBEE7E7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40000"/>
              <a:lumOff val="60000"/>
              <a:alpha val="25000"/>
            </a:schemeClr>
          </a:solidFill>
        </a:fill>
      </a:tcStyle>
    </a:wholeTbl>
    <a:band2H>
      <a:tcStyle>
        <a:tcBdr/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band2H>
    <a:band1V>
      <a:tcStyle>
        <a:tcBdr/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/>
        <a:fill>
          <a:solidFill>
            <a:schemeClr val="dk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40000"/>
              <a:lumOff val="60000"/>
              <a:alpha val="55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6F8DE837-DDC9-44F1-85D3-C2C999259A59}" styleName="表样式 1 9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 w="9525" cmpd="sng">
              <a:solidFill>
                <a:srgbClr val="EFA16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 w="9525" cmpd="sng">
              <a:solidFill>
                <a:srgbClr val="EFA16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2F2F2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 w="9525" cmpd="sng">
              <a:solidFill>
                <a:srgbClr val="EFA16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E7E6E6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 w="9525" cmpd="sng">
              <a:solidFill>
                <a:srgbClr val="EFA163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E7E6E6"/>
          </a:solidFill>
        </a:fill>
      </a:tcStyle>
    </a:firstCol>
    <a:lastRow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EFA163"/>
              </a:solidFill>
              <a:prstDash val="solid"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rgbClr val="EFA163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rgbClr val="EFA163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44" y="1484"/>
      </p:cViewPr>
      <p:guideLst>
        <p:guide orient="horz" pos="2052"/>
        <p:guide pos="3839"/>
        <p:guide orient="horz" pos="259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竞业达杯不仅要求实现 </a:t>
            </a:r>
            <a:r>
              <a:rPr lang="en-US" altLang="zh-CN"/>
              <a:t>RV32I CPU，</a:t>
            </a:r>
            <a:r>
              <a:rPr lang="zh-CN" altLang="en-US"/>
              <a:t>更关注处理器能否在 </a:t>
            </a:r>
            <a:r>
              <a:rPr lang="en-US" altLang="zh-CN"/>
              <a:t>FPGA </a:t>
            </a:r>
            <a:r>
              <a:rPr lang="zh-CN" altLang="en-US"/>
              <a:t>上运行实际程序，并进一步完成工业程序和 </a:t>
            </a:r>
            <a:r>
              <a:rPr lang="en-US" altLang="zh-CN"/>
              <a:t>RT-Thread </a:t>
            </a:r>
            <a:r>
              <a:rPr lang="zh-CN" altLang="en-US"/>
              <a:t>的性能测评。</a:t>
            </a:r>
          </a:p>
          <a:p>
            <a:r>
              <a:rPr lang="zh-CN" altLang="en-US"/>
              <a:t>针对这些要求，我们已完成 </a:t>
            </a:r>
            <a:r>
              <a:rPr lang="en-US" altLang="zh-CN"/>
              <a:t>RV32I </a:t>
            </a:r>
            <a:r>
              <a:rPr lang="zh-CN" altLang="en-US"/>
              <a:t>基础指令与相关扩展的实现和验证；完成 </a:t>
            </a:r>
            <a:r>
              <a:rPr lang="en-US" altLang="zh-CN"/>
              <a:t>CPU </a:t>
            </a:r>
            <a:r>
              <a:rPr lang="zh-CN" altLang="en-US"/>
              <a:t>与自建 </a:t>
            </a:r>
            <a:r>
              <a:rPr lang="en-US" altLang="zh-CN"/>
              <a:t>SoC </a:t>
            </a:r>
            <a:r>
              <a:rPr lang="zh-CN" altLang="en-US"/>
              <a:t>的 </a:t>
            </a:r>
            <a:r>
              <a:rPr lang="en-US" altLang="zh-CN"/>
              <a:t>FPGA </a:t>
            </a:r>
            <a:r>
              <a:rPr lang="zh-CN" altLang="en-US"/>
              <a:t>集成；建立了性能计数器和分类基准测试框架，并完成 </a:t>
            </a:r>
            <a:r>
              <a:rPr lang="en-US" altLang="zh-CN"/>
              <a:t>CoreMark </a:t>
            </a:r>
            <a:r>
              <a:rPr lang="zh-CN" altLang="en-US"/>
              <a:t>裸机运行验证。</a:t>
            </a:r>
          </a:p>
          <a:p>
            <a:r>
              <a:rPr lang="zh-CN" altLang="en-US"/>
              <a:t>目前，作品已经完成“功能正确、系统可运行”的阶段，下一步将重点面向官方程序和 </a:t>
            </a:r>
            <a:r>
              <a:rPr lang="en-US" altLang="zh-CN"/>
              <a:t>RT-Thread </a:t>
            </a:r>
            <a:r>
              <a:rPr lang="zh-CN" altLang="en-US"/>
              <a:t>开展适配与测评。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作品的核心是一颗单发射五级流水 </a:t>
            </a:r>
            <a:r>
              <a:rPr lang="en-US" altLang="zh-CN"/>
              <a:t>RV32 RISC-V CPU，</a:t>
            </a:r>
            <a:r>
              <a:rPr lang="zh-CN" altLang="en-US"/>
              <a:t>包含取指、译码、执行、访存和写回五个阶段。</a:t>
            </a:r>
          </a:p>
          <a:p>
            <a:r>
              <a:rPr lang="zh-CN" altLang="en-US"/>
              <a:t>在基础 </a:t>
            </a:r>
            <a:r>
              <a:rPr lang="en-US" altLang="zh-CN"/>
              <a:t>RV32I </a:t>
            </a:r>
            <a:r>
              <a:rPr lang="zh-CN" altLang="en-US"/>
              <a:t>指令集之外，</a:t>
            </a:r>
            <a:r>
              <a:rPr lang="en-US" altLang="zh-CN"/>
              <a:t>CPU </a:t>
            </a:r>
            <a:r>
              <a:rPr lang="zh-CN" altLang="en-US"/>
              <a:t>支持 </a:t>
            </a:r>
            <a:r>
              <a:rPr lang="en-US" altLang="zh-CN"/>
              <a:t>M </a:t>
            </a:r>
            <a:r>
              <a:rPr lang="zh-CN" altLang="en-US"/>
              <a:t>扩展乘除法、</a:t>
            </a:r>
            <a:r>
              <a:rPr lang="en-US" altLang="zh-CN"/>
              <a:t>Zicsr </a:t>
            </a:r>
            <a:r>
              <a:rPr lang="zh-CN" altLang="en-US"/>
              <a:t>系统控制指令，以及部分 </a:t>
            </a:r>
            <a:r>
              <a:rPr lang="en-US" altLang="zh-CN"/>
              <a:t>Z </a:t>
            </a:r>
            <a:r>
              <a:rPr lang="zh-CN" altLang="en-US"/>
              <a:t>位操作扩展。同时，设计中加入了 </a:t>
            </a:r>
            <a:r>
              <a:rPr lang="en-US" altLang="zh-CN"/>
              <a:t>CSR、</a:t>
            </a:r>
            <a:r>
              <a:rPr lang="zh-CN" altLang="en-US"/>
              <a:t>异常中断处理和性能计数器，使 </a:t>
            </a:r>
            <a:r>
              <a:rPr lang="en-US" altLang="zh-CN"/>
              <a:t>CPU </a:t>
            </a:r>
            <a:r>
              <a:rPr lang="zh-CN" altLang="en-US"/>
              <a:t>不仅能够执行基础程序，也具备面向系统软件运行和性能分析的基础能力。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为保证乘法模块高速运行，我们将 32 位乘法拆分为四个 16×16 部分积，并行映射到 </a:t>
            </a:r>
            <a:r>
              <a:rPr lang="en-US" altLang="zh-CN"/>
              <a:t>FPGA </a:t>
            </a:r>
            <a:r>
              <a:rPr lang="zh-CN" altLang="en-US"/>
              <a:t>的 </a:t>
            </a:r>
            <a:r>
              <a:rPr lang="en-US" altLang="zh-CN"/>
              <a:t>DSP </a:t>
            </a:r>
            <a:r>
              <a:rPr lang="zh-CN" altLang="en-US"/>
              <a:t>资源中，再通过交叉项累加得到最终结果。对于普通 </a:t>
            </a:r>
            <a:r>
              <a:rPr lang="en-US" altLang="zh-CN"/>
              <a:t>MUL，</a:t>
            </a:r>
            <a:r>
              <a:rPr lang="zh-CN" altLang="en-US"/>
              <a:t>低 32 位固定两拍完成；对于 </a:t>
            </a:r>
            <a:r>
              <a:rPr lang="en-US" altLang="zh-CN"/>
              <a:t>MULH、MULHSU </a:t>
            </a:r>
            <a:r>
              <a:rPr lang="zh-CN" altLang="en-US"/>
              <a:t>和 </a:t>
            </a:r>
            <a:r>
              <a:rPr lang="en-US" altLang="zh-CN"/>
              <a:t>MULHU，</a:t>
            </a:r>
            <a:r>
              <a:rPr lang="zh-CN" altLang="en-US"/>
              <a:t>再增加一级高位累加与符号修正流水。这样既复用了同一套部分积硬件，也避免高位乘法直接形成过长组合路径。比</a:t>
            </a:r>
            <a:r>
              <a:rPr lang="en-US" altLang="zh-CN"/>
              <a:t>vivado IP</a:t>
            </a:r>
            <a:r>
              <a:rPr lang="zh-CN" altLang="en-US"/>
              <a:t>核默认下的</a:t>
            </a:r>
            <a:r>
              <a:rPr lang="en-US" altLang="zh-CN"/>
              <a:t>6</a:t>
            </a:r>
            <a:r>
              <a:rPr lang="zh-CN" altLang="en-US"/>
              <a:t>拍流水有着较大的提升。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除法模块先对除数归一化，再从倒数 </a:t>
            </a:r>
            <a:r>
              <a:rPr lang="en-US" altLang="zh-CN"/>
              <a:t>ROM </a:t>
            </a:r>
            <a:r>
              <a:rPr lang="zh-CN" altLang="en-US"/>
              <a:t>读取初始倒数，通过一次 </a:t>
            </a:r>
            <a:r>
              <a:rPr lang="en-US" altLang="zh-CN"/>
              <a:t>Goldschmidt </a:t>
            </a:r>
            <a:r>
              <a:rPr lang="zh-CN" altLang="en-US"/>
              <a:t>迭代和最终商值校正得到精确的 </a:t>
            </a:r>
            <a:r>
              <a:rPr lang="en-US" altLang="zh-CN"/>
              <a:t>DIV/DIVU/REM/REMU </a:t>
            </a:r>
            <a:r>
              <a:rPr lang="zh-CN" altLang="en-US"/>
              <a:t>结果，正常路径为 14 拍。该设计同时处理除零和有符号溢出等特殊情况，并通过请求、结果保持与冲刷取消机制保证其能够安全接入流水线。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为了提升吞吐并保证正确性，我们重点处理了流水线中的数据相关和控制相关问题。</a:t>
            </a:r>
          </a:p>
          <a:p>
            <a:r>
              <a:rPr lang="zh-CN" altLang="en-US"/>
              <a:t>对于普通的数据相关，优先通过 </a:t>
            </a:r>
            <a:r>
              <a:rPr lang="en-US" altLang="zh-CN"/>
              <a:t>EXE、MEM </a:t>
            </a:r>
            <a:r>
              <a:rPr lang="zh-CN" altLang="en-US"/>
              <a:t>和 </a:t>
            </a:r>
            <a:r>
              <a:rPr lang="en-US" altLang="zh-CN"/>
              <a:t>WB </a:t>
            </a:r>
            <a:r>
              <a:rPr lang="zh-CN" altLang="en-US"/>
              <a:t>级之间的前递来减少等待；对于紧邻的 </a:t>
            </a:r>
            <a:r>
              <a:rPr lang="en-US" altLang="zh-CN"/>
              <a:t>load-use </a:t>
            </a:r>
            <a:r>
              <a:rPr lang="zh-CN" altLang="en-US"/>
              <a:t>相关，则通过暂停译码级等待访存结果有效。</a:t>
            </a:r>
          </a:p>
          <a:p>
            <a:r>
              <a:rPr lang="zh-CN" altLang="en-US"/>
              <a:t>对于分支、跳转和异常等控制流变化，</a:t>
            </a:r>
            <a:r>
              <a:rPr lang="en-US" altLang="zh-CN"/>
              <a:t>CPU </a:t>
            </a:r>
            <a:r>
              <a:rPr lang="zh-CN" altLang="en-US"/>
              <a:t>利用 </a:t>
            </a:r>
            <a:r>
              <a:rPr lang="en-US" altLang="zh-CN"/>
              <a:t>BTB </a:t>
            </a:r>
            <a:r>
              <a:rPr lang="zh-CN" altLang="en-US"/>
              <a:t>进行分支预测；当预测失败或发生重定向时，及时冲刷错误路径指令并从正确地址重新取指。</a:t>
            </a:r>
          </a:p>
          <a:p>
            <a:r>
              <a:rPr lang="zh-CN" altLang="en-US"/>
              <a:t>此外，级间采用注册化握手和暂存缓冲机制，使复杂停顿条件下的反压路径更加可控，为 </a:t>
            </a:r>
            <a:r>
              <a:rPr lang="en-US" altLang="zh-CN"/>
              <a:t>FPGA </a:t>
            </a:r>
            <a:r>
              <a:rPr lang="zh-CN" altLang="en-US"/>
              <a:t>时序收敛提供支持。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为减少</a:t>
            </a:r>
            <a:r>
              <a:rPr lang="en-US" altLang="zh-CN"/>
              <a:t>load-use</a:t>
            </a:r>
            <a:r>
              <a:rPr lang="zh-CN" altLang="en-US"/>
              <a:t>空泡，我们进行了以下优化：我们在主存旁增加了一个只服务栈标量的轻量缓冲。对齐的栈 </a:t>
            </a:r>
            <a:r>
              <a:rPr lang="en-US" altLang="zh-CN"/>
              <a:t>Store </a:t>
            </a:r>
            <a:r>
              <a:rPr lang="zh-CN" altLang="en-US"/>
              <a:t>会更新缓冲；后续栈 </a:t>
            </a:r>
            <a:r>
              <a:rPr lang="en-US" altLang="zh-CN"/>
              <a:t>LW </a:t>
            </a:r>
            <a:r>
              <a:rPr lang="zh-CN" altLang="en-US"/>
              <a:t>命中时，数据在 </a:t>
            </a:r>
            <a:r>
              <a:rPr lang="en-US" altLang="zh-CN"/>
              <a:t>load </a:t>
            </a:r>
            <a:r>
              <a:rPr lang="zh-CN" altLang="en-US"/>
              <a:t>离开 </a:t>
            </a:r>
            <a:r>
              <a:rPr lang="en-US" altLang="zh-CN"/>
              <a:t>EX </a:t>
            </a:r>
            <a:r>
              <a:rPr lang="zh-CN" altLang="en-US"/>
              <a:t>阶段时被写入专用前递寄存器，下一条普通整数 </a:t>
            </a:r>
            <a:r>
              <a:rPr lang="en-US" altLang="zh-CN"/>
              <a:t>ALU </a:t>
            </a:r>
            <a:r>
              <a:rPr lang="zh-CN" altLang="en-US"/>
              <a:t>指令直接从该寄存器取数，实现零空泡执行。</a:t>
            </a:r>
          </a:p>
          <a:p>
            <a:r>
              <a:rPr lang="zh-CN" altLang="en-US"/>
              <a:t>该结构不是通用 </a:t>
            </a:r>
            <a:r>
              <a:rPr lang="en-US" altLang="zh-CN"/>
              <a:t>Cache：</a:t>
            </a:r>
            <a:r>
              <a:rPr lang="zh-CN" altLang="en-US"/>
              <a:t>主 </a:t>
            </a:r>
            <a:r>
              <a:rPr lang="en-US" altLang="zh-CN"/>
              <a:t>BRAM </a:t>
            </a:r>
            <a:r>
              <a:rPr lang="zh-CN" altLang="en-US"/>
              <a:t>仍是唯一的架构状态；所有 </a:t>
            </a:r>
            <a:r>
              <a:rPr lang="en-US" altLang="zh-CN"/>
              <a:t>Store </a:t>
            </a:r>
            <a:r>
              <a:rPr lang="zh-CN" altLang="en-US"/>
              <a:t>都会监听对应表项，部分写入时主动失效，以保证一致性。对于未命中、分支、</a:t>
            </a:r>
            <a:r>
              <a:rPr lang="en-US" altLang="zh-CN"/>
              <a:t>Store </a:t>
            </a:r>
            <a:r>
              <a:rPr lang="zh-CN" altLang="en-US"/>
              <a:t>等不适合前递的场景，仍保留原有停顿机制。实际 </a:t>
            </a:r>
            <a:r>
              <a:rPr lang="en-US" altLang="zh-CN"/>
              <a:t>irom-v2 </a:t>
            </a:r>
            <a:r>
              <a:rPr lang="zh-CN" altLang="en-US"/>
              <a:t>测试中，该方案减少了约 7354 万个周期，周期数下降 14.96%。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在系统控制方面，</a:t>
            </a:r>
            <a:r>
              <a:rPr lang="en-US" altLang="zh-CN"/>
              <a:t>CPU </a:t>
            </a:r>
            <a:r>
              <a:rPr lang="zh-CN" altLang="en-US"/>
              <a:t>将同步异常和外部中断统一纳入 </a:t>
            </a:r>
            <a:r>
              <a:rPr lang="en-US" altLang="zh-CN"/>
              <a:t>Trap </a:t>
            </a:r>
            <a:r>
              <a:rPr lang="zh-CN" altLang="en-US"/>
              <a:t>控制路径。</a:t>
            </a:r>
          </a:p>
          <a:p>
            <a:r>
              <a:rPr lang="zh-CN" altLang="en-US"/>
              <a:t>当发生 </a:t>
            </a:r>
            <a:r>
              <a:rPr lang="en-US" altLang="zh-CN"/>
              <a:t>ecall、ebreak、</a:t>
            </a:r>
            <a:r>
              <a:rPr lang="zh-CN" altLang="en-US"/>
              <a:t>地址非对齐等同步异常，或者 </a:t>
            </a:r>
            <a:r>
              <a:rPr lang="en-US" altLang="zh-CN"/>
              <a:t>Timer、UART </a:t>
            </a:r>
            <a:r>
              <a:rPr lang="zh-CN" altLang="en-US"/>
              <a:t>等外部中断经 </a:t>
            </a:r>
            <a:r>
              <a:rPr lang="en-US" altLang="zh-CN"/>
              <a:t>PLIC </a:t>
            </a:r>
            <a:r>
              <a:rPr lang="zh-CN" altLang="en-US"/>
              <a:t>进入 </a:t>
            </a:r>
            <a:r>
              <a:rPr lang="en-US" altLang="zh-CN"/>
              <a:t>CPU </a:t>
            </a:r>
            <a:r>
              <a:rPr lang="zh-CN" altLang="en-US"/>
              <a:t>时，处理器会保存异常现场到 </a:t>
            </a:r>
            <a:r>
              <a:rPr lang="en-US" altLang="zh-CN"/>
              <a:t>CSR，</a:t>
            </a:r>
            <a:r>
              <a:rPr lang="zh-CN" altLang="en-US"/>
              <a:t>冲刷流水线中的错误路径指令，并跳转到 </a:t>
            </a:r>
            <a:r>
              <a:rPr lang="en-US" altLang="zh-CN"/>
              <a:t>Trap Handler </a:t>
            </a:r>
            <a:r>
              <a:rPr lang="zh-CN" altLang="en-US"/>
              <a:t>执行处理程序。</a:t>
            </a:r>
          </a:p>
          <a:p>
            <a:r>
              <a:rPr lang="zh-CN" altLang="en-US"/>
              <a:t>处理完成后，通过 </a:t>
            </a:r>
            <a:r>
              <a:rPr lang="en-US" altLang="zh-CN"/>
              <a:t>mret </a:t>
            </a:r>
            <a:r>
              <a:rPr lang="zh-CN" altLang="en-US"/>
              <a:t>恢复被中断程序的执行。这一机制为复杂裸机程序以及后续 </a:t>
            </a:r>
            <a:r>
              <a:rPr lang="en-US" altLang="zh-CN"/>
              <a:t>RT-Thread </a:t>
            </a:r>
            <a:r>
              <a:rPr lang="zh-CN" altLang="en-US"/>
              <a:t>移植提供了必要的硬件基础。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为了支持本地 </a:t>
            </a:r>
            <a:r>
              <a:rPr lang="en-US" altLang="zh-CN"/>
              <a:t>FPGA </a:t>
            </a:r>
            <a:r>
              <a:rPr lang="zh-CN" altLang="en-US"/>
              <a:t>调试和独立验证，我们围绕 </a:t>
            </a:r>
            <a:r>
              <a:rPr lang="en-US" altLang="zh-CN"/>
              <a:t>CPU </a:t>
            </a:r>
            <a:r>
              <a:rPr lang="zh-CN" altLang="en-US"/>
              <a:t>裸核自建了 </a:t>
            </a:r>
            <a:r>
              <a:rPr lang="en-US" altLang="zh-CN"/>
              <a:t>SoC </a:t>
            </a:r>
            <a:r>
              <a:rPr lang="zh-CN" altLang="en-US"/>
              <a:t>平台。</a:t>
            </a:r>
          </a:p>
          <a:p>
            <a:r>
              <a:rPr lang="zh-CN" altLang="en-US"/>
              <a:t>系统集成了指令与数据存储、</a:t>
            </a:r>
            <a:r>
              <a:rPr lang="en-US" altLang="zh-CN"/>
              <a:t>UART、Timer、PLIC、GPIO </a:t>
            </a:r>
            <a:r>
              <a:rPr lang="zh-CN" altLang="en-US"/>
              <a:t>等模块。其中，</a:t>
            </a:r>
            <a:r>
              <a:rPr lang="en-US" altLang="zh-CN"/>
              <a:t>UART </a:t>
            </a:r>
            <a:r>
              <a:rPr lang="zh-CN" altLang="en-US"/>
              <a:t>支持本地串口输出、程序调试和结果观测；</a:t>
            </a:r>
            <a:r>
              <a:rPr lang="en-US" altLang="zh-CN"/>
              <a:t>Timer </a:t>
            </a:r>
            <a:r>
              <a:rPr lang="zh-CN" altLang="en-US"/>
              <a:t>与 </a:t>
            </a:r>
            <a:r>
              <a:rPr lang="en-US" altLang="zh-CN"/>
              <a:t>PLIC </a:t>
            </a:r>
            <a:r>
              <a:rPr lang="zh-CN" altLang="en-US"/>
              <a:t>支持外设中断验证；</a:t>
            </a:r>
            <a:r>
              <a:rPr lang="en-US" altLang="zh-CN"/>
              <a:t>GPIO </a:t>
            </a:r>
            <a:r>
              <a:rPr lang="zh-CN" altLang="en-US"/>
              <a:t>则用于 </a:t>
            </a:r>
            <a:r>
              <a:rPr lang="en-US" altLang="zh-CN"/>
              <a:t>LED、</a:t>
            </a:r>
            <a:r>
              <a:rPr lang="zh-CN" altLang="en-US"/>
              <a:t>数码管等板级交互。</a:t>
            </a:r>
          </a:p>
          <a:p>
            <a:r>
              <a:rPr lang="zh-CN" altLang="en-US"/>
              <a:t>因此，我们不仅完成了 </a:t>
            </a:r>
            <a:r>
              <a:rPr lang="en-US" altLang="zh-CN"/>
              <a:t>CPU </a:t>
            </a:r>
            <a:r>
              <a:rPr lang="zh-CN" altLang="en-US"/>
              <a:t>裸核设计，还建立了“程序运行、串口观测、外设交互和性能测量”的本地工程环境。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在验证方面，我们建立了从模块到系统、再到板级的分层验证流程。</a:t>
            </a:r>
          </a:p>
          <a:p>
            <a:r>
              <a:rPr lang="zh-CN" altLang="en-US"/>
              <a:t>首先，对 </a:t>
            </a:r>
            <a:r>
              <a:rPr lang="en-US" altLang="zh-CN"/>
              <a:t>UART、Timer、PLIC </a:t>
            </a:r>
            <a:r>
              <a:rPr lang="zh-CN" altLang="en-US"/>
              <a:t>等模块进行 </a:t>
            </a:r>
            <a:r>
              <a:rPr lang="en-US" altLang="zh-CN"/>
              <a:t>RTL </a:t>
            </a:r>
            <a:r>
              <a:rPr lang="zh-CN" altLang="en-US"/>
              <a:t>仿真和定向测试；随后完成 </a:t>
            </a:r>
            <a:r>
              <a:rPr lang="en-US" altLang="zh-CN"/>
              <a:t>CPU </a:t>
            </a:r>
            <a:r>
              <a:rPr lang="zh-CN" altLang="en-US"/>
              <a:t>指令、乘除法、异常、中断和流水线冒险等回归验证；最后将系统部署到 </a:t>
            </a:r>
            <a:r>
              <a:rPr lang="en-US" altLang="zh-CN"/>
              <a:t>FPGA </a:t>
            </a:r>
            <a:r>
              <a:rPr lang="zh-CN" altLang="en-US"/>
              <a:t>板级，通过串口、</a:t>
            </a:r>
            <a:r>
              <a:rPr lang="en-US" altLang="zh-CN"/>
              <a:t>LED </a:t>
            </a:r>
            <a:r>
              <a:rPr lang="zh-CN" altLang="en-US"/>
              <a:t>和数码管观察程序运行结果。</a:t>
            </a:r>
          </a:p>
          <a:p>
            <a:r>
              <a:rPr lang="zh-CN" altLang="en-US"/>
              <a:t>通过这一流程，逐步证明了模块功能正确、</a:t>
            </a:r>
            <a:r>
              <a:rPr lang="en-US" altLang="zh-CN"/>
              <a:t>CPU </a:t>
            </a:r>
            <a:r>
              <a:rPr lang="zh-CN" altLang="en-US"/>
              <a:t>运行正确，以及 </a:t>
            </a:r>
            <a:r>
              <a:rPr lang="en-US" altLang="zh-CN"/>
              <a:t>SoC </a:t>
            </a:r>
            <a:r>
              <a:rPr lang="zh-CN" altLang="en-US"/>
              <a:t>在 </a:t>
            </a:r>
            <a:r>
              <a:rPr lang="en-US" altLang="zh-CN"/>
              <a:t>FPGA </a:t>
            </a:r>
            <a:r>
              <a:rPr lang="zh-CN" altLang="en-US"/>
              <a:t>上能够稳定运行。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在性能测评方面，我们通过 </a:t>
            </a:r>
            <a:r>
              <a:rPr lang="en-US" altLang="zh-CN"/>
              <a:t>CSR </a:t>
            </a:r>
            <a:r>
              <a:rPr lang="zh-CN" altLang="en-US"/>
              <a:t>性能计数器采集周期数、提交指令数、分支和停顿等信息，并设计了 </a:t>
            </a:r>
            <a:r>
              <a:rPr lang="en-US" altLang="zh-CN"/>
              <a:t>ALU、</a:t>
            </a:r>
            <a:r>
              <a:rPr lang="zh-CN" altLang="en-US"/>
              <a:t>分支和访存三类分类基准。</a:t>
            </a:r>
          </a:p>
          <a:p>
            <a:r>
              <a:rPr lang="zh-CN" altLang="en-US"/>
              <a:t>当前 </a:t>
            </a:r>
            <a:r>
              <a:rPr lang="en-US" altLang="zh-CN"/>
              <a:t>RTL </a:t>
            </a:r>
            <a:r>
              <a:rPr lang="zh-CN" altLang="en-US"/>
              <a:t>自建基准中，综合 </a:t>
            </a:r>
            <a:r>
              <a:rPr lang="en-US" altLang="zh-CN"/>
              <a:t>CPI </a:t>
            </a:r>
            <a:r>
              <a:rPr lang="zh-CN" altLang="en-US"/>
              <a:t>为 1.046；其中 </a:t>
            </a:r>
            <a:r>
              <a:rPr lang="en-US" altLang="zh-CN"/>
              <a:t>ALU </a:t>
            </a:r>
            <a:r>
              <a:rPr lang="zh-CN" altLang="en-US"/>
              <a:t>密集负载 </a:t>
            </a:r>
            <a:r>
              <a:rPr lang="en-US" altLang="zh-CN"/>
              <a:t>CPI </a:t>
            </a:r>
            <a:r>
              <a:rPr lang="zh-CN" altLang="en-US"/>
              <a:t>为 1.000，分支密集负载 </a:t>
            </a:r>
            <a:r>
              <a:rPr lang="en-US" altLang="zh-CN"/>
              <a:t>CPI </a:t>
            </a:r>
            <a:r>
              <a:rPr lang="zh-CN" altLang="en-US"/>
              <a:t>为 1.208，访存密集负载 </a:t>
            </a:r>
            <a:r>
              <a:rPr lang="en-US" altLang="zh-CN"/>
              <a:t>CPI </a:t>
            </a:r>
            <a:r>
              <a:rPr lang="zh-CN" altLang="en-US"/>
              <a:t>为 1.001。</a:t>
            </a:r>
          </a:p>
          <a:p>
            <a:r>
              <a:rPr lang="zh-CN" altLang="en-US"/>
              <a:t>这些结果说明，我们已经具备可量化、可复现，并能够定位性能瓶颈的测评能力。后续将以官方工业程序和 </a:t>
            </a:r>
            <a:r>
              <a:rPr lang="en-US" altLang="zh-CN"/>
              <a:t>RT-Thread </a:t>
            </a:r>
            <a:r>
              <a:rPr lang="zh-CN" altLang="en-US"/>
              <a:t>结果作为最终竞赛测评依据。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总结来说，本项目完成了五级流水 </a:t>
            </a:r>
            <a:r>
              <a:rPr lang="en-US" altLang="zh-CN"/>
              <a:t>RV32 CPU </a:t>
            </a:r>
            <a:r>
              <a:rPr lang="zh-CN" altLang="en-US"/>
              <a:t>裸核及关键控制机制设计，自建 </a:t>
            </a:r>
            <a:r>
              <a:rPr lang="en-US" altLang="zh-CN"/>
              <a:t>SoC </a:t>
            </a:r>
            <a:r>
              <a:rPr lang="zh-CN" altLang="en-US"/>
              <a:t>支撑 </a:t>
            </a:r>
            <a:r>
              <a:rPr lang="en-US" altLang="zh-CN"/>
              <a:t>FPGA </a:t>
            </a:r>
            <a:r>
              <a:rPr lang="zh-CN" altLang="en-US"/>
              <a:t>本地运行和调试，并建立了从功能验证到性能测评的完整闭环。</a:t>
            </a:r>
          </a:p>
          <a:p>
            <a:r>
              <a:rPr lang="zh-CN" altLang="en-US"/>
              <a:t>下一阶段，我们将继续完成官方实验环境适配、工业程序与 </a:t>
            </a:r>
            <a:r>
              <a:rPr lang="en-US" altLang="zh-CN"/>
              <a:t>RT-Thread </a:t>
            </a:r>
            <a:r>
              <a:rPr lang="zh-CN" altLang="en-US"/>
              <a:t>测评，并围绕访存、分支预测和 </a:t>
            </a:r>
            <a:r>
              <a:rPr lang="en-US" altLang="zh-CN"/>
              <a:t>Cache </a:t>
            </a:r>
            <a:r>
              <a:rPr lang="zh-CN" altLang="en-US"/>
              <a:t>等方向进一步优化性能。</a:t>
            </a:r>
          </a:p>
          <a:p>
            <a:r>
              <a:rPr lang="zh-CN" altLang="en-US"/>
              <a:t>我的汇报完毕，感谢各位评委老师。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image" Target="../media/image4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image" Target="../media/image3.png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4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3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9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2.xml"/><Relationship Id="rId10" Type="http://schemas.openxmlformats.org/officeDocument/2006/relationships/image" Target="../media/image9.png"/><Relationship Id="rId4" Type="http://schemas.openxmlformats.org/officeDocument/2006/relationships/tags" Target="../tags/tag111.xml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notesSlide" Target="../notesSlides/notesSlide7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11.png"/><Relationship Id="rId2" Type="http://schemas.openxmlformats.org/officeDocument/2006/relationships/tags" Target="../tags/tag114.xml"/><Relationship Id="rId16" Type="http://schemas.openxmlformats.org/officeDocument/2006/relationships/image" Target="../media/image10.pn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image" Target="../media/image4.png"/><Relationship Id="rId10" Type="http://schemas.openxmlformats.org/officeDocument/2006/relationships/tags" Target="../tags/tag12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8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26" Type="http://schemas.openxmlformats.org/officeDocument/2006/relationships/tags" Target="../tags/tag154.xml"/><Relationship Id="rId39" Type="http://schemas.openxmlformats.org/officeDocument/2006/relationships/image" Target="../media/image20.png"/><Relationship Id="rId21" Type="http://schemas.openxmlformats.org/officeDocument/2006/relationships/tags" Target="../tags/tag149.xml"/><Relationship Id="rId34" Type="http://schemas.openxmlformats.org/officeDocument/2006/relationships/image" Target="../media/image15.png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5" Type="http://schemas.openxmlformats.org/officeDocument/2006/relationships/tags" Target="../tags/tag153.xml"/><Relationship Id="rId33" Type="http://schemas.openxmlformats.org/officeDocument/2006/relationships/image" Target="../media/image14.png"/><Relationship Id="rId38" Type="http://schemas.openxmlformats.org/officeDocument/2006/relationships/image" Target="../media/image19.svg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29" Type="http://schemas.openxmlformats.org/officeDocument/2006/relationships/notesSlide" Target="../notesSlides/notesSlide9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24" Type="http://schemas.openxmlformats.org/officeDocument/2006/relationships/tags" Target="../tags/tag152.xml"/><Relationship Id="rId32" Type="http://schemas.openxmlformats.org/officeDocument/2006/relationships/image" Target="../media/image13.jpeg"/><Relationship Id="rId37" Type="http://schemas.openxmlformats.org/officeDocument/2006/relationships/image" Target="../media/image18.png"/><Relationship Id="rId40" Type="http://schemas.openxmlformats.org/officeDocument/2006/relationships/image" Target="../media/image21.svg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23" Type="http://schemas.openxmlformats.org/officeDocument/2006/relationships/tags" Target="../tags/tag151.xml"/><Relationship Id="rId28" Type="http://schemas.openxmlformats.org/officeDocument/2006/relationships/slideLayout" Target="../slideLayouts/slideLayout1.xml"/><Relationship Id="rId36" Type="http://schemas.openxmlformats.org/officeDocument/2006/relationships/image" Target="../media/image17.svg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31" Type="http://schemas.openxmlformats.org/officeDocument/2006/relationships/image" Target="../media/image4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tags" Target="../tags/tag150.xml"/><Relationship Id="rId27" Type="http://schemas.openxmlformats.org/officeDocument/2006/relationships/tags" Target="../tags/tag155.xml"/><Relationship Id="rId30" Type="http://schemas.openxmlformats.org/officeDocument/2006/relationships/image" Target="../media/image3.png"/><Relationship Id="rId35" Type="http://schemas.openxmlformats.org/officeDocument/2006/relationships/image" Target="../media/image16.png"/><Relationship Id="rId8" Type="http://schemas.openxmlformats.org/officeDocument/2006/relationships/tags" Target="../tags/tag136.xml"/><Relationship Id="rId3" Type="http://schemas.openxmlformats.org/officeDocument/2006/relationships/tags" Target="../tags/tag1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0" Type="http://schemas.openxmlformats.org/officeDocument/2006/relationships/image" Target="../media/image4.png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10" Type="http://schemas.openxmlformats.org/officeDocument/2006/relationships/tags" Target="../tags/tag171.xml"/><Relationship Id="rId19" Type="http://schemas.openxmlformats.org/officeDocument/2006/relationships/image" Target="../media/image3.png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2520000"/>
            <a:ext cx="10439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第十届全国大学生集成电路创新创业大赛</a:t>
            </a: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000" y="1080000"/>
            <a:ext cx="1296000" cy="129600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296000" y="3420000"/>
            <a:ext cx="3600000" cy="540000"/>
          </a:xfrm>
          <a:prstGeom prst="roundRect">
            <a:avLst>
              <a:gd name="adj" fmla="val 15518"/>
            </a:avLst>
          </a:prstGeom>
          <a:solidFill>
            <a:schemeClr val="bg1"/>
          </a:solidFill>
          <a:ln w="25400">
            <a:solidFill>
              <a:srgbClr val="142DA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tIns="144145"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18965" y="3420110"/>
            <a:ext cx="33540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“竞业达”命题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4135120" y="5003800"/>
            <a:ext cx="3921125" cy="697230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CICC1005400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68780" y="4220845"/>
            <a:ext cx="8853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基于RISC-V指令集的高性能CPU实现与回归测试工程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0000" y="432000"/>
            <a:ext cx="1260000" cy="57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42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目录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35567" y="1627002"/>
            <a:ext cx="640838" cy="640838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2035567" y="2908680"/>
            <a:ext cx="640838" cy="640838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2035567" y="4190357"/>
            <a:ext cx="640838" cy="640838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09625" y="1104265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1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CONTENTS</a:t>
            </a: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105944" y="2139755"/>
            <a:ext cx="4822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五级流水、冒险处理与异常中断</a:t>
            </a: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3109713" y="1627322"/>
            <a:ext cx="4272259" cy="512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CPU</a:t>
            </a:r>
            <a:r>
              <a:rPr lang="zh-CN" altLang="en-US" sz="2400" b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架构与关键技术</a:t>
            </a: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3107219" y="3420561"/>
            <a:ext cx="490256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SoC</a:t>
            </a:r>
            <a:r>
              <a:rPr lang="zh-CN" altLang="en-US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平台搭建、分层验证与性能测评</a:t>
            </a:r>
          </a:p>
        </p:txBody>
      </p: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3110466" y="2908406"/>
            <a:ext cx="4272259" cy="512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功能实现与测评结果</a:t>
            </a: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3108205" y="4701924"/>
            <a:ext cx="4822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扩展指令支持、异常中断闭环与可扩展 </a:t>
            </a:r>
            <a:r>
              <a:rPr lang="en-US" altLang="zh-CN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SoC </a:t>
            </a:r>
            <a:r>
              <a:rPr lang="zh-CN" altLang="en-US" sz="14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平台</a:t>
            </a: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3111220" y="4189490"/>
            <a:ext cx="4272259" cy="5126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333333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创新点与应用价值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420110" y="720090"/>
            <a:ext cx="535178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>
                <a:latin typeface="HarmonyOS Sans SC Black" panose="00000A00000000000000" charset="-122"/>
                <a:ea typeface="HarmonyOS Sans SC Black" panose="00000A00000000000000" charset="-122"/>
              </a:rPr>
              <a:t>作品重要亮点预览页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>
            <p:custDataLst>
              <p:tags r:id="rId2"/>
            </p:custDataLst>
          </p:nvPr>
        </p:nvSpPr>
        <p:spPr>
          <a:xfrm>
            <a:off x="4645025" y="2007870"/>
            <a:ext cx="2325370" cy="5911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RV32I 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指令集支持</a:t>
            </a:r>
          </a:p>
        </p:txBody>
      </p:sp>
      <p:sp>
        <p:nvSpPr>
          <p:cNvPr id="37" name="矩形 36"/>
          <p:cNvSpPr/>
          <p:nvPr>
            <p:custDataLst>
              <p:tags r:id="rId3"/>
            </p:custDataLst>
          </p:nvPr>
        </p:nvSpPr>
        <p:spPr>
          <a:xfrm>
            <a:off x="7259955" y="1709738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 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RV32I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基础指令实现与回归验证；支持 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M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Zicsr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及部分 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Z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位操作扩展。</a:t>
            </a:r>
          </a:p>
        </p:txBody>
      </p:sp>
      <p:sp>
        <p:nvSpPr>
          <p:cNvPr id="83" name="圆角矩形 82"/>
          <p:cNvSpPr/>
          <p:nvPr>
            <p:custDataLst>
              <p:tags r:id="rId4"/>
            </p:custDataLst>
          </p:nvPr>
        </p:nvSpPr>
        <p:spPr>
          <a:xfrm>
            <a:off x="4923790" y="3255010"/>
            <a:ext cx="2046605" cy="5911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FPGA </a:t>
            </a:r>
            <a:r>
              <a:rPr lang="zh-CN" altLang="en-US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平台运行</a:t>
            </a:r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7259955" y="2956243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 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CPU 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裸核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与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自建 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SoC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集成，实现裸机程序在 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FPGA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板级环境运行。</a:t>
            </a:r>
          </a:p>
        </p:txBody>
      </p:sp>
      <p:sp>
        <p:nvSpPr>
          <p:cNvPr id="89" name="圆角矩形 88"/>
          <p:cNvSpPr/>
          <p:nvPr>
            <p:custDataLst>
              <p:tags r:id="rId6"/>
            </p:custDataLst>
          </p:nvPr>
        </p:nvSpPr>
        <p:spPr>
          <a:xfrm>
            <a:off x="4930775" y="4502150"/>
            <a:ext cx="2039620" cy="5911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性能测评基础</a:t>
            </a:r>
          </a:p>
        </p:txBody>
      </p:sp>
      <p:sp>
        <p:nvSpPr>
          <p:cNvPr id="39" name="矩形 38"/>
          <p:cNvSpPr/>
          <p:nvPr>
            <p:custDataLst>
              <p:tags r:id="rId7"/>
            </p:custDataLst>
          </p:nvPr>
        </p:nvSpPr>
        <p:spPr>
          <a:xfrm>
            <a:off x="7259955" y="4203383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建立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性能计数器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与 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ALU</a:t>
            </a:r>
            <a:r>
              <a:rPr lang="en-US" altLang="zh-CN" sz="1600" kern="0" dirty="0">
                <a:ln>
                  <a:noFill/>
                  <a:prstDash val="sysDot"/>
                </a:ln>
                <a:latin typeface="+mn-ea"/>
                <a:cs typeface="+mn-ea"/>
              </a:rPr>
              <a:t>、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分支</a:t>
            </a:r>
            <a:r>
              <a:rPr lang="zh-CN" altLang="en-US" sz="1600" kern="0" dirty="0">
                <a:ln>
                  <a:noFill/>
                  <a:prstDash val="sysDot"/>
                </a:ln>
                <a:latin typeface="+mn-ea"/>
                <a:cs typeface="+mn-ea"/>
              </a:rPr>
              <a:t>、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访存分类基准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，完成 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CoreMark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裸机运行验证。</a:t>
            </a:r>
          </a:p>
        </p:txBody>
      </p:sp>
      <p:sp>
        <p:nvSpPr>
          <p:cNvPr id="40" name="圆角矩形 39"/>
          <p:cNvSpPr/>
          <p:nvPr>
            <p:custDataLst>
              <p:tags r:id="rId8"/>
            </p:custDataLst>
          </p:nvPr>
        </p:nvSpPr>
        <p:spPr>
          <a:xfrm>
            <a:off x="4599305" y="5766435"/>
            <a:ext cx="2371090" cy="5911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RT-Thread </a:t>
            </a: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演进路线</a:t>
            </a:r>
          </a:p>
        </p:txBody>
      </p:sp>
      <p:sp>
        <p:nvSpPr>
          <p:cNvPr id="41" name="矩形 40"/>
          <p:cNvSpPr/>
          <p:nvPr>
            <p:custDataLst>
              <p:tags r:id="rId9"/>
            </p:custDataLst>
          </p:nvPr>
        </p:nvSpPr>
        <p:spPr>
          <a:xfrm>
            <a:off x="7259955" y="5449888"/>
            <a:ext cx="4316954" cy="11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/>
          <a:p>
            <a:pPr algn="just" defTabSz="1216025">
              <a:lnSpc>
                <a:spcPct val="1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具备 </a:t>
            </a:r>
            <a:r>
              <a:rPr lang="en-US" altLang="zh-CN" sz="1600" b="1" kern="0" dirty="0" err="1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CSR、Timer、UART、PLIC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</a:rPr>
              <a:t>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等系统软件运行基础，后续完成 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RT-Thread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移植与官方测评。</a:t>
            </a:r>
          </a:p>
        </p:txBody>
      </p:sp>
      <p:sp>
        <p:nvSpPr>
          <p:cNvPr id="42" name="椭圆 41"/>
          <p:cNvSpPr/>
          <p:nvPr>
            <p:custDataLst>
              <p:tags r:id="rId10"/>
            </p:custDataLst>
          </p:nvPr>
        </p:nvSpPr>
        <p:spPr>
          <a:xfrm>
            <a:off x="615315" y="2157413"/>
            <a:ext cx="4029463" cy="4029463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lumMod val="60000"/>
                    <a:lumOff val="40000"/>
                    <a:alpha val="40000"/>
                  </a:schemeClr>
                </a:gs>
                <a:gs pos="51000">
                  <a:schemeClr val="accent2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>
            <a:off x="3458210" y="5945823"/>
            <a:ext cx="99878" cy="9987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4" name="椭圆 43"/>
          <p:cNvSpPr/>
          <p:nvPr>
            <p:custDataLst>
              <p:tags r:id="rId12"/>
            </p:custDataLst>
          </p:nvPr>
        </p:nvSpPr>
        <p:spPr>
          <a:xfrm>
            <a:off x="3458210" y="2304098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13"/>
            </p:custDataLst>
          </p:nvPr>
        </p:nvSpPr>
        <p:spPr>
          <a:xfrm>
            <a:off x="798195" y="2340928"/>
            <a:ext cx="3662722" cy="3662722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46" name="椭圆 45"/>
          <p:cNvSpPr/>
          <p:nvPr>
            <p:custDataLst>
              <p:tags r:id="rId14"/>
            </p:custDataLst>
          </p:nvPr>
        </p:nvSpPr>
        <p:spPr>
          <a:xfrm>
            <a:off x="1205865" y="2747963"/>
            <a:ext cx="2848090" cy="28480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面向赛题要求的阶段成果预览</a:t>
            </a:r>
          </a:p>
        </p:txBody>
      </p:sp>
      <p:sp>
        <p:nvSpPr>
          <p:cNvPr id="47" name="椭圆 46"/>
          <p:cNvSpPr/>
          <p:nvPr>
            <p:custDataLst>
              <p:tags r:id="rId15"/>
            </p:custDataLst>
          </p:nvPr>
        </p:nvSpPr>
        <p:spPr>
          <a:xfrm>
            <a:off x="4498975" y="4747578"/>
            <a:ext cx="99878" cy="998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16"/>
            </p:custDataLst>
          </p:nvPr>
        </p:nvSpPr>
        <p:spPr>
          <a:xfrm>
            <a:off x="4498975" y="3500438"/>
            <a:ext cx="99878" cy="9987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江城圆体 400W" panose="020B05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646000" y="1800000"/>
            <a:ext cx="900000" cy="900000"/>
          </a:xfrm>
          <a:prstGeom prst="rect">
            <a:avLst/>
          </a:prstGeom>
          <a:solidFill>
            <a:srgbClr val="55CBF8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1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  <a:sym typeface="+mn-ea"/>
              </a:rPr>
              <a:t>CPU</a:t>
            </a:r>
            <a:r>
              <a:rPr lang="zh-CN" altLang="en-US" sz="4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  <a:sym typeface="+mn-ea"/>
              </a:rPr>
              <a:t>架构与关键技术</a:t>
            </a:r>
            <a:endParaRPr lang="zh-CN" altLang="en-US" sz="4400">
              <a:solidFill>
                <a:srgbClr val="142DA8"/>
              </a:solidFill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3653473" y="3779365"/>
            <a:ext cx="5244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五级流水、冒险处理与异常中断</a:t>
            </a:r>
            <a:endParaRPr lang="zh-CN" altLang="en-US" sz="2800">
              <a:solidFill>
                <a:srgbClr val="666666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476115" y="720090"/>
            <a:ext cx="3240405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en-US" altLang="zh-CN">
                <a:latin typeface="HarmonyOS Sans SC Black" panose="00000A00000000000000" charset="-122"/>
                <a:ea typeface="HarmonyOS Sans SC Black" panose="00000A00000000000000" charset="-122"/>
              </a:rPr>
              <a:t>CPU 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裸核总体架构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ECB019B1-382A-4266-B25C-5B523AA43C14-1" descr="wpp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795" y="1440180"/>
            <a:ext cx="10277475" cy="1485900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2"/>
            </p:custDataLst>
          </p:nvPr>
        </p:nvSpPr>
        <p:spPr>
          <a:xfrm>
            <a:off x="2787967" y="2762568"/>
            <a:ext cx="6421646" cy="635859"/>
          </a:xfrm>
          <a:prstGeom prst="roundRect">
            <a:avLst>
              <a:gd name="adj" fmla="val 22030"/>
            </a:avLst>
          </a:prstGeom>
          <a:solidFill>
            <a:srgbClr val="FFFFFF">
              <a:lumMod val="100000"/>
              <a:alpha val="10000"/>
            </a:srgbClr>
          </a:solidFill>
          <a:ln>
            <a:gradFill>
              <a:gsLst>
                <a:gs pos="0">
                  <a:srgbClr val="397AF3">
                    <a:alpha val="70000"/>
                  </a:srgbClr>
                </a:gs>
                <a:gs pos="100000">
                  <a:srgbClr val="397AF3">
                    <a:alpha val="60000"/>
                  </a:srgbClr>
                </a:gs>
              </a:gsLst>
              <a:lin ang="10740000" scaled="1"/>
            </a:gradFill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lIns="972185" tIns="0" rIns="179705" bIns="36195" rtlCol="0" anchor="ctr"/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指令执行：</a:t>
            </a: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RV32I 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基础整数指令</a:t>
            </a:r>
          </a:p>
        </p:txBody>
      </p:sp>
      <p:sp>
        <p:nvSpPr>
          <p:cNvPr id="45" name="椭圆 44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2980915" y="2950607"/>
            <a:ext cx="259781" cy="259781"/>
          </a:xfrm>
          <a:prstGeom prst="ellipse">
            <a:avLst/>
          </a:prstGeom>
          <a:gradFill>
            <a:gsLst>
              <a:gs pos="0">
                <a:srgbClr val="397AF3">
                  <a:alpha val="100000"/>
                </a:srgbClr>
              </a:gs>
              <a:gs pos="100000">
                <a:srgbClr val="397AF3">
                  <a:alpha val="5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1</a:t>
            </a:r>
          </a:p>
        </p:txBody>
      </p:sp>
      <p:sp>
        <p:nvSpPr>
          <p:cNvPr id="47" name="圆角矩形 46"/>
          <p:cNvSpPr/>
          <p:nvPr>
            <p:custDataLst>
              <p:tags r:id="rId4"/>
            </p:custDataLst>
          </p:nvPr>
        </p:nvSpPr>
        <p:spPr>
          <a:xfrm>
            <a:off x="2787967" y="3483006"/>
            <a:ext cx="6421646" cy="635859"/>
          </a:xfrm>
          <a:prstGeom prst="roundRect">
            <a:avLst>
              <a:gd name="adj" fmla="val 22030"/>
            </a:avLst>
          </a:prstGeom>
          <a:solidFill>
            <a:srgbClr val="FFFFFF">
              <a:lumMod val="100000"/>
              <a:alpha val="10000"/>
            </a:srgbClr>
          </a:solidFill>
          <a:ln>
            <a:gradFill>
              <a:gsLst>
                <a:gs pos="0">
                  <a:srgbClr val="397AF3">
                    <a:alpha val="70000"/>
                  </a:srgbClr>
                </a:gs>
                <a:gs pos="100000">
                  <a:srgbClr val="397AF3">
                    <a:alpha val="60000"/>
                  </a:srgbClr>
                </a:gs>
              </a:gsLst>
              <a:lin ang="10740000" scaled="1"/>
            </a:gradFill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lIns="972185" tIns="0" rIns="179705" bIns="36195" rtlCol="0" anchor="ctr"/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运算扩展：</a:t>
            </a:r>
            <a:r>
              <a:rPr lang="en-US" altLang="zh-CN" sz="1600" dirty="0">
                <a:solidFill>
                  <a:schemeClr val="accent2"/>
                </a:solidFill>
                <a:sym typeface="+mn-ea"/>
              </a:rPr>
              <a:t>M </a:t>
            </a: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扩展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乘除法、部分 </a:t>
            </a:r>
            <a:r>
              <a:rPr lang="en-US" altLang="zh-CN" sz="1600" dirty="0">
                <a:solidFill>
                  <a:schemeClr val="accent2"/>
                </a:solidFill>
                <a:sym typeface="+mn-ea"/>
              </a:rPr>
              <a:t>Z </a:t>
            </a: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位操作扩展</a:t>
            </a:r>
          </a:p>
        </p:txBody>
      </p:sp>
      <p:sp>
        <p:nvSpPr>
          <p:cNvPr id="48" name="椭圆 4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980915" y="3671045"/>
            <a:ext cx="259781" cy="259781"/>
          </a:xfrm>
          <a:prstGeom prst="ellipse">
            <a:avLst/>
          </a:prstGeom>
          <a:gradFill>
            <a:gsLst>
              <a:gs pos="0">
                <a:srgbClr val="397AF3">
                  <a:alpha val="100000"/>
                </a:srgbClr>
              </a:gs>
              <a:gs pos="100000">
                <a:srgbClr val="397AF3">
                  <a:alpha val="5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2</a:t>
            </a:r>
          </a:p>
        </p:txBody>
      </p:sp>
      <p:sp>
        <p:nvSpPr>
          <p:cNvPr id="50" name="圆角矩形 49"/>
          <p:cNvSpPr/>
          <p:nvPr>
            <p:custDataLst>
              <p:tags r:id="rId6"/>
            </p:custDataLst>
          </p:nvPr>
        </p:nvSpPr>
        <p:spPr>
          <a:xfrm>
            <a:off x="2787967" y="4203445"/>
            <a:ext cx="6421646" cy="635859"/>
          </a:xfrm>
          <a:prstGeom prst="roundRect">
            <a:avLst>
              <a:gd name="adj" fmla="val 22030"/>
            </a:avLst>
          </a:prstGeom>
          <a:solidFill>
            <a:srgbClr val="FFFFFF">
              <a:lumMod val="100000"/>
              <a:alpha val="10000"/>
            </a:srgbClr>
          </a:solidFill>
          <a:ln>
            <a:gradFill>
              <a:gsLst>
                <a:gs pos="0">
                  <a:srgbClr val="397AF3">
                    <a:alpha val="70000"/>
                  </a:srgbClr>
                </a:gs>
                <a:gs pos="100000">
                  <a:srgbClr val="397AF3">
                    <a:alpha val="60000"/>
                  </a:srgbClr>
                </a:gs>
              </a:gsLst>
              <a:lin ang="10740000" scaled="1"/>
            </a:gradFill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lIns="972185" tIns="0" rIns="179705" bIns="36195" rtlCol="0" anchor="ctr"/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系统控制：</a:t>
            </a: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Zicsr、</a:t>
            </a: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异常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处理、</a:t>
            </a:r>
            <a:r>
              <a:rPr lang="zh-CN" altLang="en-US" sz="1600" dirty="0">
                <a:solidFill>
                  <a:schemeClr val="accent2"/>
                </a:solidFill>
                <a:sym typeface="+mn-ea"/>
              </a:rPr>
              <a:t>中断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响应</a:t>
            </a:r>
          </a:p>
        </p:txBody>
      </p:sp>
      <p:sp>
        <p:nvSpPr>
          <p:cNvPr id="52" name="椭圆 5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980915" y="4391484"/>
            <a:ext cx="259781" cy="259781"/>
          </a:xfrm>
          <a:prstGeom prst="ellipse">
            <a:avLst/>
          </a:prstGeom>
          <a:gradFill>
            <a:gsLst>
              <a:gs pos="0">
                <a:srgbClr val="397AF3">
                  <a:alpha val="100000"/>
                </a:srgbClr>
              </a:gs>
              <a:gs pos="100000">
                <a:srgbClr val="397AF3">
                  <a:alpha val="5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3</a:t>
            </a:r>
          </a:p>
        </p:txBody>
      </p:sp>
      <p:sp>
        <p:nvSpPr>
          <p:cNvPr id="54" name="圆角矩形 53"/>
          <p:cNvSpPr/>
          <p:nvPr>
            <p:custDataLst>
              <p:tags r:id="rId8"/>
            </p:custDataLst>
          </p:nvPr>
        </p:nvSpPr>
        <p:spPr>
          <a:xfrm>
            <a:off x="2787967" y="4923884"/>
            <a:ext cx="6421646" cy="635859"/>
          </a:xfrm>
          <a:prstGeom prst="roundRect">
            <a:avLst>
              <a:gd name="adj" fmla="val 22030"/>
            </a:avLst>
          </a:prstGeom>
          <a:solidFill>
            <a:srgbClr val="FFFFFF">
              <a:lumMod val="100000"/>
              <a:alpha val="10000"/>
            </a:srgbClr>
          </a:solidFill>
          <a:ln>
            <a:gradFill>
              <a:gsLst>
                <a:gs pos="0">
                  <a:srgbClr val="397AF3">
                    <a:alpha val="70000"/>
                  </a:srgbClr>
                </a:gs>
                <a:gs pos="100000">
                  <a:srgbClr val="397AF3">
                    <a:alpha val="60000"/>
                  </a:srgbClr>
                </a:gs>
              </a:gsLst>
              <a:lin ang="10740000" scaled="1"/>
            </a:gradFill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lIns="972185" tIns="0" rIns="179705" bIns="36195" rtlCol="0" anchor="ctr"/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性能观测：</a:t>
            </a: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Cycle、Instret、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sym typeface="+mn-ea"/>
              </a:rPr>
              <a:t>分支与停顿等性能计数</a:t>
            </a:r>
          </a:p>
        </p:txBody>
      </p:sp>
      <p:sp>
        <p:nvSpPr>
          <p:cNvPr id="55" name="椭圆 5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980915" y="5111923"/>
            <a:ext cx="259781" cy="259781"/>
          </a:xfrm>
          <a:prstGeom prst="ellipse">
            <a:avLst/>
          </a:prstGeom>
          <a:gradFill>
            <a:gsLst>
              <a:gs pos="0">
                <a:srgbClr val="397AF3">
                  <a:alpha val="100000"/>
                </a:srgbClr>
              </a:gs>
              <a:gs pos="100000">
                <a:srgbClr val="397AF3">
                  <a:alpha val="5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rgbClr val="397AF3">
              <a:lumMod val="75000"/>
            </a:srgbClr>
          </a:lnRef>
          <a:fillRef idx="1">
            <a:srgbClr val="397AF3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4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94740" y="5777865"/>
            <a:ext cx="9806940" cy="474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/>
              <a:t>以</a:t>
            </a:r>
            <a:r>
              <a:rPr lang="zh-CN" altLang="en-US">
                <a:solidFill>
                  <a:srgbClr val="FF0000"/>
                </a:solidFill>
              </a:rPr>
              <a:t>单发射五级流水</a:t>
            </a:r>
            <a:r>
              <a:rPr lang="zh-CN" altLang="en-US"/>
              <a:t>为基础，在保持结构清晰的同时实现指令扩展、系统控制和性能观测能力。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476115" y="720090"/>
            <a:ext cx="3240405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乘法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模块设计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E657119C-6982-421D-8BA7-E74DEB70A7D9-3" descr="wp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05" y="1440180"/>
            <a:ext cx="6928485" cy="28968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15555" y="1259840"/>
            <a:ext cx="4114165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将 32 位乘法拆分为四个 16×16 部分积，优先映射</a:t>
            </a:r>
            <a:r>
              <a:rPr lang="zh-CN" altLang="en-US">
                <a:solidFill>
                  <a:srgbClr val="0070C0"/>
                </a:solidFill>
              </a:rPr>
              <a:t> </a:t>
            </a:r>
            <a:r>
              <a:rPr lang="en-US" altLang="zh-CN">
                <a:solidFill>
                  <a:schemeClr val="accent2"/>
                </a:solidFill>
              </a:rPr>
              <a:t>FPGA DSP </a:t>
            </a:r>
            <a:r>
              <a:rPr lang="zh-CN" altLang="en-US">
                <a:solidFill>
                  <a:schemeClr val="accent2"/>
                </a:solidFill>
              </a:rPr>
              <a:t>资源</a:t>
            </a:r>
            <a:r>
              <a:rPr lang="zh-CN" altLang="en-US"/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615555" y="2381885"/>
            <a:ext cx="411416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60000"/>
              </a:lnSpc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2"/>
                </a:solidFill>
              </a:rPr>
              <a:t>MUL </a:t>
            </a:r>
            <a:r>
              <a:rPr lang="zh-CN" altLang="en-US"/>
              <a:t>直接组合低 32 位，固定两拍完成；</a:t>
            </a:r>
            <a:r>
              <a:rPr lang="en-US" altLang="zh-CN">
                <a:solidFill>
                  <a:schemeClr val="accent2"/>
                </a:solidFill>
              </a:rPr>
              <a:t>MULH</a:t>
            </a:r>
            <a:r>
              <a:rPr lang="en-US" altLang="zh-CN"/>
              <a:t>/</a:t>
            </a:r>
            <a:r>
              <a:rPr lang="en-US" altLang="zh-CN">
                <a:solidFill>
                  <a:schemeClr val="accent2"/>
                </a:solidFill>
              </a:rPr>
              <a:t>MULHSU</a:t>
            </a:r>
            <a:r>
              <a:rPr lang="en-US" altLang="zh-CN"/>
              <a:t>/</a:t>
            </a:r>
            <a:r>
              <a:rPr lang="en-US" altLang="zh-CN">
                <a:solidFill>
                  <a:schemeClr val="accent2"/>
                </a:solidFill>
              </a:rPr>
              <a:t>MULHU</a:t>
            </a:r>
            <a:r>
              <a:rPr lang="en-US" altLang="zh-CN"/>
              <a:t> </a:t>
            </a:r>
            <a:r>
              <a:rPr lang="zh-CN" altLang="en-US"/>
              <a:t>对高位部分积和交叉项继续流水，当前配置为三级。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615555" y="4245610"/>
            <a:ext cx="4114165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对有符号和混合有符号乘法，仅在高 32 位进行符号修正；低 32 位结果可复用同一数据通路。</a:t>
            </a:r>
          </a:p>
        </p:txBody>
      </p:sp>
      <p:sp>
        <p:nvSpPr>
          <p:cNvPr id="33" name="燕尾形 32"/>
          <p:cNvSpPr/>
          <p:nvPr/>
        </p:nvSpPr>
        <p:spPr>
          <a:xfrm>
            <a:off x="899795" y="5734050"/>
            <a:ext cx="3217545" cy="54864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输入锁存与并行部分积</a:t>
            </a:r>
          </a:p>
        </p:txBody>
      </p:sp>
      <p:sp>
        <p:nvSpPr>
          <p:cNvPr id="34" name="燕尾形 33"/>
          <p:cNvSpPr/>
          <p:nvPr/>
        </p:nvSpPr>
        <p:spPr>
          <a:xfrm>
            <a:off x="4398010" y="5734050"/>
            <a:ext cx="3217545" cy="54864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交叉项累加 / 低位结果</a:t>
            </a:r>
          </a:p>
        </p:txBody>
      </p:sp>
      <p:sp>
        <p:nvSpPr>
          <p:cNvPr id="38" name="燕尾形 37"/>
          <p:cNvSpPr/>
          <p:nvPr/>
        </p:nvSpPr>
        <p:spPr>
          <a:xfrm>
            <a:off x="7896225" y="5734050"/>
            <a:ext cx="3217545" cy="54864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高位修正与结果提交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88340" y="4633595"/>
            <a:ext cx="6507480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/>
              <a:t>覆盖边界符号组合、200 组随机向量、流水冲刷和下游背压保持。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476115" y="720090"/>
            <a:ext cx="3240405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除法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模块设计</a:t>
            </a:r>
          </a:p>
        </p:txBody>
      </p:sp>
      <p:pic>
        <p:nvPicPr>
          <p:cNvPr id="12" name="E657119C-6982-421D-8BA7-E74DEB70A7D9-5" descr="wp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400" y="1259840"/>
            <a:ext cx="3246120" cy="557276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826000" y="126005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燕尾形 13"/>
          <p:cNvSpPr/>
          <p:nvPr/>
        </p:nvSpPr>
        <p:spPr>
          <a:xfrm>
            <a:off x="317500" y="1219835"/>
            <a:ext cx="4490085" cy="143510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采用“</a:t>
            </a:r>
            <a:r>
              <a:rPr lang="zh-CN" altLang="en-US" sz="1600" dirty="0">
                <a:solidFill>
                  <a:srgbClr val="FFFF00"/>
                </a:solidFill>
              </a:rPr>
              <a:t>倒数查表 + 倒数乘法</a:t>
            </a:r>
            <a:r>
              <a:rPr lang="zh-CN" altLang="en-US" sz="1600" dirty="0"/>
              <a:t>”替代传统逐位试商，数据通路中不使用运行时 / 或 % 运算符。</a:t>
            </a:r>
          </a:p>
        </p:txBody>
      </p:sp>
      <p:sp>
        <p:nvSpPr>
          <p:cNvPr id="15" name="燕尾形 14"/>
          <p:cNvSpPr/>
          <p:nvPr/>
        </p:nvSpPr>
        <p:spPr>
          <a:xfrm>
            <a:off x="317500" y="2968625"/>
            <a:ext cx="4490085" cy="143510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除数经前导零计数归一化后，从 65,536 项、40 </a:t>
            </a:r>
            <a:r>
              <a:rPr lang="en-US" altLang="zh-CN" sz="1600" dirty="0"/>
              <a:t>bit </a:t>
            </a:r>
            <a:r>
              <a:rPr lang="zh-CN" altLang="en-US" sz="1600" dirty="0"/>
              <a:t>精度的倒数 </a:t>
            </a:r>
            <a:r>
              <a:rPr lang="en-US" altLang="zh-CN" sz="1600" dirty="0"/>
              <a:t>ROM </a:t>
            </a:r>
            <a:r>
              <a:rPr lang="zh-CN" altLang="en-US" sz="1600" dirty="0">
                <a:solidFill>
                  <a:srgbClr val="FFFF00"/>
                </a:solidFill>
              </a:rPr>
              <a:t>获取初始倒数</a:t>
            </a:r>
            <a:r>
              <a:rPr lang="zh-CN" altLang="en-US" sz="1600" dirty="0"/>
              <a:t>，并进行一次 </a:t>
            </a:r>
            <a:r>
              <a:rPr lang="en-US" altLang="zh-CN" sz="1600" dirty="0">
                <a:solidFill>
                  <a:srgbClr val="FFFF00"/>
                </a:solidFill>
              </a:rPr>
              <a:t>Goldschmidt</a:t>
            </a:r>
            <a:r>
              <a:rPr lang="en-US" altLang="zh-CN" sz="1600" dirty="0"/>
              <a:t> </a:t>
            </a:r>
            <a:r>
              <a:rPr lang="zh-CN" altLang="en-US" sz="1600" dirty="0"/>
              <a:t>修正</a:t>
            </a:r>
            <a:r>
              <a:rPr lang="zh-CN" altLang="en-US" dirty="0"/>
              <a:t>。</a:t>
            </a:r>
          </a:p>
        </p:txBody>
      </p:sp>
      <p:sp>
        <p:nvSpPr>
          <p:cNvPr id="16" name="燕尾形 15"/>
          <p:cNvSpPr/>
          <p:nvPr/>
        </p:nvSpPr>
        <p:spPr>
          <a:xfrm>
            <a:off x="317500" y="4717415"/>
            <a:ext cx="4490085" cy="143510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通过最终余数检查和至多一次商值校正，保证 </a:t>
            </a:r>
            <a:r>
              <a:rPr lang="en-US" altLang="zh-CN" sz="1600" dirty="0"/>
              <a:t>DIV、DIVU、REM、REMU </a:t>
            </a:r>
            <a:r>
              <a:rPr lang="zh-CN" altLang="en-US" sz="1600" dirty="0"/>
              <a:t>的结果满足 </a:t>
            </a:r>
            <a:r>
              <a:rPr lang="en-US" altLang="zh-CN" sz="1600" dirty="0"/>
              <a:t>RV32 </a:t>
            </a:r>
            <a:r>
              <a:rPr lang="zh-CN" altLang="en-US" sz="1600" dirty="0"/>
              <a:t>规范。</a:t>
            </a:r>
          </a:p>
        </p:txBody>
      </p:sp>
      <p:graphicFrame>
        <p:nvGraphicFramePr>
          <p:cNvPr id="17" name="表格 16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30069721"/>
              </p:ext>
            </p:extLst>
          </p:nvPr>
        </p:nvGraphicFramePr>
        <p:xfrm>
          <a:off x="7477753" y="989965"/>
          <a:ext cx="4601036" cy="5408930"/>
        </p:xfrm>
        <a:graphic>
          <a:graphicData uri="http://schemas.openxmlformats.org/drawingml/2006/table">
            <a:tbl>
              <a:tblPr firstRow="1">
                <a:tableStyleId>{57969588-AC4D-4C24-8119-CE000EBEE7E7}</a:tableStyleId>
              </a:tblPr>
              <a:tblGrid>
                <a:gridCol w="235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30"/>
                        <a:t>指标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30"/>
                        <a:t>设计结果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8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 dirty="0"/>
                        <a:t>普通除法延迟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14 </a:t>
                      </a:r>
                      <a:r>
                        <a:rPr lang="zh-CN" altLang="en-US" sz="1600"/>
                        <a:t>拍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 dirty="0"/>
                        <a:t>除零与 </a:t>
                      </a:r>
                      <a:r>
                        <a:rPr lang="en-US" altLang="zh-CN" sz="1600" dirty="0"/>
                        <a:t>INT_MIN / -1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2 </a:t>
                      </a:r>
                      <a:r>
                        <a:rPr lang="zh-CN" altLang="en-US" sz="1600"/>
                        <a:t>拍直接返回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支持指令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/>
                        <a:t>DIV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DIVU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REM</a:t>
                      </a:r>
                      <a:r>
                        <a:rPr lang="zh-CN" altLang="en-US" sz="1600"/>
                        <a:t>、</a:t>
                      </a:r>
                      <a:r>
                        <a:rPr lang="en-US" altLang="zh-CN" sz="1600"/>
                        <a:t>REMU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结果精度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精确商与余数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/>
                        <a:t>流水控制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 dirty="0"/>
                        <a:t>请求握手、结果保持、冲刷取消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876040" y="720090"/>
            <a:ext cx="426847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流水线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控制与</a:t>
            </a:r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冒险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处理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image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130" y="1367790"/>
            <a:ext cx="7978775" cy="482282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8053705" y="1179830"/>
            <a:ext cx="3891915" cy="4077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lnSpc>
                <a:spcPct val="18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</a:rPr>
              <a:t>数据相关：前递优先</a:t>
            </a:r>
          </a:p>
          <a:p>
            <a:pPr algn="just" defTabSz="1216025">
              <a:lnSpc>
                <a:spcPct val="180000"/>
              </a:lnSpc>
              <a:buClrTx/>
              <a:buSzTx/>
              <a:buFontTx/>
              <a:buNone/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   普通 RAW 相关通过 EXE、MEM、        WB 级结果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accent2"/>
                </a:solidFill>
                <a:latin typeface="+mn-ea"/>
                <a:cs typeface="+mn-ea"/>
              </a:rPr>
              <a:t>前递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解决。</a:t>
            </a:r>
            <a:endParaRPr lang="zh-CN" altLang="en-US" sz="1600" dirty="0">
              <a:solidFill>
                <a:srgbClr val="000000">
                  <a:lumMod val="85000"/>
                  <a:lumOff val="15000"/>
                </a:srgbClr>
              </a:solidFill>
            </a:endParaRPr>
          </a:p>
          <a:p>
            <a:pPr marL="285750" indent="-285750" algn="l">
              <a:lnSpc>
                <a:spcPct val="18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70C0"/>
                </a:solidFill>
              </a:rPr>
              <a:t>访存相关：必要时暂停</a:t>
            </a:r>
          </a:p>
          <a:p>
            <a:pPr algn="just" defTabSz="1216025">
              <a:lnSpc>
                <a:spcPct val="180000"/>
              </a:lnSpc>
              <a:buClrTx/>
              <a:buSzTx/>
              <a:buFontTx/>
              <a:buNone/>
            </a:pPr>
            <a:r>
              <a:rPr lang="zh-CN" altLang="en-US" sz="16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   对紧邻 load-use 相关插入</a:t>
            </a:r>
            <a:r>
              <a:rPr lang="zh-CN" altLang="en-US" sz="1600" kern="0">
                <a:ln>
                  <a:noFill/>
                  <a:prstDash val="sysDot"/>
                </a:ln>
                <a:solidFill>
                  <a:schemeClr val="accent2"/>
                </a:solidFill>
                <a:latin typeface="+mn-ea"/>
                <a:cs typeface="+mn-ea"/>
              </a:rPr>
              <a:t>暂停</a:t>
            </a:r>
            <a:r>
              <a:rPr lang="zh-CN" altLang="en-US" sz="16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，等待 访存数据有效。</a:t>
            </a:r>
            <a:endParaRPr lang="zh-CN" altLang="en-US" sz="1600" dirty="0">
              <a:solidFill>
                <a:srgbClr val="000000">
                  <a:lumMod val="85000"/>
                  <a:lumOff val="15000"/>
                </a:srgbClr>
              </a:solidFill>
            </a:endParaRPr>
          </a:p>
          <a:p>
            <a:pPr marL="285750" indent="-285750" algn="l">
              <a:lnSpc>
                <a:spcPct val="18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70C0"/>
                </a:solidFill>
              </a:rPr>
              <a:t>控制相关：及时冲刷BTB </a:t>
            </a:r>
          </a:p>
          <a:p>
            <a:pPr algn="just" defTabSz="1216025">
              <a:lnSpc>
                <a:spcPct val="180000"/>
              </a:lnSpc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   </a:t>
            </a:r>
            <a:r>
              <a:rPr lang="zh-CN" altLang="en-US" sz="16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 进行分支预测；预测失败、跳转或异常发生时</a:t>
            </a:r>
            <a:r>
              <a:rPr lang="zh-CN" altLang="en-US" sz="1600" kern="0">
                <a:ln>
                  <a:noFill/>
                  <a:prstDash val="sysDot"/>
                </a:ln>
                <a:solidFill>
                  <a:schemeClr val="accent2"/>
                </a:solidFill>
                <a:latin typeface="+mn-ea"/>
                <a:cs typeface="+mn-ea"/>
              </a:rPr>
              <a:t>清除</a:t>
            </a:r>
            <a:r>
              <a:rPr lang="zh-CN" altLang="en-US" sz="16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错误路径指令。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853440" y="6190615"/>
            <a:ext cx="10484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级间采用</a:t>
            </a:r>
            <a:r>
              <a:rPr lang="zh-CN" altLang="en-US">
                <a:solidFill>
                  <a:srgbClr val="0070C0"/>
                </a:solidFill>
              </a:rPr>
              <a:t>注册化握手</a:t>
            </a:r>
            <a:r>
              <a:rPr lang="zh-CN" altLang="en-US"/>
              <a:t>与</a:t>
            </a:r>
            <a:r>
              <a:rPr lang="zh-CN" altLang="en-US">
                <a:solidFill>
                  <a:srgbClr val="0070C0"/>
                </a:solidFill>
              </a:rPr>
              <a:t>暂存缓冲</a:t>
            </a:r>
            <a:r>
              <a:rPr lang="zh-CN" altLang="en-US"/>
              <a:t>机制，避免跨多级组合反压路径，提高复杂停顿场景下的时序可控性。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2221321" y="771435"/>
            <a:ext cx="798449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受控 </a:t>
            </a:r>
            <a:r>
              <a:rPr lang="en-US" altLang="zh-CN" dirty="0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BRAM </a:t>
            </a:r>
            <a:r>
              <a:rPr lang="zh-CN" altLang="en-US" dirty="0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旁路</a:t>
            </a:r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消除 </a:t>
            </a:r>
            <a:r>
              <a:rPr lang="en-US" altLang="zh-CN" dirty="0">
                <a:latin typeface="HarmonyOS Sans SC Black" panose="00000A00000000000000" charset="-122"/>
                <a:ea typeface="HarmonyOS Sans SC Black" panose="00000A00000000000000" charset="-122"/>
              </a:rPr>
              <a:t>LW→ALU </a:t>
            </a:r>
            <a:r>
              <a:rPr lang="zh-CN" altLang="en-US" dirty="0">
                <a:latin typeface="HarmonyOS Sans SC Black" panose="00000A00000000000000" charset="-122"/>
                <a:ea typeface="HarmonyOS Sans SC Black" panose="00000A00000000000000" charset="-122"/>
              </a:rPr>
              <a:t>紧邻依赖空泡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E657119C-6982-421D-8BA7-E74DEB70A7D9-4" descr="wp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970" y="1440180"/>
            <a:ext cx="3279140" cy="5019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41040" y="1722120"/>
            <a:ext cx="53587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sw    x5, 0(sp)      → </a:t>
            </a:r>
            <a:r>
              <a:rPr lang="zh-CN" altLang="en-US"/>
              <a:t>缓冲分配/更新</a:t>
            </a:r>
          </a:p>
          <a:p>
            <a:r>
              <a:rPr lang="en-US" altLang="zh-CN"/>
              <a:t>lw     x5, 0(sp)      → </a:t>
            </a:r>
            <a:r>
              <a:rPr lang="zh-CN" altLang="en-US"/>
              <a:t>命中查询</a:t>
            </a:r>
          </a:p>
          <a:p>
            <a:r>
              <a:rPr lang="en-US" altLang="zh-CN"/>
              <a:t>add  x6, x5, x7     → </a:t>
            </a:r>
            <a:r>
              <a:rPr lang="zh-CN" altLang="en-US"/>
              <a:t>前递寄存器取数，零空泡执行</a:t>
            </a: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3576955" y="2748915"/>
            <a:ext cx="7821930" cy="6781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/>
              <a:t>仅服务以</a:t>
            </a:r>
            <a:r>
              <a:rPr lang="zh-CN" altLang="en-US">
                <a:solidFill>
                  <a:schemeClr val="accent6"/>
                </a:solidFill>
              </a:rPr>
              <a:t> </a:t>
            </a:r>
            <a:r>
              <a:rPr lang="en-US" altLang="zh-CN">
                <a:solidFill>
                  <a:schemeClr val="accent2"/>
                </a:solidFill>
              </a:rPr>
              <a:t>sp/s0</a:t>
            </a:r>
            <a:r>
              <a:rPr lang="en-US" altLang="zh-CN">
                <a:solidFill>
                  <a:schemeClr val="accent5"/>
                </a:solidFill>
              </a:rPr>
              <a:t> </a:t>
            </a:r>
            <a:r>
              <a:rPr lang="zh-CN" altLang="en-US"/>
              <a:t>为基址的对齐栈标量访问，不作为通用 </a:t>
            </a:r>
            <a:r>
              <a:rPr lang="en-US" altLang="zh-CN"/>
              <a:t>Cache。</a:t>
            </a:r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3556000" y="3780790"/>
            <a:ext cx="7821930" cy="6781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/>
              <a:t>全字栈 </a:t>
            </a:r>
            <a:r>
              <a:rPr lang="en-US" altLang="zh-CN"/>
              <a:t>Store </a:t>
            </a:r>
            <a:r>
              <a:rPr lang="zh-CN" altLang="en-US"/>
              <a:t>分配；所有 </a:t>
            </a:r>
            <a:r>
              <a:rPr lang="en-US" altLang="zh-CN"/>
              <a:t>Store </a:t>
            </a:r>
            <a:r>
              <a:rPr lang="zh-CN" altLang="en-US"/>
              <a:t>对命中项 </a:t>
            </a:r>
            <a:r>
              <a:rPr lang="en-US" altLang="zh-CN">
                <a:solidFill>
                  <a:schemeClr val="accent2"/>
                </a:solidFill>
              </a:rPr>
              <a:t>snoop </a:t>
            </a:r>
            <a:r>
              <a:rPr lang="zh-CN" altLang="en-US">
                <a:solidFill>
                  <a:schemeClr val="accent2"/>
                </a:solidFill>
              </a:rPr>
              <a:t>更新</a:t>
            </a:r>
            <a:r>
              <a:rPr lang="zh-CN" altLang="en-US"/>
              <a:t>，部分写入使对应项失效。</a:t>
            </a:r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3576955" y="4812665"/>
            <a:ext cx="7821930" cy="6781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/>
              <a:t>分支、</a:t>
            </a:r>
            <a:r>
              <a:rPr lang="en-US" altLang="zh-CN"/>
              <a:t>Store、CSR、</a:t>
            </a:r>
            <a:r>
              <a:rPr lang="zh-CN" altLang="en-US"/>
              <a:t>乘除法、访存未命中等消费者仍采用原有一拍停顿，保持功能与时序边界。</a:t>
            </a:r>
          </a:p>
        </p:txBody>
      </p:sp>
      <p:sp>
        <p:nvSpPr>
          <p:cNvPr id="12" name="燕尾形 11"/>
          <p:cNvSpPr/>
          <p:nvPr>
            <p:custDataLst>
              <p:tags r:id="rId5"/>
            </p:custDataLst>
          </p:nvPr>
        </p:nvSpPr>
        <p:spPr>
          <a:xfrm>
            <a:off x="3556000" y="5628005"/>
            <a:ext cx="7842885" cy="885190"/>
          </a:xfrm>
          <a:prstGeom prst="chevr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zh-CN"/>
              <a:t>irom-v2 </a:t>
            </a:r>
            <a:r>
              <a:rPr lang="zh-CN" altLang="en-US"/>
              <a:t>实测减少 73,540,860 个周期，周期数下降 14.96%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异常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与</a:t>
            </a:r>
            <a:r>
              <a:rPr lang="zh-CN" altLang="en-US">
                <a:solidFill>
                  <a:srgbClr val="FF0000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中断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处理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fig6-3_plic_interrupt_flow"/>
          <p:cNvPicPr>
            <a:picLocks noChangeAspect="1"/>
          </p:cNvPicPr>
          <p:nvPr/>
        </p:nvPicPr>
        <p:blipFill>
          <a:blip r:embed="rId16"/>
          <a:srcRect r="7619" b="29286"/>
          <a:stretch>
            <a:fillRect/>
          </a:stretch>
        </p:blipFill>
        <p:spPr>
          <a:xfrm>
            <a:off x="399415" y="1440180"/>
            <a:ext cx="8636635" cy="2904490"/>
          </a:xfrm>
          <a:prstGeom prst="rect">
            <a:avLst/>
          </a:prstGeom>
        </p:spPr>
      </p:pic>
      <p:pic>
        <p:nvPicPr>
          <p:cNvPr id="4" name="E657119C-6982-421D-8BA7-E74DEB70A7D9-2" descr="wpp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04225" y="372084"/>
            <a:ext cx="2488360" cy="5556250"/>
          </a:xfrm>
          <a:prstGeom prst="rect">
            <a:avLst/>
          </a:prstGeom>
        </p:spPr>
      </p:pic>
      <p:sp>
        <p:nvSpPr>
          <p:cNvPr id="8" name="矩形: 圆角 2"/>
          <p:cNvSpPr/>
          <p:nvPr>
            <p:custDataLst>
              <p:tags r:id="rId2"/>
            </p:custDataLst>
          </p:nvPr>
        </p:nvSpPr>
        <p:spPr>
          <a:xfrm>
            <a:off x="542505" y="4690751"/>
            <a:ext cx="2711749" cy="1919992"/>
          </a:xfrm>
          <a:prstGeom prst="roundRect">
            <a:avLst>
              <a:gd name="adj" fmla="val 0"/>
            </a:avLst>
          </a:prstGeom>
          <a:solidFill>
            <a:srgbClr val="000000">
              <a:lumMod val="40000"/>
              <a:lumOff val="60000"/>
              <a:alpha val="15000"/>
            </a:srgbClr>
          </a:solidFill>
          <a:ln w="1587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704501" y="5346160"/>
            <a:ext cx="2388094" cy="1164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ecall、ebreak、</a:t>
            </a:r>
            <a:r>
              <a:rPr lang="zh-CN" altLang="en-US" sz="1600" dirty="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取指/访存地址非对齐等。</a:t>
            </a:r>
          </a:p>
        </p:txBody>
      </p:sp>
      <p:sp>
        <p:nvSpPr>
          <p:cNvPr id="60" name="圆角矩形 59"/>
          <p:cNvSpPr/>
          <p:nvPr>
            <p:custDataLst>
              <p:tags r:id="rId4"/>
            </p:custDataLst>
          </p:nvPr>
        </p:nvSpPr>
        <p:spPr>
          <a:xfrm>
            <a:off x="683239" y="4406583"/>
            <a:ext cx="421865" cy="413428"/>
          </a:xfrm>
          <a:prstGeom prst="roundRect">
            <a:avLst>
              <a:gd name="adj" fmla="val 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cxnSp>
        <p:nvCxnSpPr>
          <p:cNvPr id="80" name="直接连接符 79"/>
          <p:cNvCxnSpPr/>
          <p:nvPr>
            <p:custDataLst>
              <p:tags r:id="rId5"/>
            </p:custDataLst>
          </p:nvPr>
        </p:nvCxnSpPr>
        <p:spPr>
          <a:xfrm flipV="1">
            <a:off x="659277" y="5240863"/>
            <a:ext cx="2478204" cy="0"/>
          </a:xfrm>
          <a:prstGeom prst="line">
            <a:avLst/>
          </a:prstGeom>
          <a:ln w="22225">
            <a:solidFill>
              <a:srgbClr val="376FFF">
                <a:alpha val="50000"/>
              </a:srgbClr>
            </a:solidFill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84927" y="4924295"/>
            <a:ext cx="2387756" cy="2355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376FFF"/>
                </a:solidFill>
                <a:latin typeface="+mn-ea"/>
                <a:cs typeface="+mn-ea"/>
              </a:rPr>
              <a:t>同步异常</a:t>
            </a:r>
          </a:p>
        </p:txBody>
      </p:sp>
      <p:sp>
        <p:nvSpPr>
          <p:cNvPr id="33" name="矩形: 圆角 2"/>
          <p:cNvSpPr/>
          <p:nvPr>
            <p:custDataLst>
              <p:tags r:id="rId7"/>
            </p:custDataLst>
          </p:nvPr>
        </p:nvSpPr>
        <p:spPr>
          <a:xfrm>
            <a:off x="3570484" y="4690751"/>
            <a:ext cx="2711749" cy="1919992"/>
          </a:xfrm>
          <a:prstGeom prst="roundRect">
            <a:avLst>
              <a:gd name="adj" fmla="val 0"/>
            </a:avLst>
          </a:prstGeom>
          <a:solidFill>
            <a:srgbClr val="000000">
              <a:lumMod val="40000"/>
              <a:lumOff val="60000"/>
              <a:alpha val="15000"/>
            </a:srgbClr>
          </a:solidFill>
          <a:ln w="1587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3732480" y="5348860"/>
            <a:ext cx="2388094" cy="11589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Timer、UART </a:t>
            </a:r>
            <a:r>
              <a:rPr lang="zh-CN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等中断源经 </a:t>
            </a:r>
            <a:r>
              <a:rPr lang="en-US" altLang="zh-CN" sz="16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PLIC </a:t>
            </a:r>
            <a:r>
              <a:rPr lang="zh-CN" altLang="en-US" sz="16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仲裁后进入 </a:t>
            </a:r>
            <a:r>
              <a:rPr lang="en-US" altLang="zh-CN" sz="16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CPU</a:t>
            </a:r>
          </a:p>
        </p:txBody>
      </p:sp>
      <p:sp>
        <p:nvSpPr>
          <p:cNvPr id="40" name="圆角矩形 39"/>
          <p:cNvSpPr/>
          <p:nvPr>
            <p:custDataLst>
              <p:tags r:id="rId9"/>
            </p:custDataLst>
          </p:nvPr>
        </p:nvSpPr>
        <p:spPr>
          <a:xfrm>
            <a:off x="3711218" y="4406583"/>
            <a:ext cx="421865" cy="413428"/>
          </a:xfrm>
          <a:prstGeom prst="roundRect">
            <a:avLst>
              <a:gd name="adj" fmla="val 0"/>
            </a:avLst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10"/>
            </p:custDataLst>
          </p:nvPr>
        </p:nvCxnSpPr>
        <p:spPr>
          <a:xfrm flipV="1">
            <a:off x="3687593" y="5243900"/>
            <a:ext cx="2477867" cy="0"/>
          </a:xfrm>
          <a:prstGeom prst="line">
            <a:avLst/>
          </a:prstGeom>
          <a:ln w="22225">
            <a:solidFill>
              <a:srgbClr val="376FFF">
                <a:alpha val="50000"/>
              </a:srgbClr>
            </a:solidFill>
          </a:ln>
        </p:spPr>
        <p:style>
          <a:lnRef idx="2">
            <a:srgbClr val="376FFF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3714255" y="4924295"/>
            <a:ext cx="2387756" cy="2355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376FFF"/>
                </a:solidFill>
                <a:latin typeface="+mn-ea"/>
                <a:cs typeface="+mn-ea"/>
              </a:rPr>
              <a:t>外部中断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550660" y="5687060"/>
            <a:ext cx="5383530" cy="823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70000"/>
              </a:lnSpc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异常</a:t>
            </a:r>
            <a:r>
              <a:rPr lang="zh-CN" altLang="en-US">
                <a:solidFill>
                  <a:schemeClr val="tx1"/>
                </a:solidFill>
              </a:rPr>
              <a:t>与</a:t>
            </a:r>
            <a:r>
              <a:rPr lang="zh-CN" altLang="en-US">
                <a:solidFill>
                  <a:srgbClr val="FF0000"/>
                </a:solidFill>
              </a:rPr>
              <a:t>中断</a:t>
            </a:r>
            <a:r>
              <a:rPr lang="zh-CN" altLang="en-US"/>
              <a:t>统一进入 Trap 控制路径，实现硬件事件的可靠处理与程序恢复。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  <a:sym typeface="+mn-ea"/>
              </a:rPr>
              <a:t>功能实现与测评结果</a:t>
            </a:r>
            <a:endParaRPr lang="zh-CN" altLang="en-US" sz="4400">
              <a:solidFill>
                <a:srgbClr val="142DA8"/>
              </a:solidFill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3086735" y="3779520"/>
            <a:ext cx="6017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SoC</a:t>
            </a:r>
            <a:r>
              <a:rPr lang="zh-CN" altLang="en-US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</a:rPr>
              <a:t>平台搭建、分层验证与性能测评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5645785" y="1800000"/>
            <a:ext cx="900000" cy="900000"/>
          </a:xfrm>
          <a:prstGeom prst="rect">
            <a:avLst/>
          </a:prstGeom>
          <a:solidFill>
            <a:srgbClr val="004CE5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3721735" y="720090"/>
            <a:ext cx="4749165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自建 </a:t>
            </a:r>
            <a:r>
              <a:rPr lang="en-US" altLang="zh-CN">
                <a:latin typeface="HarmonyOS Sans SC Black" panose="00000A00000000000000" charset="-122"/>
                <a:ea typeface="HarmonyOS Sans SC Black" panose="00000A00000000000000" charset="-122"/>
              </a:rPr>
              <a:t>SoC 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与 </a:t>
            </a:r>
            <a:r>
              <a:rPr lang="en-US" altLang="zh-CN">
                <a:latin typeface="HarmonyOS Sans SC Black" panose="00000A00000000000000" charset="-122"/>
                <a:ea typeface="HarmonyOS Sans SC Black" panose="00000A00000000000000" charset="-122"/>
              </a:rPr>
              <a:t>FPGA </a:t>
            </a: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本地验证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image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" y="1548130"/>
            <a:ext cx="7837170" cy="339915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513445" y="1363345"/>
            <a:ext cx="3446145" cy="17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本地串口调试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自主实现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UART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外设与配置接口，支持程序输出、调试信息和测试结果观测。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513445" y="3065780"/>
            <a:ext cx="3446145" cy="17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外设与中断支撑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Timer、PLIC、GPIO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等模块，支持定时器、串口中断和板级交互验证。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8513445" y="4768215"/>
            <a:ext cx="3446145" cy="173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性能测评环境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通过存储映射、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MMIO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与性能计数机制，支撑裸机程序、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CoreMark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和后续系统软件运行。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33730" y="5219065"/>
            <a:ext cx="7672705" cy="1056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/>
              <a:t>自建</a:t>
            </a:r>
            <a:r>
              <a:rPr lang="en-US" altLang="zh-CN" sz="2400"/>
              <a:t>SoC</a:t>
            </a:r>
            <a:r>
              <a:rPr lang="zh-CN" altLang="en-US" sz="2400"/>
              <a:t>为</a:t>
            </a:r>
            <a:r>
              <a:rPr lang="en-US" altLang="zh-CN" sz="2400"/>
              <a:t>CPU</a:t>
            </a:r>
            <a:r>
              <a:rPr lang="zh-CN" altLang="en-US" sz="2400"/>
              <a:t>裸核提供独立的本地验证环境，完成</a:t>
            </a:r>
          </a:p>
          <a:p>
            <a:pPr>
              <a:lnSpc>
                <a:spcPct val="140000"/>
              </a:lnSpc>
            </a:pPr>
            <a:r>
              <a:rPr lang="en-US" altLang="zh-CN" sz="2400"/>
              <a:t>“</a:t>
            </a:r>
            <a:r>
              <a:rPr lang="zh-CN" altLang="en-US" sz="2400">
                <a:solidFill>
                  <a:srgbClr val="0070C0"/>
                </a:solidFill>
              </a:rPr>
              <a:t>运行—调试—验证—测评</a:t>
            </a:r>
            <a:r>
              <a:rPr lang="en-US" altLang="zh-CN" sz="2400"/>
              <a:t>”</a:t>
            </a:r>
            <a:r>
              <a:rPr lang="zh-CN" altLang="en-US" sz="2400"/>
              <a:t>的工程闭环。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分层验证结果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 descr="C:/Users/yy94lm/Desktop/5febe85d112ed5785bac26e0ac9d3962.jpg5febe85d112ed5785bac26e0ac9d396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/>
          <a:srcRect l="9347" r="9347"/>
          <a:stretch>
            <a:fillRect/>
          </a:stretch>
        </p:blipFill>
        <p:spPr>
          <a:xfrm>
            <a:off x="8155578" y="1699041"/>
            <a:ext cx="3958201" cy="273817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4372">
                <a:moveTo>
                  <a:pt x="6320" y="0"/>
                </a:moveTo>
                <a:lnTo>
                  <a:pt x="6320" y="4372"/>
                </a:lnTo>
                <a:cubicBezTo>
                  <a:pt x="4602" y="4131"/>
                  <a:pt x="2430" y="3954"/>
                  <a:pt x="0" y="3869"/>
                </a:cubicBezTo>
                <a:lnTo>
                  <a:pt x="0" y="503"/>
                </a:lnTo>
                <a:cubicBezTo>
                  <a:pt x="2430" y="418"/>
                  <a:pt x="4602" y="241"/>
                  <a:pt x="6320" y="0"/>
                </a:cubicBezTo>
                <a:close/>
              </a:path>
            </a:pathLst>
          </a:custGeom>
          <a:solidFill>
            <a:srgbClr val="376FFF"/>
          </a:solidFill>
          <a:ln>
            <a:solidFill>
              <a:srgbClr val="376FFF">
                <a:alpha val="15000"/>
              </a:srgbClr>
            </a:solidFill>
          </a:ln>
        </p:spPr>
      </p:pic>
      <p:pic>
        <p:nvPicPr>
          <p:cNvPr id="54" name="图片 53" descr="F:/graduation_project/doc/屏幕截图 2026-07-16 152002.png屏幕截图 2026-07-16 15200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3"/>
          <a:srcRect t="51004" r="53361" b="975"/>
          <a:stretch>
            <a:fillRect/>
          </a:stretch>
        </p:blipFill>
        <p:spPr>
          <a:xfrm>
            <a:off x="4092575" y="2021840"/>
            <a:ext cx="4057015" cy="209740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96" h="3359">
                <a:moveTo>
                  <a:pt x="0" y="0"/>
                </a:moveTo>
                <a:cubicBezTo>
                  <a:pt x="1025" y="35"/>
                  <a:pt x="2097" y="53"/>
                  <a:pt x="3198" y="53"/>
                </a:cubicBezTo>
                <a:cubicBezTo>
                  <a:pt x="4300" y="53"/>
                  <a:pt x="5370" y="35"/>
                  <a:pt x="6396" y="0"/>
                </a:cubicBezTo>
                <a:lnTo>
                  <a:pt x="6396" y="3359"/>
                </a:lnTo>
                <a:cubicBezTo>
                  <a:pt x="5370" y="3324"/>
                  <a:pt x="4300" y="3306"/>
                  <a:pt x="3198" y="3306"/>
                </a:cubicBezTo>
                <a:cubicBezTo>
                  <a:pt x="2097" y="3306"/>
                  <a:pt x="1025" y="3324"/>
                  <a:pt x="0" y="3359"/>
                </a:cubicBez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>
            <a:solidFill>
              <a:srgbClr val="376FFF">
                <a:alpha val="15000"/>
              </a:srgbClr>
            </a:solidFill>
          </a:ln>
        </p:spPr>
      </p:pic>
      <p:pic>
        <p:nvPicPr>
          <p:cNvPr id="55" name="图片 54" descr="F:/graduation_project/抽检材料整理/图片/tb_PLIC.pngtb_PLIC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4"/>
          <a:srcRect l="5254" t="46695" r="42818"/>
          <a:stretch>
            <a:fillRect/>
          </a:stretch>
        </p:blipFill>
        <p:spPr>
          <a:xfrm>
            <a:off x="77470" y="1699260"/>
            <a:ext cx="4012565" cy="27381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20" h="4372">
                <a:moveTo>
                  <a:pt x="0" y="0"/>
                </a:moveTo>
                <a:cubicBezTo>
                  <a:pt x="1718" y="241"/>
                  <a:pt x="3890" y="418"/>
                  <a:pt x="6320" y="503"/>
                </a:cubicBezTo>
                <a:lnTo>
                  <a:pt x="6320" y="3869"/>
                </a:lnTo>
                <a:cubicBezTo>
                  <a:pt x="3890" y="3954"/>
                  <a:pt x="1718" y="4131"/>
                  <a:pt x="0" y="4372"/>
                </a:cubicBezTo>
                <a:lnTo>
                  <a:pt x="0" y="0"/>
                </a:lnTo>
                <a:close/>
              </a:path>
            </a:pathLst>
          </a:custGeom>
          <a:solidFill>
            <a:srgbClr val="376FFF"/>
          </a:solidFill>
          <a:ln>
            <a:solidFill>
              <a:srgbClr val="376FFF">
                <a:alpha val="15000"/>
              </a:srgbClr>
            </a:solidFill>
          </a:ln>
        </p:spPr>
      </p:pic>
      <p:sp>
        <p:nvSpPr>
          <p:cNvPr id="56" name="任意多边形: 形状 1"/>
          <p:cNvSpPr/>
          <p:nvPr>
            <p:custDataLst>
              <p:tags r:id="rId5"/>
            </p:custDataLst>
          </p:nvPr>
        </p:nvSpPr>
        <p:spPr>
          <a:xfrm>
            <a:off x="90123" y="4188573"/>
            <a:ext cx="12024280" cy="2669278"/>
          </a:xfrm>
          <a:custGeom>
            <a:avLst/>
            <a:gdLst>
              <a:gd name="connsiteX0" fmla="*/ 6096000 w 12191602"/>
              <a:gd name="connsiteY0" fmla="*/ 0 h 2231655"/>
              <a:gd name="connsiteX1" fmla="*/ 11819532 w 12191602"/>
              <a:gd name="connsiteY1" fmla="*/ 412136 h 2231655"/>
              <a:gd name="connsiteX2" fmla="*/ 12191602 w 12191602"/>
              <a:gd name="connsiteY2" fmla="*/ 479965 h 2231655"/>
              <a:gd name="connsiteX3" fmla="*/ 12191602 w 12191602"/>
              <a:gd name="connsiteY3" fmla="*/ 2231655 h 2231655"/>
              <a:gd name="connsiteX4" fmla="*/ 0 w 12191602"/>
              <a:gd name="connsiteY4" fmla="*/ 2231655 h 2231655"/>
              <a:gd name="connsiteX5" fmla="*/ 0 w 12191602"/>
              <a:gd name="connsiteY5" fmla="*/ 480038 h 2231655"/>
              <a:gd name="connsiteX6" fmla="*/ 372468 w 12191602"/>
              <a:gd name="connsiteY6" fmla="*/ 412136 h 2231655"/>
              <a:gd name="connsiteX7" fmla="*/ 6096000 w 12191602"/>
              <a:gd name="connsiteY7" fmla="*/ 0 h 2231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602" h="2231655">
                <a:moveTo>
                  <a:pt x="6096000" y="0"/>
                </a:moveTo>
                <a:cubicBezTo>
                  <a:pt x="8270126" y="0"/>
                  <a:pt x="10264156" y="154666"/>
                  <a:pt x="11819532" y="412136"/>
                </a:cubicBezTo>
                <a:lnTo>
                  <a:pt x="12191602" y="479965"/>
                </a:lnTo>
                <a:lnTo>
                  <a:pt x="12191602" y="2231655"/>
                </a:lnTo>
                <a:lnTo>
                  <a:pt x="0" y="2231655"/>
                </a:lnTo>
                <a:lnTo>
                  <a:pt x="0" y="480038"/>
                </a:lnTo>
                <a:lnTo>
                  <a:pt x="372468" y="412136"/>
                </a:lnTo>
                <a:cubicBezTo>
                  <a:pt x="1927845" y="154666"/>
                  <a:pt x="3921874" y="0"/>
                  <a:pt x="609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76FFF">
                  <a:lumMod val="40000"/>
                  <a:lumOff val="60000"/>
                  <a:alpha val="20000"/>
                </a:srgbClr>
              </a:gs>
              <a:gs pos="39000">
                <a:srgbClr val="376FFF">
                  <a:lumMod val="60000"/>
                  <a:lumOff val="40000"/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7" name="任意多边形: 形状 10"/>
          <p:cNvSpPr/>
          <p:nvPr>
            <p:custDataLst>
              <p:tags r:id="rId6"/>
            </p:custDataLst>
          </p:nvPr>
        </p:nvSpPr>
        <p:spPr>
          <a:xfrm>
            <a:off x="90123" y="1489858"/>
            <a:ext cx="12024513" cy="462730"/>
          </a:xfrm>
          <a:custGeom>
            <a:avLst/>
            <a:gdLst>
              <a:gd name="connsiteX0" fmla="*/ 12277327 w 12277327"/>
              <a:gd name="connsiteY0" fmla="*/ 84 h 591318"/>
              <a:gd name="connsiteX1" fmla="*/ 12277327 w 12277327"/>
              <a:gd name="connsiteY1" fmla="*/ 188744 h 591318"/>
              <a:gd name="connsiteX2" fmla="*/ 9513019 w 12277327"/>
              <a:gd name="connsiteY2" fmla="*/ 497010 h 591318"/>
              <a:gd name="connsiteX3" fmla="*/ 8323665 w 12277327"/>
              <a:gd name="connsiteY3" fmla="*/ 574516 h 591318"/>
              <a:gd name="connsiteX4" fmla="*/ 7922784 w 12277327"/>
              <a:gd name="connsiteY4" fmla="*/ 591318 h 591318"/>
              <a:gd name="connsiteX5" fmla="*/ 8323665 w 12277327"/>
              <a:gd name="connsiteY5" fmla="*/ 566642 h 591318"/>
              <a:gd name="connsiteX6" fmla="*/ 9513019 w 12277327"/>
              <a:gd name="connsiteY6" fmla="*/ 452814 h 591318"/>
              <a:gd name="connsiteX7" fmla="*/ 12277327 w 12277327"/>
              <a:gd name="connsiteY7" fmla="*/ 84 h 591318"/>
              <a:gd name="connsiteX8" fmla="*/ 0 w 12277327"/>
              <a:gd name="connsiteY8" fmla="*/ 0 h 591318"/>
              <a:gd name="connsiteX9" fmla="*/ 2764313 w 12277327"/>
              <a:gd name="connsiteY9" fmla="*/ 452769 h 591318"/>
              <a:gd name="connsiteX10" fmla="*/ 3953665 w 12277327"/>
              <a:gd name="connsiteY10" fmla="*/ 566613 h 591318"/>
              <a:gd name="connsiteX11" fmla="*/ 4354939 w 12277327"/>
              <a:gd name="connsiteY11" fmla="*/ 591318 h 591318"/>
              <a:gd name="connsiteX12" fmla="*/ 3953665 w 12277327"/>
              <a:gd name="connsiteY12" fmla="*/ 574496 h 591318"/>
              <a:gd name="connsiteX13" fmla="*/ 2764313 w 12277327"/>
              <a:gd name="connsiteY13" fmla="*/ 496979 h 591318"/>
              <a:gd name="connsiteX14" fmla="*/ 0 w 12277327"/>
              <a:gd name="connsiteY14" fmla="*/ 188687 h 59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77327" h="591318">
                <a:moveTo>
                  <a:pt x="12277327" y="84"/>
                </a:moveTo>
                <a:lnTo>
                  <a:pt x="12277327" y="188744"/>
                </a:lnTo>
                <a:cubicBezTo>
                  <a:pt x="11359531" y="320837"/>
                  <a:pt x="10437352" y="423886"/>
                  <a:pt x="9513019" y="497010"/>
                </a:cubicBezTo>
                <a:cubicBezTo>
                  <a:pt x="9116950" y="528343"/>
                  <a:pt x="8720442" y="554192"/>
                  <a:pt x="8323665" y="574516"/>
                </a:cubicBezTo>
                <a:lnTo>
                  <a:pt x="7922784" y="591318"/>
                </a:lnTo>
                <a:lnTo>
                  <a:pt x="8323665" y="566642"/>
                </a:lnTo>
                <a:cubicBezTo>
                  <a:pt x="8720442" y="536794"/>
                  <a:pt x="9116950" y="498831"/>
                  <a:pt x="9513019" y="452814"/>
                </a:cubicBezTo>
                <a:cubicBezTo>
                  <a:pt x="10437352" y="345422"/>
                  <a:pt x="11359531" y="194080"/>
                  <a:pt x="12277327" y="84"/>
                </a:cubicBezTo>
                <a:close/>
                <a:moveTo>
                  <a:pt x="0" y="0"/>
                </a:moveTo>
                <a:cubicBezTo>
                  <a:pt x="917800" y="194010"/>
                  <a:pt x="1839979" y="345363"/>
                  <a:pt x="2764313" y="452769"/>
                </a:cubicBezTo>
                <a:cubicBezTo>
                  <a:pt x="3160381" y="498790"/>
                  <a:pt x="3556888" y="536759"/>
                  <a:pt x="3953665" y="566613"/>
                </a:cubicBezTo>
                <a:lnTo>
                  <a:pt x="4354939" y="591318"/>
                </a:lnTo>
                <a:lnTo>
                  <a:pt x="3953665" y="574496"/>
                </a:lnTo>
                <a:cubicBezTo>
                  <a:pt x="3556888" y="554168"/>
                  <a:pt x="3160381" y="528315"/>
                  <a:pt x="2764313" y="496979"/>
                </a:cubicBezTo>
                <a:cubicBezTo>
                  <a:pt x="1839979" y="423846"/>
                  <a:pt x="917800" y="320789"/>
                  <a:pt x="0" y="188687"/>
                </a:cubicBezTo>
                <a:close/>
              </a:path>
            </a:pathLst>
          </a:custGeom>
          <a:gradFill flip="none" rotWithShape="1">
            <a:gsLst>
              <a:gs pos="1282">
                <a:srgbClr val="376FFF"/>
              </a:gs>
              <a:gs pos="29000">
                <a:srgbClr val="376FFF">
                  <a:lumMod val="40000"/>
                  <a:lumOff val="60000"/>
                </a:srgbClr>
              </a:gs>
              <a:gs pos="73000">
                <a:srgbClr val="376FFF">
                  <a:lumMod val="20000"/>
                  <a:lumOff val="80000"/>
                </a:srgbClr>
              </a:gs>
              <a:gs pos="100000">
                <a:srgbClr val="376F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11"/>
          <p:cNvSpPr/>
          <p:nvPr>
            <p:custDataLst>
              <p:tags r:id="rId7"/>
            </p:custDataLst>
          </p:nvPr>
        </p:nvSpPr>
        <p:spPr>
          <a:xfrm flipV="1">
            <a:off x="90123" y="4178552"/>
            <a:ext cx="12024513" cy="462730"/>
          </a:xfrm>
          <a:custGeom>
            <a:avLst/>
            <a:gdLst>
              <a:gd name="connsiteX0" fmla="*/ 12277327 w 12277327"/>
              <a:gd name="connsiteY0" fmla="*/ 84 h 591318"/>
              <a:gd name="connsiteX1" fmla="*/ 12277327 w 12277327"/>
              <a:gd name="connsiteY1" fmla="*/ 188744 h 591318"/>
              <a:gd name="connsiteX2" fmla="*/ 9513019 w 12277327"/>
              <a:gd name="connsiteY2" fmla="*/ 497010 h 591318"/>
              <a:gd name="connsiteX3" fmla="*/ 8323665 w 12277327"/>
              <a:gd name="connsiteY3" fmla="*/ 574516 h 591318"/>
              <a:gd name="connsiteX4" fmla="*/ 7922784 w 12277327"/>
              <a:gd name="connsiteY4" fmla="*/ 591318 h 591318"/>
              <a:gd name="connsiteX5" fmla="*/ 8323665 w 12277327"/>
              <a:gd name="connsiteY5" fmla="*/ 566642 h 591318"/>
              <a:gd name="connsiteX6" fmla="*/ 9513019 w 12277327"/>
              <a:gd name="connsiteY6" fmla="*/ 452814 h 591318"/>
              <a:gd name="connsiteX7" fmla="*/ 12277327 w 12277327"/>
              <a:gd name="connsiteY7" fmla="*/ 84 h 591318"/>
              <a:gd name="connsiteX8" fmla="*/ 0 w 12277327"/>
              <a:gd name="connsiteY8" fmla="*/ 0 h 591318"/>
              <a:gd name="connsiteX9" fmla="*/ 2764313 w 12277327"/>
              <a:gd name="connsiteY9" fmla="*/ 452769 h 591318"/>
              <a:gd name="connsiteX10" fmla="*/ 3953665 w 12277327"/>
              <a:gd name="connsiteY10" fmla="*/ 566613 h 591318"/>
              <a:gd name="connsiteX11" fmla="*/ 4354939 w 12277327"/>
              <a:gd name="connsiteY11" fmla="*/ 591318 h 591318"/>
              <a:gd name="connsiteX12" fmla="*/ 3953665 w 12277327"/>
              <a:gd name="connsiteY12" fmla="*/ 574496 h 591318"/>
              <a:gd name="connsiteX13" fmla="*/ 2764313 w 12277327"/>
              <a:gd name="connsiteY13" fmla="*/ 496979 h 591318"/>
              <a:gd name="connsiteX14" fmla="*/ 0 w 12277327"/>
              <a:gd name="connsiteY14" fmla="*/ 188687 h 59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77327" h="591318">
                <a:moveTo>
                  <a:pt x="12277327" y="84"/>
                </a:moveTo>
                <a:lnTo>
                  <a:pt x="12277327" y="188744"/>
                </a:lnTo>
                <a:cubicBezTo>
                  <a:pt x="11359531" y="320837"/>
                  <a:pt x="10437352" y="423886"/>
                  <a:pt x="9513019" y="497010"/>
                </a:cubicBezTo>
                <a:cubicBezTo>
                  <a:pt x="9116950" y="528343"/>
                  <a:pt x="8720442" y="554192"/>
                  <a:pt x="8323665" y="574516"/>
                </a:cubicBezTo>
                <a:lnTo>
                  <a:pt x="7922784" y="591318"/>
                </a:lnTo>
                <a:lnTo>
                  <a:pt x="8323665" y="566642"/>
                </a:lnTo>
                <a:cubicBezTo>
                  <a:pt x="8720442" y="536794"/>
                  <a:pt x="9116950" y="498831"/>
                  <a:pt x="9513019" y="452814"/>
                </a:cubicBezTo>
                <a:cubicBezTo>
                  <a:pt x="10437352" y="345422"/>
                  <a:pt x="11359531" y="194080"/>
                  <a:pt x="12277327" y="84"/>
                </a:cubicBezTo>
                <a:close/>
                <a:moveTo>
                  <a:pt x="0" y="0"/>
                </a:moveTo>
                <a:cubicBezTo>
                  <a:pt x="917800" y="194010"/>
                  <a:pt x="1839979" y="345363"/>
                  <a:pt x="2764313" y="452769"/>
                </a:cubicBezTo>
                <a:cubicBezTo>
                  <a:pt x="3160381" y="498790"/>
                  <a:pt x="3556888" y="536759"/>
                  <a:pt x="3953665" y="566613"/>
                </a:cubicBezTo>
                <a:lnTo>
                  <a:pt x="4354939" y="591318"/>
                </a:lnTo>
                <a:lnTo>
                  <a:pt x="3953665" y="574496"/>
                </a:lnTo>
                <a:cubicBezTo>
                  <a:pt x="3556888" y="554168"/>
                  <a:pt x="3160381" y="528315"/>
                  <a:pt x="2764313" y="496979"/>
                </a:cubicBezTo>
                <a:cubicBezTo>
                  <a:pt x="1839979" y="423846"/>
                  <a:pt x="917800" y="320789"/>
                  <a:pt x="0" y="188687"/>
                </a:cubicBezTo>
                <a:close/>
              </a:path>
            </a:pathLst>
          </a:custGeom>
          <a:gradFill flip="none" rotWithShape="1">
            <a:gsLst>
              <a:gs pos="1282">
                <a:srgbClr val="376FFF"/>
              </a:gs>
              <a:gs pos="29000">
                <a:srgbClr val="376FFF">
                  <a:lumMod val="40000"/>
                  <a:lumOff val="60000"/>
                </a:srgbClr>
              </a:gs>
              <a:gs pos="73000">
                <a:srgbClr val="376FFF">
                  <a:lumMod val="20000"/>
                  <a:lumOff val="80000"/>
                </a:srgbClr>
              </a:gs>
              <a:gs pos="100000">
                <a:srgbClr val="376F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59" name="直接连接符 58"/>
          <p:cNvCxnSpPr/>
          <p:nvPr>
            <p:custDataLst>
              <p:tags r:id="rId8"/>
            </p:custDataLst>
          </p:nvPr>
        </p:nvCxnSpPr>
        <p:spPr>
          <a:xfrm>
            <a:off x="4018885" y="4507358"/>
            <a:ext cx="0" cy="2049244"/>
          </a:xfrm>
          <a:prstGeom prst="line">
            <a:avLst/>
          </a:prstGeom>
          <a:ln>
            <a:gradFill flip="none" rotWithShape="1">
              <a:gsLst>
                <a:gs pos="0">
                  <a:srgbClr val="376FFF">
                    <a:lumMod val="60000"/>
                    <a:lumOff val="40000"/>
                    <a:alpha val="0"/>
                  </a:srgbClr>
                </a:gs>
                <a:gs pos="50000">
                  <a:srgbClr val="376FFF">
                    <a:lumMod val="60000"/>
                    <a:lumOff val="40000"/>
                    <a:alpha val="36000"/>
                  </a:srgbClr>
                </a:gs>
                <a:gs pos="99000">
                  <a:srgbClr val="376FFF">
                    <a:lumMod val="60000"/>
                    <a:lumOff val="40000"/>
                    <a:alpha val="0"/>
                  </a:srgbClr>
                </a:gs>
              </a:gsLst>
              <a:lin ang="5280000" scaled="0"/>
              <a:tileRect/>
            </a:gradFill>
          </a:ln>
        </p:spPr>
        <p:style>
          <a:lnRef idx="2">
            <a:srgbClr val="376FFF"/>
          </a:lnRef>
          <a:fillRef idx="0">
            <a:srgbClr val="376FFF"/>
          </a:fillRef>
          <a:effectRef idx="1">
            <a:srgbClr val="376FFF"/>
          </a:effectRef>
          <a:fontRef idx="minor">
            <a:srgbClr val="000000"/>
          </a:fontRef>
        </p:style>
      </p:cxnSp>
      <p:cxnSp>
        <p:nvCxnSpPr>
          <p:cNvPr id="60" name="直接连接符 59"/>
          <p:cNvCxnSpPr/>
          <p:nvPr>
            <p:custDataLst>
              <p:tags r:id="rId9"/>
            </p:custDataLst>
          </p:nvPr>
        </p:nvCxnSpPr>
        <p:spPr>
          <a:xfrm>
            <a:off x="8186267" y="4360804"/>
            <a:ext cx="0" cy="2049244"/>
          </a:xfrm>
          <a:prstGeom prst="line">
            <a:avLst/>
          </a:prstGeom>
          <a:ln>
            <a:gradFill flip="none" rotWithShape="1">
              <a:gsLst>
                <a:gs pos="0">
                  <a:srgbClr val="376FFF">
                    <a:lumMod val="60000"/>
                    <a:lumOff val="40000"/>
                    <a:alpha val="0"/>
                  </a:srgbClr>
                </a:gs>
                <a:gs pos="50000">
                  <a:srgbClr val="376FFF">
                    <a:lumMod val="60000"/>
                    <a:lumOff val="40000"/>
                    <a:alpha val="36000"/>
                  </a:srgbClr>
                </a:gs>
                <a:gs pos="99000">
                  <a:srgbClr val="376FFF">
                    <a:lumMod val="60000"/>
                    <a:lumOff val="40000"/>
                    <a:alpha val="0"/>
                  </a:srgbClr>
                </a:gs>
              </a:gsLst>
              <a:lin ang="5280000" scaled="0"/>
              <a:tileRect/>
            </a:gradFill>
          </a:ln>
        </p:spPr>
        <p:style>
          <a:lnRef idx="2">
            <a:srgbClr val="376FFF"/>
          </a:lnRef>
          <a:fillRef idx="0">
            <a:srgbClr val="376FFF"/>
          </a:fillRef>
          <a:effectRef idx="1">
            <a:srgbClr val="376FFF"/>
          </a:effectRef>
          <a:fontRef idx="minor">
            <a:srgbClr val="000000"/>
          </a:fontRef>
        </p:style>
      </p:cxnSp>
      <p:sp>
        <p:nvSpPr>
          <p:cNvPr id="61" name="椭圆 60"/>
          <p:cNvSpPr/>
          <p:nvPr>
            <p:custDataLst>
              <p:tags r:id="rId10"/>
            </p:custDataLst>
          </p:nvPr>
        </p:nvSpPr>
        <p:spPr>
          <a:xfrm>
            <a:off x="1882586" y="4389614"/>
            <a:ext cx="106470" cy="106470"/>
          </a:xfrm>
          <a:prstGeom prst="ellipse">
            <a:avLst/>
          </a:prstGeom>
          <a:gradFill flip="none" rotWithShape="1">
            <a:gsLst>
              <a:gs pos="0">
                <a:srgbClr val="376FFF">
                  <a:lumMod val="60000"/>
                  <a:lumOff val="40000"/>
                </a:srgbClr>
              </a:gs>
              <a:gs pos="79000">
                <a:srgbClr val="376F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>
            <a:solidFill>
              <a:srgbClr val="FFFFFF"/>
            </a:solidFill>
          </a:ln>
          <a:effectLst>
            <a:outerShdw blurRad="50800" dist="63500" dir="2700000" algn="tl" rotWithShape="0">
              <a:srgbClr val="376FFF">
                <a:alpha val="39000"/>
              </a:srgbClr>
            </a:outerShdw>
          </a:effectLst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2" name="椭圆 61"/>
          <p:cNvSpPr/>
          <p:nvPr>
            <p:custDataLst>
              <p:tags r:id="rId11"/>
            </p:custDataLst>
          </p:nvPr>
        </p:nvSpPr>
        <p:spPr>
          <a:xfrm>
            <a:off x="1471735" y="5006517"/>
            <a:ext cx="927546" cy="219831"/>
          </a:xfrm>
          <a:prstGeom prst="ellipse">
            <a:avLst/>
          </a:prstGeom>
          <a:gradFill flip="none" rotWithShape="1">
            <a:gsLst>
              <a:gs pos="62000">
                <a:srgbClr val="376FFF">
                  <a:lumMod val="60000"/>
                  <a:lumOff val="4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3" name="椭圆 62"/>
          <p:cNvSpPr/>
          <p:nvPr>
            <p:custDataLst>
              <p:tags r:id="rId12"/>
            </p:custDataLst>
          </p:nvPr>
        </p:nvSpPr>
        <p:spPr>
          <a:xfrm>
            <a:off x="1471735" y="4926350"/>
            <a:ext cx="927546" cy="219831"/>
          </a:xfrm>
          <a:prstGeom prst="ellipse">
            <a:avLst/>
          </a:prstGeom>
          <a:gradFill flip="none" rotWithShape="1">
            <a:gsLst>
              <a:gs pos="38000">
                <a:srgbClr val="376FFF">
                  <a:lumMod val="40000"/>
                  <a:lumOff val="6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60000"/>
                </a:srgbClr>
              </a:gs>
            </a:gsLst>
            <a:lin ang="5400000" scaled="1"/>
            <a:tileRect/>
          </a:gradFill>
          <a:ln w="6350">
            <a:gradFill>
              <a:gsLst>
                <a:gs pos="14000">
                  <a:srgbClr val="376FFF">
                    <a:alpha val="0"/>
                  </a:srgbClr>
                </a:gs>
                <a:gs pos="100000">
                  <a:srgbClr val="376FFF"/>
                </a:gs>
              </a:gsLst>
              <a:lin ang="5400000" scaled="1"/>
            </a:gradFill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4" name="图片 63" descr="343439383331313b343532303032373bbfcdbba7b5b5b0b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793651" y="4688358"/>
            <a:ext cx="284339" cy="284339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14"/>
            </p:custDataLst>
          </p:nvPr>
        </p:nvSpPr>
        <p:spPr>
          <a:xfrm>
            <a:off x="643770" y="5689807"/>
            <a:ext cx="2584102" cy="7778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UART、Timer、PLIC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模块分别完成 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RTL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仿真与定向测试</a:t>
            </a:r>
          </a:p>
        </p:txBody>
      </p:sp>
      <p:sp>
        <p:nvSpPr>
          <p:cNvPr id="65" name="文本框 64"/>
          <p:cNvSpPr txBox="1"/>
          <p:nvPr>
            <p:custDataLst>
              <p:tags r:id="rId15"/>
            </p:custDataLst>
          </p:nvPr>
        </p:nvSpPr>
        <p:spPr>
          <a:xfrm>
            <a:off x="643770" y="5277077"/>
            <a:ext cx="2584102" cy="39206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lang="zh-CN" altLang="en-US" sz="2000" b="1">
                <a:solidFill>
                  <a:srgbClr val="376FFF"/>
                </a:solidFill>
              </a:rPr>
              <a:t>模块级验证</a:t>
            </a:r>
          </a:p>
        </p:txBody>
      </p:sp>
      <p:sp>
        <p:nvSpPr>
          <p:cNvPr id="66" name="椭圆 65"/>
          <p:cNvSpPr/>
          <p:nvPr>
            <p:custDataLst>
              <p:tags r:id="rId16"/>
            </p:custDataLst>
          </p:nvPr>
        </p:nvSpPr>
        <p:spPr>
          <a:xfrm>
            <a:off x="6049968" y="4148490"/>
            <a:ext cx="106470" cy="106470"/>
          </a:xfrm>
          <a:prstGeom prst="ellipse">
            <a:avLst/>
          </a:prstGeom>
          <a:gradFill flip="none" rotWithShape="1">
            <a:gsLst>
              <a:gs pos="0">
                <a:srgbClr val="376FFF">
                  <a:lumMod val="60000"/>
                  <a:lumOff val="40000"/>
                </a:srgbClr>
              </a:gs>
              <a:gs pos="79000">
                <a:srgbClr val="376F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>
            <a:solidFill>
              <a:srgbClr val="FFFFFF"/>
            </a:solidFill>
          </a:ln>
          <a:effectLst>
            <a:outerShdw blurRad="50800" dist="63500" dir="2700000" algn="tl" rotWithShape="0">
              <a:srgbClr val="376FFF">
                <a:alpha val="39000"/>
              </a:srgbClr>
            </a:outerShdw>
          </a:effectLst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7" name="椭圆 66"/>
          <p:cNvSpPr/>
          <p:nvPr>
            <p:custDataLst>
              <p:tags r:id="rId17"/>
            </p:custDataLst>
          </p:nvPr>
        </p:nvSpPr>
        <p:spPr>
          <a:xfrm>
            <a:off x="5639116" y="4718420"/>
            <a:ext cx="927546" cy="219831"/>
          </a:xfrm>
          <a:prstGeom prst="ellipse">
            <a:avLst/>
          </a:prstGeom>
          <a:gradFill flip="none" rotWithShape="1">
            <a:gsLst>
              <a:gs pos="62000">
                <a:srgbClr val="376FFF">
                  <a:lumMod val="60000"/>
                  <a:lumOff val="4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8" name="椭圆 67"/>
          <p:cNvSpPr/>
          <p:nvPr>
            <p:custDataLst>
              <p:tags r:id="rId18"/>
            </p:custDataLst>
          </p:nvPr>
        </p:nvSpPr>
        <p:spPr>
          <a:xfrm>
            <a:off x="5639116" y="4638254"/>
            <a:ext cx="927546" cy="219831"/>
          </a:xfrm>
          <a:prstGeom prst="ellipse">
            <a:avLst/>
          </a:prstGeom>
          <a:gradFill flip="none" rotWithShape="1">
            <a:gsLst>
              <a:gs pos="38000">
                <a:srgbClr val="376FFF">
                  <a:lumMod val="40000"/>
                  <a:lumOff val="6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60000"/>
                </a:srgbClr>
              </a:gs>
            </a:gsLst>
            <a:lin ang="5400000" scaled="1"/>
            <a:tileRect/>
          </a:gradFill>
          <a:ln w="6350">
            <a:gradFill>
              <a:gsLst>
                <a:gs pos="14000">
                  <a:srgbClr val="376FFF">
                    <a:alpha val="0"/>
                  </a:srgbClr>
                </a:gs>
                <a:gs pos="100000">
                  <a:srgbClr val="376FFF"/>
                </a:gs>
              </a:gsLst>
              <a:lin ang="5400000" scaled="1"/>
            </a:gradFill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72" name="图片 71" descr="343439383331313b343532303033363bd3aad2b5ccfcc5e4d6c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961033" y="4398383"/>
            <a:ext cx="284339" cy="284339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20"/>
            </p:custDataLst>
          </p:nvPr>
        </p:nvSpPr>
        <p:spPr>
          <a:xfrm>
            <a:off x="4811151" y="5433026"/>
            <a:ext cx="2584102" cy="7778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完成 RV32 指令、乘除法、异常、中断、冒险处理等回归测试。</a:t>
            </a:r>
          </a:p>
        </p:txBody>
      </p:sp>
      <p:sp>
        <p:nvSpPr>
          <p:cNvPr id="84" name="文本框 83"/>
          <p:cNvSpPr txBox="1"/>
          <p:nvPr>
            <p:custDataLst>
              <p:tags r:id="rId21"/>
            </p:custDataLst>
          </p:nvPr>
        </p:nvSpPr>
        <p:spPr>
          <a:xfrm>
            <a:off x="4811151" y="5020295"/>
            <a:ext cx="2584102" cy="39206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lang="en-US" altLang="zh-CN" sz="2000" b="1">
                <a:solidFill>
                  <a:srgbClr val="376FFF"/>
                </a:solidFill>
              </a:rPr>
              <a:t>CPU / SoC </a:t>
            </a:r>
            <a:r>
              <a:rPr lang="zh-CN" altLang="en-US" sz="2000" b="1">
                <a:solidFill>
                  <a:srgbClr val="376FFF"/>
                </a:solidFill>
              </a:rPr>
              <a:t>级验证</a:t>
            </a:r>
          </a:p>
        </p:txBody>
      </p:sp>
      <p:sp>
        <p:nvSpPr>
          <p:cNvPr id="70" name="椭圆 69"/>
          <p:cNvSpPr/>
          <p:nvPr>
            <p:custDataLst>
              <p:tags r:id="rId22"/>
            </p:custDataLst>
          </p:nvPr>
        </p:nvSpPr>
        <p:spPr>
          <a:xfrm>
            <a:off x="10216722" y="4392119"/>
            <a:ext cx="106470" cy="106470"/>
          </a:xfrm>
          <a:prstGeom prst="ellipse">
            <a:avLst/>
          </a:prstGeom>
          <a:gradFill flip="none" rotWithShape="1">
            <a:gsLst>
              <a:gs pos="0">
                <a:srgbClr val="376FFF">
                  <a:lumMod val="60000"/>
                  <a:lumOff val="40000"/>
                </a:srgbClr>
              </a:gs>
              <a:gs pos="79000">
                <a:srgbClr val="376FFF">
                  <a:lumMod val="7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>
            <a:solidFill>
              <a:srgbClr val="FFFFFF"/>
            </a:solidFill>
          </a:ln>
          <a:effectLst>
            <a:outerShdw blurRad="50800" dist="63500" dir="2700000" algn="tl" rotWithShape="0">
              <a:srgbClr val="376FFF">
                <a:alpha val="39000"/>
              </a:srgbClr>
            </a:outerShdw>
          </a:effectLst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1" name="椭圆 70"/>
          <p:cNvSpPr/>
          <p:nvPr>
            <p:custDataLst>
              <p:tags r:id="rId23"/>
            </p:custDataLst>
          </p:nvPr>
        </p:nvSpPr>
        <p:spPr>
          <a:xfrm>
            <a:off x="9805871" y="4962050"/>
            <a:ext cx="927546" cy="219831"/>
          </a:xfrm>
          <a:prstGeom prst="ellipse">
            <a:avLst/>
          </a:prstGeom>
          <a:gradFill flip="none" rotWithShape="1">
            <a:gsLst>
              <a:gs pos="62000">
                <a:srgbClr val="376FFF">
                  <a:lumMod val="60000"/>
                  <a:lumOff val="4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4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3" name="椭圆 72"/>
          <p:cNvSpPr/>
          <p:nvPr>
            <p:custDataLst>
              <p:tags r:id="rId24"/>
            </p:custDataLst>
          </p:nvPr>
        </p:nvSpPr>
        <p:spPr>
          <a:xfrm>
            <a:off x="9805871" y="4881884"/>
            <a:ext cx="927546" cy="219831"/>
          </a:xfrm>
          <a:prstGeom prst="ellipse">
            <a:avLst/>
          </a:prstGeom>
          <a:gradFill flip="none" rotWithShape="1">
            <a:gsLst>
              <a:gs pos="38000">
                <a:srgbClr val="376FFF">
                  <a:lumMod val="40000"/>
                  <a:lumOff val="60000"/>
                  <a:alpha val="0"/>
                </a:srgbClr>
              </a:gs>
              <a:gs pos="100000">
                <a:srgbClr val="376FFF">
                  <a:lumMod val="60000"/>
                  <a:lumOff val="40000"/>
                  <a:alpha val="60000"/>
                </a:srgbClr>
              </a:gs>
            </a:gsLst>
            <a:lin ang="5400000" scaled="1"/>
            <a:tileRect/>
          </a:gradFill>
          <a:ln w="6350">
            <a:gradFill>
              <a:gsLst>
                <a:gs pos="14000">
                  <a:srgbClr val="376FFF">
                    <a:alpha val="0"/>
                  </a:srgbClr>
                </a:gs>
                <a:gs pos="100000">
                  <a:srgbClr val="376FFF"/>
                </a:gs>
              </a:gsLst>
              <a:lin ang="5400000" scaled="1"/>
            </a:gradFill>
          </a:ln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80" name="图片 79" descr="343439383331313b343532303033323bd3a6d3c3b9dcc0ed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127788" y="4642011"/>
            <a:ext cx="284339" cy="284339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26"/>
            </p:custDataLst>
          </p:nvPr>
        </p:nvSpPr>
        <p:spPr>
          <a:xfrm>
            <a:off x="8977630" y="5686425"/>
            <a:ext cx="2583815" cy="11004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sym typeface="+mn-ea"/>
              </a:rPr>
              <a:t>裸机程序在 FPGA 上运行，通过串口、LED、数码管等方式观察运行结果。</a:t>
            </a:r>
          </a:p>
          <a:p>
            <a:pPr indent="0" algn="ctr" fontAlgn="auto">
              <a:lnSpc>
                <a:spcPct val="140000"/>
              </a:lnSpc>
            </a:pPr>
            <a:endParaRPr lang="zh-CN" altLang="en-US" sz="16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27"/>
            </p:custDataLst>
          </p:nvPr>
        </p:nvSpPr>
        <p:spPr>
          <a:xfrm>
            <a:off x="8977907" y="5273946"/>
            <a:ext cx="2584102" cy="39206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lang="en-US" altLang="zh-CN" sz="2000" b="1">
                <a:solidFill>
                  <a:srgbClr val="376FFF"/>
                </a:solidFill>
              </a:rPr>
              <a:t>FPGA </a:t>
            </a:r>
            <a:r>
              <a:rPr lang="zh-CN" altLang="en-US" sz="2000" b="1">
                <a:solidFill>
                  <a:srgbClr val="376FFF"/>
                </a:solidFill>
              </a:rPr>
              <a:t>板级验证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882775" y="1543685"/>
            <a:ext cx="865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验证路径：模块正确 → </a:t>
            </a:r>
            <a:r>
              <a:rPr lang="en-US" altLang="zh-CN"/>
              <a:t>CPU </a:t>
            </a:r>
            <a:r>
              <a:rPr lang="zh-CN" altLang="en-US"/>
              <a:t>正确 → 系统可运行 → 板级可观测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性能测评与分析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79450" y="1495425"/>
          <a:ext cx="4850130" cy="3422650"/>
        </p:xfrm>
        <a:graphic>
          <a:graphicData uri="http://schemas.openxmlformats.org/drawingml/2006/table">
            <a:tbl>
              <a:tblPr firstRow="1" bandRow="1">
                <a:tableStyleId>{6F8DE837-DDC9-44F1-85D3-C2C999259A59}</a:tableStyleId>
              </a:tblPr>
              <a:tblGrid>
                <a:gridCol w="253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5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5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/>
                        <a:t>负载类型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/>
                        <a:t>CPI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3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800" spc="130"/>
                        <a:t>ALU</a:t>
                      </a:r>
                      <a:r>
                        <a:rPr lang="zh-CN" altLang="en-US" sz="1800" spc="130"/>
                        <a:t>密集型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/>
                        <a:t>1.000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3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/>
                        <a:t>分支密集型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/>
                        <a:t>1.208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3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/>
                        <a:t>访存密集型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/>
                        <a:t>1.001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3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/>
                        <a:t>综合基准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/>
                        <a:t>1.046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79450" y="5153660"/>
            <a:ext cx="5014595" cy="39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/>
              <a:t>综合基准：1,092,219 </a:t>
            </a:r>
            <a:r>
              <a:rPr lang="en-US" altLang="zh-CN"/>
              <a:t>cycles / 1,043,906 instret</a:t>
            </a:r>
          </a:p>
        </p:txBody>
      </p:sp>
      <p:pic>
        <p:nvPicPr>
          <p:cNvPr id="5" name="图片 4" descr="coremark测试结果"/>
          <p:cNvPicPr>
            <a:picLocks noChangeAspect="1"/>
          </p:cNvPicPr>
          <p:nvPr/>
        </p:nvPicPr>
        <p:blipFill>
          <a:blip r:embed="rId7"/>
          <a:srcRect l="18509" t="7393" r="13913" b="30672"/>
          <a:stretch>
            <a:fillRect/>
          </a:stretch>
        </p:blipFill>
        <p:spPr>
          <a:xfrm>
            <a:off x="6365875" y="1495425"/>
            <a:ext cx="5191125" cy="28568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03645" y="4352290"/>
            <a:ext cx="5486400" cy="2111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60000"/>
              </a:lnSpc>
            </a:pPr>
            <a:r>
              <a:rPr lang="zh-CN" altLang="en-US" sz="1600"/>
              <a:t>测评基础已建立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通过</a:t>
            </a:r>
            <a:r>
              <a:rPr lang="zh-CN" altLang="en-US" sz="1600">
                <a:solidFill>
                  <a:schemeClr val="accent2"/>
                </a:solidFill>
              </a:rPr>
              <a:t> </a:t>
            </a:r>
            <a:r>
              <a:rPr lang="en-US" altLang="zh-CN" sz="1600">
                <a:solidFill>
                  <a:schemeClr val="accent2"/>
                </a:solidFill>
              </a:rPr>
              <a:t>CSR </a:t>
            </a:r>
            <a:r>
              <a:rPr lang="zh-CN" altLang="en-US" sz="1600"/>
              <a:t>性能计数器采集周期数、提交指令数、分支与停顿信息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基准覆盖 </a:t>
            </a:r>
            <a:r>
              <a:rPr lang="en-US" altLang="zh-CN" sz="1600"/>
              <a:t>ALU、</a:t>
            </a:r>
            <a:r>
              <a:rPr lang="zh-CN" altLang="en-US" sz="1600"/>
              <a:t>分支和访存三类典型负载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已完成</a:t>
            </a:r>
            <a:r>
              <a:rPr lang="zh-CN" altLang="en-US" sz="1600">
                <a:solidFill>
                  <a:schemeClr val="accent2"/>
                </a:solidFill>
              </a:rPr>
              <a:t> </a:t>
            </a:r>
            <a:r>
              <a:rPr lang="en-US" altLang="zh-CN" sz="1600">
                <a:solidFill>
                  <a:schemeClr val="accent2"/>
                </a:solidFill>
              </a:rPr>
              <a:t>CoreMark </a:t>
            </a:r>
            <a:r>
              <a:rPr lang="zh-CN" altLang="en-US" sz="1600"/>
              <a:t>裸机运行验证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下一步：接入官方工业程序与 </a:t>
            </a:r>
            <a:r>
              <a:rPr lang="en-US" altLang="zh-CN" sz="1600"/>
              <a:t>RT-Thread </a:t>
            </a:r>
            <a:r>
              <a:rPr lang="zh-CN" altLang="en-US" sz="1600"/>
              <a:t>测评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9450" y="5549265"/>
            <a:ext cx="48088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/>
              <a:t>上述 </a:t>
            </a:r>
            <a:r>
              <a:rPr lang="en-US" altLang="zh-CN">
                <a:solidFill>
                  <a:schemeClr val="accent2"/>
                </a:solidFill>
              </a:rPr>
              <a:t>CPI </a:t>
            </a:r>
            <a:r>
              <a:rPr lang="zh-CN" altLang="en-US"/>
              <a:t>为当前 </a:t>
            </a:r>
            <a:r>
              <a:rPr lang="en-US" altLang="zh-CN"/>
              <a:t>RTL </a:t>
            </a:r>
            <a:r>
              <a:rPr lang="zh-CN" altLang="en-US"/>
              <a:t>自建基准结果。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681605" y="2880000"/>
            <a:ext cx="682879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  <a:sym typeface="+mn-ea"/>
              </a:rPr>
              <a:t>创新点与应用价值</a:t>
            </a:r>
            <a:endParaRPr lang="zh-CN" altLang="en-US" sz="4400">
              <a:solidFill>
                <a:srgbClr val="142DA8"/>
              </a:solidFill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2200275" y="3779520"/>
            <a:ext cx="7791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扩展指令支持、异常中断闭环与可扩展 </a:t>
            </a:r>
            <a:r>
              <a:rPr lang="en-US" altLang="zh-CN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SoC </a:t>
            </a:r>
            <a:r>
              <a:rPr lang="zh-CN" altLang="en-US" sz="2800">
                <a:solidFill>
                  <a:srgbClr val="666666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平台</a:t>
            </a:r>
            <a:endParaRPr lang="zh-CN" altLang="en-US" sz="2800">
              <a:solidFill>
                <a:srgbClr val="666666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5646000" y="1799730"/>
            <a:ext cx="900000" cy="900000"/>
          </a:xfrm>
          <a:prstGeom prst="rect">
            <a:avLst/>
          </a:prstGeom>
          <a:solidFill>
            <a:srgbClr val="1718B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HarmonyOS Sans SC Black" panose="00000A00000000000000" charset="-122"/>
                <a:ea typeface="HarmonyOS Sans SC Black" panose="00000A00000000000000" charset="-122"/>
              </a:rPr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445000" y="720090"/>
            <a:ext cx="3302000" cy="539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pPr algn="ctr">
              <a:buClrTx/>
              <a:buSzTx/>
              <a:buFontTx/>
            </a:pPr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  <a:sym typeface="+mn-ea"/>
              </a:rPr>
              <a:t>创新点与应用价值</a:t>
            </a:r>
            <a:endParaRPr lang="zh-CN" altLang="en-US">
              <a:latin typeface="HarmonyOS Sans SC Black" panose="00000A00000000000000" charset="-122"/>
              <a:ea typeface="HarmonyOS Sans SC Black" panose="00000A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任意多边形: 形状 63"/>
          <p:cNvSpPr/>
          <p:nvPr>
            <p:custDataLst>
              <p:tags r:id="rId2"/>
            </p:custDataLst>
          </p:nvPr>
        </p:nvSpPr>
        <p:spPr>
          <a:xfrm>
            <a:off x="1080000" y="198000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5" name="椭圆 13"/>
          <p:cNvSpPr/>
          <p:nvPr>
            <p:custDataLst>
              <p:tags r:id="rId3"/>
            </p:custDataLst>
          </p:nvPr>
        </p:nvSpPr>
        <p:spPr>
          <a:xfrm>
            <a:off x="1440000" y="223200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66" name="文本框 14"/>
          <p:cNvSpPr txBox="1"/>
          <p:nvPr>
            <p:custDataLst>
              <p:tags r:id="rId4"/>
            </p:custDataLst>
          </p:nvPr>
        </p:nvSpPr>
        <p:spPr>
          <a:xfrm>
            <a:off x="1800000" y="2160000"/>
            <a:ext cx="2139632" cy="3987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buClrTx/>
              <a:buSzTx/>
              <a:buFontTx/>
            </a:pPr>
            <a:r>
              <a:rPr lang="zh-CN" sz="2000" b="1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扩展指令支持</a:t>
            </a:r>
            <a:endParaRPr lang="zh-CN" sz="2000" b="1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467" name="文本框 15"/>
          <p:cNvSpPr txBox="1"/>
          <p:nvPr>
            <p:custDataLst>
              <p:tags r:id="rId5"/>
            </p:custDataLst>
          </p:nvPr>
        </p:nvSpPr>
        <p:spPr>
          <a:xfrm>
            <a:off x="1620000" y="2559030"/>
            <a:ext cx="3530675" cy="12528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支持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 RV32M 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与部分 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Z 扩展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，具备现场新增指令的译码、执行和写回基础。</a:t>
            </a:r>
            <a:endParaRPr lang="zh-CN" sz="1800" spc="0">
              <a:solidFill>
                <a:srgbClr val="404040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2" name="任意多边形: 形状 63"/>
          <p:cNvSpPr/>
          <p:nvPr>
            <p:custDataLst>
              <p:tags r:id="rId6"/>
            </p:custDataLst>
          </p:nvPr>
        </p:nvSpPr>
        <p:spPr>
          <a:xfrm>
            <a:off x="6556240" y="198000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4" name="椭圆 13"/>
          <p:cNvSpPr/>
          <p:nvPr>
            <p:custDataLst>
              <p:tags r:id="rId7"/>
            </p:custDataLst>
          </p:nvPr>
        </p:nvSpPr>
        <p:spPr>
          <a:xfrm>
            <a:off x="6916240" y="223200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5" name="文本框 14"/>
          <p:cNvSpPr txBox="1"/>
          <p:nvPr>
            <p:custDataLst>
              <p:tags r:id="rId8"/>
            </p:custDataLst>
          </p:nvPr>
        </p:nvSpPr>
        <p:spPr>
          <a:xfrm>
            <a:off x="7276240" y="2160000"/>
            <a:ext cx="2139632" cy="3987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buClrTx/>
              <a:buSzTx/>
              <a:buFontTx/>
            </a:pPr>
            <a:r>
              <a:rPr lang="zh-CN" sz="2000" b="1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异常中断闭环</a:t>
            </a:r>
            <a:endParaRPr lang="zh-CN" sz="2000" b="1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6" name="文本框 15"/>
          <p:cNvSpPr txBox="1"/>
          <p:nvPr>
            <p:custDataLst>
              <p:tags r:id="rId9"/>
            </p:custDataLst>
          </p:nvPr>
        </p:nvSpPr>
        <p:spPr>
          <a:xfrm>
            <a:off x="7096240" y="2559030"/>
            <a:ext cx="3530675" cy="12528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打通 CSR、Trap、PLIC、ISR 和 mret 流程，实现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异常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保存、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中断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响应和程序恢复。</a:t>
            </a:r>
            <a:endParaRPr lang="zh-CN" sz="1800" spc="0">
              <a:solidFill>
                <a:srgbClr val="404040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7" name="任意多边形: 形状 63"/>
          <p:cNvSpPr/>
          <p:nvPr>
            <p:custDataLst>
              <p:tags r:id="rId10"/>
            </p:custDataLst>
          </p:nvPr>
        </p:nvSpPr>
        <p:spPr>
          <a:xfrm>
            <a:off x="1080000" y="406534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8" name="椭圆 13"/>
          <p:cNvSpPr/>
          <p:nvPr>
            <p:custDataLst>
              <p:tags r:id="rId11"/>
            </p:custDataLst>
          </p:nvPr>
        </p:nvSpPr>
        <p:spPr>
          <a:xfrm>
            <a:off x="1440000" y="431734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9" name="文本框 14"/>
          <p:cNvSpPr txBox="1"/>
          <p:nvPr>
            <p:custDataLst>
              <p:tags r:id="rId12"/>
            </p:custDataLst>
          </p:nvPr>
        </p:nvSpPr>
        <p:spPr>
          <a:xfrm>
            <a:off x="1800000" y="4245340"/>
            <a:ext cx="2139632" cy="3987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r>
              <a:rPr lang="zh-CN" altLang="en-US">
                <a:sym typeface="+mn-ea"/>
              </a:rPr>
              <a:t> </a:t>
            </a:r>
            <a:r>
              <a:rPr lang="zh-CN" sz="2000" b="1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可扩展 SoC 平台</a:t>
            </a:r>
            <a:endParaRPr lang="zh-CN" sz="2000" b="1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1" name="文本框 15"/>
          <p:cNvSpPr txBox="1"/>
          <p:nvPr>
            <p:custDataLst>
              <p:tags r:id="rId13"/>
            </p:custDataLst>
          </p:nvPr>
        </p:nvSpPr>
        <p:spPr>
          <a:xfrm>
            <a:off x="1620000" y="4644370"/>
            <a:ext cx="3530675" cy="12528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适配官方存储与外设地址空间，接入 UART、Timer、LED、PLIC，可在 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FPGA 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平台运行验证。</a:t>
            </a:r>
            <a:endParaRPr lang="zh-CN" sz="1800" spc="0">
              <a:solidFill>
                <a:srgbClr val="404040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2" name="任意多边形: 形状 63"/>
          <p:cNvSpPr/>
          <p:nvPr>
            <p:custDataLst>
              <p:tags r:id="rId14"/>
            </p:custDataLst>
          </p:nvPr>
        </p:nvSpPr>
        <p:spPr>
          <a:xfrm>
            <a:off x="6556240" y="4065340"/>
            <a:ext cx="4627281" cy="1788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196"/>
                  <a:pt x="21600" y="2672"/>
                </a:cubicBezTo>
                <a:lnTo>
                  <a:pt x="21600" y="16447"/>
                </a:lnTo>
                <a:lnTo>
                  <a:pt x="21597" y="16535"/>
                </a:lnTo>
                <a:lnTo>
                  <a:pt x="21600" y="16524"/>
                </a:lnTo>
                <a:lnTo>
                  <a:pt x="21600" y="16720"/>
                </a:lnTo>
                <a:cubicBezTo>
                  <a:pt x="21600" y="19415"/>
                  <a:pt x="20756" y="21600"/>
                  <a:pt x="19714" y="21600"/>
                </a:cubicBezTo>
                <a:lnTo>
                  <a:pt x="1167" y="21600"/>
                </a:lnTo>
                <a:cubicBezTo>
                  <a:pt x="522" y="21600"/>
                  <a:pt x="0" y="20248"/>
                  <a:pt x="0" y="18581"/>
                </a:cubicBezTo>
                <a:lnTo>
                  <a:pt x="0" y="2672"/>
                </a:lnTo>
                <a:cubicBezTo>
                  <a:pt x="0" y="1196"/>
                  <a:pt x="462" y="0"/>
                  <a:pt x="10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406400" dist="63500" dir="5400000" rotWithShape="0">
              <a:srgbClr val="3B5463">
                <a:alpha val="20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3" name="椭圆 13"/>
          <p:cNvSpPr/>
          <p:nvPr>
            <p:custDataLst>
              <p:tags r:id="rId15"/>
            </p:custDataLst>
          </p:nvPr>
        </p:nvSpPr>
        <p:spPr>
          <a:xfrm>
            <a:off x="6916240" y="4317340"/>
            <a:ext cx="201379" cy="201379"/>
          </a:xfrm>
          <a:prstGeom prst="ellipse">
            <a:avLst/>
          </a:prstGeom>
          <a:gradFill>
            <a:gsLst>
              <a:gs pos="0">
                <a:srgbClr val="004CE5"/>
              </a:gs>
              <a:gs pos="64631">
                <a:srgbClr val="87A9EE"/>
              </a:gs>
              <a:gs pos="99362">
                <a:srgbClr val="E3EFF8"/>
              </a:gs>
            </a:gsLst>
            <a:lin ang="2700000"/>
          </a:gradFill>
          <a:ln w="12700">
            <a:miter lim="400000"/>
          </a:ln>
          <a:effectLst>
            <a:outerShdw blurRad="190500" dist="38100" dir="2700000" rotWithShape="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pPr>
            <a:endParaRPr/>
          </a:p>
        </p:txBody>
      </p:sp>
      <p:sp>
        <p:nvSpPr>
          <p:cNvPr id="14" name="文本框 14"/>
          <p:cNvSpPr txBox="1"/>
          <p:nvPr>
            <p:custDataLst>
              <p:tags r:id="rId16"/>
            </p:custDataLst>
          </p:nvPr>
        </p:nvSpPr>
        <p:spPr>
          <a:xfrm>
            <a:off x="7276240" y="4245340"/>
            <a:ext cx="2139632" cy="3987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buClrTx/>
              <a:buSzTx/>
              <a:buFontTx/>
            </a:pPr>
            <a:r>
              <a:rPr lang="zh-CN" sz="2000" b="1"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后续扩展价值</a:t>
            </a:r>
            <a:endParaRPr lang="zh-CN" sz="2000" b="1"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15" name="文本框 15"/>
          <p:cNvSpPr txBox="1"/>
          <p:nvPr>
            <p:custDataLst>
              <p:tags r:id="rId17"/>
            </p:custDataLst>
          </p:nvPr>
        </p:nvSpPr>
        <p:spPr>
          <a:xfrm>
            <a:off x="7096240" y="4644370"/>
            <a:ext cx="3530675" cy="12528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sz="1000" spc="100">
                <a:solidFill>
                  <a:srgbClr val="808080"/>
                </a:solidFill>
                <a:latin typeface="AlibabaPuHuiTi_2_65_Medium"/>
                <a:ea typeface="AlibabaPuHuiTi_2_65_Medium"/>
                <a:cs typeface="AlibabaPuHuiTi_2_65_Medium"/>
                <a:sym typeface="AlibabaPuHuiTi_2_65_Medium"/>
              </a:defRPr>
            </a:lvl1pPr>
          </a:lstStyle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结构覆盖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五级流水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、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冒险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控制、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CSR/Trap 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与</a:t>
            </a:r>
            <a:r>
              <a:rPr lang="zh-CN" sz="1800" spc="0">
                <a:solidFill>
                  <a:schemeClr val="accent2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外设</a:t>
            </a:r>
            <a:r>
              <a:rPr lang="zh-CN" sz="1800" spc="0">
                <a:solidFill>
                  <a:srgbClr val="404040"/>
                </a:solidFill>
                <a:latin typeface="HarmonyOS Sans SC" panose="00000500000000000000" charset="-122"/>
                <a:ea typeface="HarmonyOS Sans SC" panose="00000500000000000000" charset="-122"/>
                <a:sym typeface="+mn-ea"/>
              </a:rPr>
              <a:t>系统，便于后续 Cache、双发射、性能优化。</a:t>
            </a:r>
            <a:endParaRPr lang="zh-CN" sz="1800" spc="0">
              <a:solidFill>
                <a:srgbClr val="404040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内容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图片 2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0"/>
            <a:ext cx="2016000" cy="1260000"/>
          </a:xfrm>
          <a:prstGeom prst="rect">
            <a:avLst/>
          </a:prstGeom>
        </p:spPr>
      </p:pic>
      <p:sp>
        <p:nvSpPr>
          <p:cNvPr id="10" name="组合 33"/>
          <p:cNvSpPr/>
          <p:nvPr/>
        </p:nvSpPr>
        <p:spPr>
          <a:xfrm>
            <a:off x="4836000" y="720000"/>
            <a:ext cx="2520000" cy="54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>
              <a:lnSpc>
                <a:spcPct val="120000"/>
              </a:lnSpc>
              <a:defRPr sz="2800" b="1">
                <a:solidFill>
                  <a:srgbClr val="404040"/>
                </a:solidFill>
                <a:latin typeface="AlibabaPuHuiTi_2_75_SemiBold"/>
                <a:ea typeface="AlibabaPuHuiTi_2_75_SemiBold"/>
                <a:cs typeface="AlibabaPuHuiTi_2_75_SemiBold"/>
                <a:sym typeface="AlibabaPuHuiTi_2_75_SemiBold"/>
              </a:defRPr>
            </a:lvl1pPr>
          </a:lstStyle>
          <a:p>
            <a:r>
              <a:rPr lang="zh-CN" altLang="en-US">
                <a:latin typeface="HarmonyOS Sans SC Black" panose="00000A00000000000000" charset="-122"/>
                <a:ea typeface="HarmonyOS Sans SC Black" panose="00000A00000000000000" charset="-122"/>
              </a:rPr>
              <a:t>总结与后续计划</a:t>
            </a:r>
          </a:p>
        </p:txBody>
      </p:sp>
      <p:sp>
        <p:nvSpPr>
          <p:cNvPr id="35" name="矩形 34"/>
          <p:cNvSpPr/>
          <p:nvPr/>
        </p:nvSpPr>
        <p:spPr>
          <a:xfrm>
            <a:off x="5826000" y="1368000"/>
            <a:ext cx="540000" cy="72000"/>
          </a:xfrm>
          <a:prstGeom prst="rect">
            <a:avLst/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1630680" y="1548350"/>
          <a:ext cx="8930640" cy="3543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5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已完成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下一步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五级流水 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RV32 CPU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裸核及关键控制机制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持续优化</a:t>
                      </a:r>
                      <a:r>
                        <a:rPr lang="zh-CN" altLang="en-US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访存路径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zh-CN" altLang="en-US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分支预测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与</a:t>
                      </a:r>
                      <a:r>
                        <a:rPr lang="zh-CN" altLang="en-US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流水线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性能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自建 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SoC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与 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FPGA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本地运行、串口调试环境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完成 </a:t>
                      </a:r>
                      <a:r>
                        <a:rPr lang="en-US" altLang="zh-CN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RT-Thread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移植与性能验证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模块级、系统级、板级的</a:t>
                      </a:r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分层验证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闭环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探索 </a:t>
                      </a:r>
                      <a:r>
                        <a:rPr lang="en-US" altLang="zh-CN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Cache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6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AXI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等进阶能力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性能计数器、分类基准与 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CoreMark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测评基础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16000" y="5031105"/>
            <a:ext cx="101606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/>
              <a:t>从 </a:t>
            </a:r>
            <a:r>
              <a:rPr lang="en-US" altLang="zh-CN" sz="2800"/>
              <a:t>CPU </a:t>
            </a:r>
            <a:r>
              <a:rPr lang="zh-CN" altLang="en-US" sz="2800"/>
              <a:t>裸核设计到 </a:t>
            </a:r>
            <a:r>
              <a:rPr lang="en-US" altLang="zh-CN" sz="2800"/>
              <a:t>FPGA </a:t>
            </a:r>
            <a:r>
              <a:rPr lang="zh-CN" altLang="en-US" sz="2800"/>
              <a:t>系统验证，构建面向工业应用测评的可扩展 </a:t>
            </a:r>
            <a:r>
              <a:rPr lang="en-US" altLang="zh-CN" sz="2800"/>
              <a:t>RISC-V </a:t>
            </a:r>
            <a:r>
              <a:rPr lang="zh-CN" altLang="en-US" sz="2800"/>
              <a:t>处理器原型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206" y="180000"/>
            <a:ext cx="3743588" cy="234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8935" y="2725420"/>
            <a:ext cx="89147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感谢各位专家老师的聆听</a:t>
            </a:r>
          </a:p>
          <a:p>
            <a:pPr algn="ctr"/>
            <a:r>
              <a:rPr lang="zh-CN" altLang="en-US" sz="6000">
                <a:solidFill>
                  <a:srgbClr val="142DA8"/>
                </a:solidFill>
                <a:latin typeface="HarmonyOS Sans SC Black" panose="00000A00000000000000" charset="-122"/>
                <a:ea typeface="HarmonyOS Sans SC Black" panose="00000A00000000000000" charset="-122"/>
              </a:rPr>
              <a:t>欢迎提问与指导！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63352],&quot;19&quot;:[50073189],&quot;29&quot;:[50049416,50000268,50000088,50000042,50000061,50052445],&quot;65&quot;:[20205081],&quot;70&quot;:[3312417,3322133,3333431,3321782,3321478,3321502,3313593,3323888,3326331,342977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3677165354331,&quot;left&quot;:157.7,&quot;top&quot;:127.38228346456692,&quot;width&quot;:472.9917697544237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417,3322133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3163_1*n_h_h_f*1_2_1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UNIT_ISCONTENTSTITLE" val="0"/>
  <p:tag name="KSO_WM_UNIT_ISNUMDGMTITLE" val="0"/>
  <p:tag name="KSO_WM_UNIT_NOCLEAR" val="0"/>
  <p:tag name="KSO_WM_UNIT_TYPE" val="n_h_h_a"/>
  <p:tag name="KSO_WM_UNIT_INDEX" val="1_2_2_1"/>
  <p:tag name="KSO_WM_UNIT_ID" val="diagram20233163_1*n_h_h_a*1_2_2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3163_1*n_h_h_f*1_2_2_1"/>
  <p:tag name="KSO_WM_TEMPLATE_CATEGORY" val="diagram"/>
  <p:tag name="KSO_WM_TEMPLATE_INDEX" val="20233163"/>
  <p:tag name="KSO_WM_UNIT_LAYERLEVEL" val="1_1_1_1"/>
  <p:tag name="KSO_WM_TAG_VERSION" val="3.0"/>
  <p:tag name="KSO_WM_UNIT_VALUE" val="5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UNIT_ISCONTENTSTITLE" val="0"/>
  <p:tag name="KSO_WM_UNIT_ISNUMDGMTITLE" val="0"/>
  <p:tag name="KSO_WM_UNIT_NOCLEAR" val="0"/>
  <p:tag name="KSO_WM_UNIT_TYPE" val="n_h_h_a"/>
  <p:tag name="KSO_WM_UNIT_INDEX" val="1_2_3_1"/>
  <p:tag name="KSO_WM_UNIT_ID" val="diagram20233163_1*n_h_h_a*1_2_3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3163_1*n_h_h_f*1_2_3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UNIT_ISCONTENTSTITLE" val="0"/>
  <p:tag name="KSO_WM_UNIT_ISNUMDGMTITLE" val="0"/>
  <p:tag name="KSO_WM_UNIT_NOCLEAR" val="0"/>
  <p:tag name="KSO_WM_UNIT_TYPE" val="n_h_h_a"/>
  <p:tag name="KSO_WM_UNIT_INDEX" val="1_2_4_1"/>
  <p:tag name="KSO_WM_UNIT_ID" val="diagram20233163_1*n_h_h_a*1_2_4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3163_1*n_h_h_f*1_2_4_1"/>
  <p:tag name="KSO_WM_TEMPLATE_CATEGORY" val="diagram"/>
  <p:tag name="KSO_WM_TEMPLATE_INDEX" val="20233163"/>
  <p:tag name="KSO_WM_UNIT_LAYERLEVEL" val="1_1_1_1"/>
  <p:tag name="KSO_WM_TAG_VERSION" val="3.0"/>
  <p:tag name="KSO_WM_BEAUTIFY_FLAG" val="#wm#"/>
  <p:tag name="KSO_WM_UNIT_VALUE" val="36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文本具体内容，简明扼要地阐述观点。可酌情增减文字，以便观者准确地理解您传达的思想。添加文本具体内容，简明扼要地阐述观点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3163_1*n_h_i*1_2_2"/>
  <p:tag name="KSO_WM_TEMPLATE_CATEGORY" val="diagram"/>
  <p:tag name="KSO_WM_TEMPLATE_INDEX" val="20233163"/>
  <p:tag name="KSO_WM_UNIT_LAYERLEVEL" val="1_1_1"/>
  <p:tag name="KSO_WM_TAG_VERSION" val="3.0"/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51"/>
  <p:tag name="KSO_WM_UNIT_LINE_FORE_SCHEMECOLOR_INDEX_2_TRANS" val="1"/>
  <p:tag name="KSO_WM_UNIT_LINE_GRADIENT_TYPE" val="0"/>
  <p:tag name="KSO_WM_UNIT_LINE_GRADIENT_ANGLE" val="180"/>
  <p:tag name="KSO_WM_UNIT_LINE_GRADIENT_DIRECTION" val="4"/>
  <p:tag name="KSO_WM_UNIT_LINE_FILL_TYPE" val="5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0.6000000238418579},{&quot;brightness&quot;:0,&quot;colorType&quot;:1,&quot;foreColorIndex&quot;:5,&quot;pos&quot;:0.5099999904632568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3163_1*n_h_h_i*1_2_4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3163_1*n_h_h_i*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3163_1*n_h_i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.9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.9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2"/>
  <p:tag name="KSO_WM_UNIT_ID" val="diagram20233163_1*n_h_a*1_1_2"/>
  <p:tag name="KSO_WM_TEMPLATE_CATEGORY" val="diagram"/>
  <p:tag name="KSO_WM_TEMPLATE_INDEX" val="20233163"/>
  <p:tag name="KSO_WM_UNIT_LAYERLEVEL" val="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8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40"/>
  <p:tag name="KSO_WM_UNIT_TEXT_TYPE" val="1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3163_1*n_h_h_i*1_2_3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3163_1*n_h_h_i*1_2_2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14355469,&quot;left&quot;:48.4390869140625,&quot;top&quot;:134.60838928222657,&quot;width&quot;:863.1285508812131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33431]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1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3*l_h_f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3*l_h_i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3*l_h_f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3*l_h_i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3*l_h_f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3*l_h_i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51_3*l_h_f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5151_3*l_h_i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220.25003631832087,&quot;left&quot;:219.52496062992128,&quot;top&quot;:217.5250030517578,&quot;width&quot;:506.8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33431]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53160],&quot;65&quot;:[20205081],&quot;70&quot;:[3333431]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5*406"/>
  <p:tag name="TABLE_ENDDRAG_RECT" val="607*99*325*40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21782,3321502]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21782,3321502]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4,&quot;left&quot;:280,&quot;top&quot;:216.45,&quot;width&quot;:617.5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4,&quot;left&quot;:280,&quot;top&quot;:216.45,&quot;width&quot;:617.5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4,&quot;left&quot;:280,&quot;top&quot;:216.45,&quot;width&quot;:617.5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4,&quot;left&quot;:280,&quot;top&quot;:216.45,&quot;width&quot;:617.5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3352],&quot;65&quot;:[20205081],&quot;70&quot;:[3321478]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1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]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1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1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1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]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1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1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1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1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177.35003326656323,&quot;left&quot;:42.62501220703125,&quot;top&quot;:346.9750061035156,&quot;width&quot;:452.15002716304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21502]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3593,3323888,3326331,3429773]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d*1_3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ICTURE_SUBTYPE" val="b"/>
  <p:tag name="KSO_WM_UNIT_VALUE" val="771*1114"/>
  <p:tag name="KSO_WM_DIAGRAM_GROUP_CODE" val="l1-1"/>
  <p:tag name="KSO_WM_UNIT_TYPE" val="l_h_d"/>
  <p:tag name="KSO_WM_UNIT_INDEX" val="1_3_1"/>
  <p:tag name="KSO_WM_DIAGRAM_VIRTUALLY_FRAME" val="{&quot;height&quot;:567.3,&quot;left&quot;:6.1,&quot;top&quot;:-27.3,&quot;width&quot;:947.8083464566929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d*1_2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ICTURE_SUBTYPE" val="b"/>
  <p:tag name="KSO_WM_UNIT_VALUE" val="592*1127"/>
  <p:tag name="KSO_WM_DIAGRAM_GROUP_CODE" val="l1-1"/>
  <p:tag name="KSO_WM_UNIT_TYPE" val="l_h_d"/>
  <p:tag name="KSO_WM_UNIT_INDEX" val="1_2_1"/>
  <p:tag name="KSO_WM_DIAGRAM_VIRTUALLY_FRAME" val="{&quot;height&quot;:567.3,&quot;left&quot;:6.1,&quot;top&quot;:-27.3,&quot;width&quot;:947.8083464566929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d*1_1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ICTURE_SUBTYPE" val="b"/>
  <p:tag name="KSO_WM_UNIT_VALUE" val="771*1114"/>
  <p:tag name="KSO_WM_DIAGRAM_GROUP_CODE" val="l1-1"/>
  <p:tag name="KSO_WM_UNIT_TYPE" val="l_h_d"/>
  <p:tag name="KSO_WM_UNIT_INDEX" val="1_1_1"/>
  <p:tag name="KSO_WM_DIAGRAM_VIRTUALLY_FRAME" val="{&quot;height&quot;:567.3,&quot;left&quot;:6.1,&quot;top&quot;:-27.3,&quot;width&quot;:947.8083464566929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i*1_1"/>
  <p:tag name="KSO_WM_TEMPLATE_CATEGORY" val="diagram"/>
  <p:tag name="KSO_WM_TEMPLATE_INDEX" val="4049303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1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6000000238418579,&quot;colorType&quot;:1,&quot;foreColorIndex&quot;:5,&quot;pos&quot;:0,&quot;transparency&quot;:0.800000011920929},{&quot;brightness&quot;:0.4000000059604645,&quot;colorType&quot;:1,&quot;foreColorIndex&quot;:5,&quot;pos&quot;:0.38999998569488525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i*1_2"/>
  <p:tag name="KSO_WM_TEMPLATE_CATEGORY" val="diagram"/>
  <p:tag name="KSO_WM_TEMPLATE_INDEX" val="4049303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2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01281999982893467,&quot;transparency&quot;:0},{&quot;brightness&quot;:0.6000000238418579,&quot;colorType&quot;:1,&quot;foreColorIndex&quot;:5,&quot;pos&quot;:0.28999999165534973,&quot;transparency&quot;:0},{&quot;brightness&quot;:0.800000011920929,&quot;colorType&quot;:1,&quot;foreColorIndex&quot;:5,&quot;pos&quot;:0.730000019073486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i*1_3"/>
  <p:tag name="KSO_WM_TEMPLATE_CATEGORY" val="diagram"/>
  <p:tag name="KSO_WM_TEMPLATE_INDEX" val="40493031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i"/>
  <p:tag name="KSO_WM_UNIT_INDEX" val="1_3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01281999982893467,&quot;transparency&quot;:0},{&quot;brightness&quot;:0.6000000238418579,&quot;colorType&quot;:1,&quot;foreColorIndex&quot;:5,&quot;pos&quot;:0.28999999165534973,&quot;transparency&quot;:0},{&quot;brightness&quot;:0.800000011920929,&quot;colorType&quot;:1,&quot;foreColorIndex&quot;:5,&quot;pos&quot;:0.7300000190734863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2_4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4"/>
  <p:tag name="KSO_WM_DIAGRAM_VIRTUALLY_FRAME" val="{&quot;height&quot;:567.3,&quot;left&quot;:6.1,&quot;top&quot;:-27.3,&quot;width&quot;:947.8083464566929}"/>
  <p:tag name="KSO_WM_UNIT_LINE_FORE_SCHEMECOLOR_INDEX" val="-2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5,&quot;transparency&quot;:0.6399999856948853},{&quot;brightness&quot;:0.4000000059604645,&quot;colorType&quot;:1,&quot;foreColorIndex&quot;:5,&quot;pos&quot;:0.990000009536743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3_4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4"/>
  <p:tag name="KSO_WM_DIAGRAM_VIRTUALLY_FRAME" val="{&quot;height&quot;:567.3,&quot;left&quot;:6.1,&quot;top&quot;:-27.3,&quot;width&quot;:947.8083464566929}"/>
  <p:tag name="KSO_WM_UNIT_LINE_FORE_SCHEMECOLOR_INDEX" val="-2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,&quot;transparency&quot;:1},{&quot;brightness&quot;:0.4000000059604645,&quot;colorType&quot;:1,&quot;foreColorIndex&quot;:5,&quot;pos&quot;:0.5,&quot;transparency&quot;:0.6399999856948853},{&quot;brightness&quot;:0.4000000059604645,&quot;colorType&quot;:1,&quot;foreColorIndex&quot;:5,&quot;pos&quot;:0.990000009536743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1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VIRTUALLY_FRAME" val="{&quot;height&quot;:567.3,&quot;left&quot;:6.1,&quot;top&quot;:-27.3,&quot;width&quot;:947.8083464566929}"/>
  <p:tag name="KSO_WM_UNIT_FILL_TYPE" val="3"/>
  <p:tag name="KSO_WM_UNIT_LINE_FORE_SCHEMECOLOR_INDEX" val="14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-0.25,&quot;colorType&quot;:1,&quot;foreColorIndex&quot;:5,&quot;pos&quot;:0.790000021457672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610000014305114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1_2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2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.6200000047683716,&quot;transparency&quot;:1},{&quot;brightness&quot;:0.4000000059604645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1_3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3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6000000238418579,&quot;colorType&quot;:1,&quot;foreColorIndex&quot;:5,&quot;pos&quot;:0.3799999952316284,&quot;transparency&quot;:1},{&quot;brightness&quot;:0.4000000059604645,&quot;colorType&quot;:1,&quot;foreColorIndex&quot;:5,&quot;pos&quot;:1,&quot;transparency&quot;:0.4000000059604645}],&quot;type&quot;:3},&quot;glow&quot;:{&quot;colorType&quot;:0},&quot;line&quot;:{&quot;gradient&quot;:[{&quot;brightness&quot;:0,&quot;colorType&quot;:1,&quot;foreColorIndex&quot;:5,&quot;pos&quot;:0.14000000059604645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x*1_1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0*80"/>
  <p:tag name="KSO_WM_DIAGRAM_GROUP_CODE" val="l1-1"/>
  <p:tag name="KSO_WM_UNIT_TYPE" val="l_h_x"/>
  <p:tag name="KSO_WM_UNIT_INDEX" val="1_1_1"/>
  <p:tag name="KSO_WM_DIAGRAM_VIRTUALLY_FRAME" val="{&quot;height&quot;:567.3,&quot;left&quot;:6.1,&quot;top&quot;:-27.3,&quot;width&quot;:947.8083464566929}"/>
  <p:tag name="KSO_WM_UNIT_FILL_TYPE" val="3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,&quot;transparency&quot;:0.4000000059604645},{&quot;brightness&quot;:0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f*1_1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文本，简明扼要地阐述您的观点"/>
  <p:tag name="KSO_WM_UNIT_TEXT_TYPE" val="1"/>
  <p:tag name="KSO_WM_DIAGRAM_VIRTUALLY_FRAME" val="{&quot;height&quot;:567.3,&quot;left&quot;:6.1,&quot;top&quot;:-27.3,&quot;width&quot;:947.8083464566929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a*1_1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TYPE" val="1"/>
  <p:tag name="KSO_WM_DIAGRAM_VIRTUALLY_FRAME" val="{&quot;height&quot;:567.3,&quot;left&quot;:6.1,&quot;top&quot;:-27.3,&quot;width&quot;:947.8083464566929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2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VIRTUALLY_FRAME" val="{&quot;height&quot;:567.3,&quot;left&quot;:6.1,&quot;top&quot;:-27.3,&quot;width&quot;:947.8083464566929}"/>
  <p:tag name="KSO_WM_UNIT_FILL_TYPE" val="3"/>
  <p:tag name="KSO_WM_UNIT_LINE_FORE_SCHEMECOLOR_INDEX" val="14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-0.25,&quot;colorType&quot;:1,&quot;foreColorIndex&quot;:5,&quot;pos&quot;:0.790000021457672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610000014305114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2_2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2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.6200000047683716,&quot;transparency&quot;:1},{&quot;brightness&quot;:0.4000000059604645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2_3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3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6000000238418579,&quot;colorType&quot;:1,&quot;foreColorIndex&quot;:5,&quot;pos&quot;:0.3799999952316284,&quot;transparency&quot;:1},{&quot;brightness&quot;:0.4000000059604645,&quot;colorType&quot;:1,&quot;foreColorIndex&quot;:5,&quot;pos&quot;:1,&quot;transparency&quot;:0.4000000059604645}],&quot;type&quot;:3},&quot;glow&quot;:{&quot;colorType&quot;:0},&quot;line&quot;:{&quot;gradient&quot;:[{&quot;brightness&quot;:0,&quot;colorType&quot;:1,&quot;foreColorIndex&quot;:5,&quot;pos&quot;:0.14000000059604645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x*1_2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0*80"/>
  <p:tag name="KSO_WM_DIAGRAM_GROUP_CODE" val="l1-1"/>
  <p:tag name="KSO_WM_UNIT_TYPE" val="l_h_x"/>
  <p:tag name="KSO_WM_UNIT_INDEX" val="1_2_1"/>
  <p:tag name="KSO_WM_DIAGRAM_VIRTUALLY_FRAME" val="{&quot;height&quot;:567.3,&quot;left&quot;:6.1,&quot;top&quot;:-27.3,&quot;width&quot;:947.8083464566929}"/>
  <p:tag name="KSO_WM_UNIT_FILL_TYPE" val="3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,&quot;transparency&quot;:0.4000000059604645},{&quot;brightness&quot;:0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f*1_2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PRESET_TEXT" val="简明扼要地阐述您的观点。可酌情增减文字"/>
  <p:tag name="KSO_WM_UNIT_TEXT_TYPE" val="1"/>
  <p:tag name="KSO_WM_DIAGRAM_VIRTUALLY_FRAME" val="{&quot;height&quot;:567.3,&quot;left&quot;:6.1,&quot;top&quot;:-27.3,&quot;width&quot;:947.8083464566929}"/>
  <p:tag name="KSO_WM_UNIT_VALUE" val="24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a*1_2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PRESET_TEXT" val="添加标题"/>
  <p:tag name="KSO_WM_UNIT_TEXT_TYPE" val="1"/>
  <p:tag name="KSO_WM_DIAGRAM_VIRTUALLY_FRAME" val="{&quot;height&quot;:567.3,&quot;left&quot;:6.1,&quot;top&quot;:-27.3,&quot;width&quot;:947.8083464566929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3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VIRTUALLY_FRAME" val="{&quot;height&quot;:567.3,&quot;left&quot;:6.1,&quot;top&quot;:-27.3,&quot;width&quot;:947.8083464566929}"/>
  <p:tag name="KSO_WM_UNIT_FILL_TYPE" val="3"/>
  <p:tag name="KSO_WM_UNIT_LINE_FORE_SCHEMECOLOR_INDEX" val="14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-0.25,&quot;colorType&quot;:1,&quot;foreColorIndex&quot;:5,&quot;pos&quot;:0.790000021457672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6100000143051147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3_2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2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.6200000047683716,&quot;transparency&quot;:1},{&quot;brightness&quot;:0.4000000059604645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i*1_3_3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3"/>
  <p:tag name="KSO_WM_DIAGRAM_VIRTUALLY_FRAME" val="{&quot;height&quot;:567.3,&quot;left&quot;:6.1,&quot;top&quot;:-27.3,&quot;width&quot;:947.8083464566929}"/>
  <p:tag name="KSO_WM_UNIT_FILL_TYPE" val="3"/>
  <p:tag name="KSO_WM_UNIT_LINE_FORE_SCHEMECOLOR_INDEX" val="-2"/>
  <p:tag name="KSO_WM_DIAGRAM_MAX_ITEMCNT" val="4"/>
  <p:tag name="KSO_WM_DIAGRAM_MIN_ITEMCNT" val="2"/>
  <p:tag name="KSO_WM_DIAGRAM_COLOR_MATCH_VALUE" val="{&quot;shape&quot;:{&quot;fill&quot;:{&quot;gradient&quot;:[{&quot;brightness&quot;:0.6000000238418579,&quot;colorType&quot;:1,&quot;foreColorIndex&quot;:5,&quot;pos&quot;:0.3799999952316284,&quot;transparency&quot;:1},{&quot;brightness&quot;:0.4000000059604645,&quot;colorType&quot;:1,&quot;foreColorIndex&quot;:5,&quot;pos&quot;:1,&quot;transparency&quot;:0.4000000059604645}],&quot;type&quot;:3},&quot;glow&quot;:{&quot;colorType&quot;:0},&quot;line&quot;:{&quot;gradient&quot;:[{&quot;brightness&quot;:0,&quot;colorType&quot;:1,&quot;foreColorIndex&quot;:5,&quot;pos&quot;:0.14000000059604645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x*1_3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0*80"/>
  <p:tag name="KSO_WM_DIAGRAM_GROUP_CODE" val="l1-1"/>
  <p:tag name="KSO_WM_UNIT_TYPE" val="l_h_x"/>
  <p:tag name="KSO_WM_UNIT_INDEX" val="1_3_1"/>
  <p:tag name="KSO_WM_DIAGRAM_VIRTUALLY_FRAME" val="{&quot;height&quot;:567.3,&quot;left&quot;:6.1,&quot;top&quot;:-27.3,&quot;width&quot;:947.8083464566929}"/>
  <p:tag name="KSO_WM_UNIT_FILL_TYPE" val="3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,&quot;transparency&quot;:0.4000000059604645},{&quot;brightness&quot;:0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f*1_3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VALUE" val="24"/>
  <p:tag name="KSO_WM_UNIT_PRESET_TEXT" val="单击此处添加文本内容，简明扼要地阐述您的观点"/>
  <p:tag name="KSO_WM_UNIT_TEXT_TYPE" val="1"/>
  <p:tag name="KSO_WM_DIAGRAM_VIRTUALLY_FRAME" val="{&quot;height&quot;:567.3,&quot;left&quot;:6.1,&quot;top&quot;:-27.3,&quot;width&quot;:947.8083464566929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1_2*l_h_a*1_3_1"/>
  <p:tag name="KSO_WM_TEMPLATE_CATEGORY" val="diagram"/>
  <p:tag name="KSO_WM_TEMPLATE_INDEX" val="404930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VALUE" val="11"/>
  <p:tag name="KSO_WM_UNIT_PRESET_TEXT" val="添加标题"/>
  <p:tag name="KSO_WM_UNIT_TEXT_TYPE" val="1"/>
  <p:tag name="KSO_WM_DIAGRAM_VIRTUALLY_FRAME" val="{&quot;height&quot;:567.3,&quot;left&quot;:6.1,&quot;top&quot;:-27.3,&quot;width&quot;:947.8083464566929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49416,50000268,50000088,50000042,50000061,50052445],&quot;65&quot;:[20205081]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1*206"/>
  <p:tag name="TABLE_ENDDRAG_RECT" val="244*175*381*20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65354331,&quot;left&quot;:155.9,&quot;top&quot;:141.73228346456693,&quot;width&quot;:391.0216535433071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3.16771545410154,&quot;left&quot;:155.9,&quot;top&quot;:141.73228454589844,&quot;width&quot;:391.0216535433071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4092125984252,&quot;left&quot;:82.13748031496063,&quot;top&quot;:148.48228346456693,&quot;width&quot;:798.4547244094488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QyNjQ4NjIwODk2IiwKCSJHcm91cElkIiA6ICI5MTc3NjE0MDEiLAoJIkltYWdlIiA6ICIiLAoJIlRoZW1lIiA6ICIiLAoJIlR5cGUiIDogImZsb3ciLAoJIlVzZXJJZCIgOiAiIiwKCSJWZXJzaW9uIiA6ICIiCn0K"/>
    </extobj>
    <extobj name="E657119C-6982-421D-8BA7-E74DEB70A7D9-2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9Ua2xNa01sTWpKemFHOTNSM0pwWkNVeU1pVXpRWFJ5ZFdVbE1rTWxNakp5YVdOb1ZHVjRkQ1V5TWlVelFYUnlkV1VsTWtNbE1qSm9aV2xuYUhRbE1qSWxNMEV4TURBd0pUZEVKVEpESlRJeVpXeGxiV1Z1ZEhNbE1qSWxNMEVsTjBJbE1qSnlWVlJQWkhabWIyOXBPVFF4TVRBNUpUSXlKVE5CSlRkQ0pUSXlhV1FsTWpJbE0wRWxNakp5VlZSUFpIWm1iMjlwT1RReE1UQTV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WlhVMWg2UlZKMFlVMDJNamMyTWpBbE1qSWxOMFFsTWtNbE4wSWxNakp1WVcxbEpUSXlKVE5CSlRJeUpVVTFKVGt3SlRoRUpVVTNKVUUzSlVJd0pUSXlKVEpESlRJeWRIbHdaU1V5TWlVelFTVXlNbk4wY21sdVp5VXlNaVV5UXlVeU1uWmhiSFZsSlRJeUpUTkJKVEl5SlRJeUpUSkRKVEl5WTJGMFpXZHZjbmtsTWpJbE0wRWxNakprWldaaGRXeDBKVEl5SlRKREpUSXlhV1FsTWpJbE0wRWxNako2UW5oSmIwdFVlRUZUTXpRd01qSXp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kxbEpVbWR6UzNwVWN6ZzFOelV4TVNVeU1pVTNSQ1V5UXlVM1FpVXlNbTVoYldVbE1qSWxNMEVsTWpJbFJUZ2xRa1lsT1VVbFJUWWxPRVVsUVRVbE1qSWxNa01sTWpKMGVYQmxKVEl5SlROQkpUSXliR2x1YXlVeU1pVXlReVV5TW5aaGJIVmxKVEl5SlROQkpUSXlKVEl5SlRKREpUSXlZMkYwWldkdmNua2xNaklsTTBFbE1qSmtaV1poZFd4MEpUSXlKVEpESlRJeWFXUWxNaklsTTBFbE1qSnNhV1I2YkdGaFpHcG9NVGN4TXpZMEpUSXlKVGRFSlRKREpUZENKVEl5Ym1GdFpTVXlNaVV6UVNVeU1pVkZOQ1ZDUlNWQ1JpVkZOeVZCUXlWQ1FTVXlNaVV5UXlVeU1uUjVjR1VsTWpJbE0wRWxNakp6ZEhKcGJtY2xNaklsTWtNbE1qSjJZV3gxWlNVeU1pVXpRU1V5TWlVeU1pVXlReVV5TW1OaGRHVm5iM0o1SlRJeUpUTkJKVEl5WkdWbVlYVnNkQ1V5TWlVeVF5VXlNbWxrSlRJeUpUTkJKVEl5YzBoWmFITlJSVVpsU3prd05qUTBNU1V5TWlVM1JDVTFSQ1V5UXlVeU1uQnliM0J6SlRJeUpUTkJKVGRDSlRJeWVDVXlNaVV6UVRNeE55VXlReVV5TW5rbE1qSWxNMEV4TkRZbE1rTWxNakozSlRJeUpUTkJNakkwSlRKREpUSXlhQ1V5TWlVelFUYzRKVEpESlRJeWVtbHVaR1Y0SlRJeUpUTkJN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k5wZW1VbE1qSWxNMEV4T0NVM1JDVXlReVV5TW5SbGVIUkNiRzlqYXlVeU1pVXpRU1UxUWlVM1FpVXlNbkJ2YzJsMGFXOXVKVEl5SlROQkpUZENKVEl5ZUNVeU1pVXpRVEV3SlRKREpUSXllU1V5TWlVelFUQWxNa01sTWpKM0pUSXlKVE5CSlRJeWR5MHlNQ1V5TWlVeVF5VXlNbWdsTWpJbE0wRWxNakpvSlRJeUpUZEVKVEpESlRJeWRHVjRkQ1V5TWlVelFTVXlNaVZGTlNWQ1F5VTRNaVZGTlNWQ09DVkNPQ1ZGTmlWQk15VTRNQ1ZGTmlWQ05TVTRRaVV5TUNVeVJpVXlNQ1ZGTlNWQk5DVTVOaVZGT1NVNE15VkJPQ1ZGTkNWQ09DVkJSQ1ZGTmlVNU5pVkJSQ1ZGT0NWQlJpVkNOeVZGTmlWQ01TVTRNa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reEtTMU5wVWtaSVZsZzFNVFF5TlRVbE1qSWxNMEVsTjBJbE1qSnBaQ1V5TWlVelFTVXlNa3hLUzFOcFVrWklWbGcxTVRReU5UV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drUkhhRlI0UjBSbmF6ZzNOams1TVNVeU1pVTNSQ1V5UXlVM1FpVXlNbTVoYldVbE1qSWxNMEVsTWpJbFJUVWxPVEFsT0VRbFJUY2xRVGNsUWpBbE1qSWxNa01sTWpKMGVYQmxKVEl5SlROQkpUSXljM1J5YVc1bkpUSXlKVEpESlRJeWRtRnNkV1VsTWpJbE0wRWxNaklsTWpJbE1rTWxNakpqWVhSbFoyOXllU1V5TWlVelFTVXlNbVJsWm1GMWJIUWxNaklsTWtNbE1qSnBaQ1V5TWlVelFTVXlNbk5JUjBadlZuWnlWVW8yTURrNU9EY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TGFXeGplWEJxV2xOME56TXdPVFl5SlRJeUpUZEVKVEpESlRkQ0pUSXlibUZ0WlNVeU1pVXpRU1V5TWlWRk9DVkNSaVU1UlNWRk5pVTRSU1ZCTlNVeU1pVXlReVV5TW5SNWNHVWxNaklsTTBFbE1qSnNhVzVySlRJeUpUSkRKVEl5ZG1Gc2RXVWxNaklsTTBFbE1qSWxNaklsTWtNbE1qSmpZWFJsWjI5eWVTVXlNaVV6UVNVeU1tUmxabUYxYkhRbE1qSWxNa01sTWpKcFpDVXlNaVV6UVNVeU1tMTFkbVpIYUZGelMza3hOVEkxTlRnbE1qSWxOMFFsTWtNbE4wSWxNakp1WVcxbEpUSXlKVE5CSlRJeUpVVTBKVUpGSlVKR0pVVTNKVUZESlVKQkpUSXlKVEpESlRJeWRIbHdaU1V5TWlVelFTVXlNbk4wY21sdVp5VXlNaVV5UXlVeU1uWmhiSFZsSlRJeUpUTkJKVEl5SlRJeUpUSkRKVEl5WTJGMFpXZHZjbmtsTWpJbE0wRWxNakprWldaaGRXeDBKVEl5SlRKREpUSXlhV1FsTWpJbE0wRWxNakpaWjFWaFVVNWxVbFJSTXpBeE5UUTVKVEl5SlRkRUpUVkVKVEpESlRJeWNISnZjSE1sTWpJbE0wRWxOMElsTWpKNEpUSXlKVE5CTXpFM0pUSkRKVEl5ZVNVeU1pVXpRVEk0TWlVeVF5VXlNbmNsTWpJbE0wRXlNalFsTWtNbE1qSm9KVEl5SlROQk56Z2xNa01sTWpKNmFXNWtaWGdsTWpJbE0wRXl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jMmw2WlNVeU1pVXpRVEU0SlRkRUpUSkRKVEl5ZEdWNGRFSnNiMk5ySlRJeUpUTkJKVFZDSlRkQ0pUSXljRzl6YVhScGIyNGxNaklsTTBFbE4wSWxNako0SlRJeUpUTkJNVEFsTWtNbE1qSjVKVEl5SlROQk1DVXlReVV5TW5jbE1qSWxNMEVsTWpKM0xUSXdKVEl5SlRKREpUSXlhQ1V5TWlVelFTVXlNbWdsTWpJbE4wUWxNa01sTWpKMFpYaDBKVEl5SlROQkpUSXlRMU5TSlRJd0pVVTBKVUpHSlRsRUpVVTFKVUZFSlRrNEpVVTFKVUpESlRneUpVVTFKVUk0SlVJNEpVVTNKVGhGSlVJd0pVVTFKVGxESlVKQ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ZUVkSFZYRjVVVk5QY2pFeE1qVXlNU1V5TWlVelFTVTNRaVV5TW1sa0pUSXlKVE5CSlRJeWVFZEhWWEY1VVZOUGNqRXhNalV5TV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aZGtsd2FFMUpWbEIwTXpZNE1qVTBKVEl5SlRkRUpUSkRKVGRDSlRJeWJtRnRaU1V5TWlVelFTVXlNaVZGTlNVNU1DVTRSQ1ZGTnlWQk55VkNNQ1V5TWlVeVF5VXlNblI1Y0dVbE1qSWxNMEVsTWpKemRISnBibWNsTWpJbE1rTWxNakoyWVd4MVpTVXlNaVV6UVNVeU1pVXlNaVV5UXlVeU1tTmhkR1ZuYjNKNUpUSXlKVE5CSlRJeVpHVm1ZWFZzZENVeU1pVXlReVV5TW1sa0pUSXlKVE5CSlRJeVZtOW1hRkphUzB0MFdEazNNemswTU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FZUVTNGV1dXeEdXR2d3TWpBM056RWxNaklsTjBRbE1rTWxOMElsTWpKdVlXMWxKVEl5SlROQkpUSXlKVVU0SlVKR0pUbEZKVVUySlRoRkpVRTFKVEl5SlRKREpUSXlkSGx3WlNVeU1pVXpRU1V5TW14cGJtc2xNaklsTWtNbE1qSjJZV3gxWlNVeU1pVXpRU1V5TWlVeU1pVXlReVV5TW1OaGRHVm5iM0o1SlRJeUpUTkJKVEl5WkdWbVlYVnNkQ1V5TWlVeVF5VXlNbWxrSlRJeUpUTkJKVEl5YlhOaVQyUmxUSFZaVHpVeU5qTTFNeVV5TWlVM1JDVXlReVUzUWlVeU1tNWhiV1VsTWpJbE0wRWxNaklsUlRRbFFrVWxRa1lsUlRjbFFVTWxRa0VsTWpJbE1rTWxNakowZVhCbEpUSXlKVE5CSlRJeWMzUnlhVzVuSlRJeUpUSkRKVEl5ZG1Gc2RXVWxNaklsTTBFbE1qSWxNaklsTWtNbE1qSmpZWFJsWjI5eWVTVXlNaVV6UVNVeU1tUmxabUYxYkhRbE1qSWxNa01sTWpKcFpDVXlNaVV6UVNVeU1sUkNhbmhJY1dkUVNtTXpNelkzTXpFbE1qSWxOMFFsTlVRbE1rTWxNakp3Y205d2N5VXlNaVV6UVNVM1FpVXlNbmdsTWpJbE0wRXpNVGNsTWtNbE1qSjVKVEl5SlROQk5ERTRKVEpESlRJeWR5VXlNaVV6UVRJeU5DVXlReVV5TW1nbE1qSWxNMEUzT0NVeVF5VXlNbnBwYm1SbGVDVXlNaVV6UVRN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emFYcGxKVEl5SlROQk1UZ2xOMFFsTWtNbE1qSjBaWGgwUW14dlkyc2xNaklsTTBFbE5VSWxOMElsTWpKd2IzTnBkR2x2YmlVeU1pVXpRU1UzUWlVeU1uZ2xNaklsTTBFeE1DVXlReVV5TW5rbE1qSWxNMEV3SlRKREpUSXlkeVV5TWlVelFTVXlNbmN0TWpBbE1qSWxNa01sTWpKb0pUSXlKVE5CSlRJeWFDVXlNaVUzUkNVeVF5VXlNblJsZUhRbE1qSWxNMEVsTWpJbFJUVWxPRFlsUWpJbFJUVWxPRGdsUWpjbFJUWWxRalVsT0RFbFJUWWxRakFsUWpRbFJUY2xRa0VsUWtZbFJUUWxRamdsUVVRbFJUY2xPVUVsT0RRbFJUa2xPVFFsT1RrbFJUZ2xRVVlsUVVZbFJUZ2xRamNsUVVZbFJUVWxRa1VsT0RR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ZVjNOalJFZGhZWEJQTmpFMk1qZzBKVEl5SlROQkpUZENKVEl5YVdRbE1qSWxNMEVsTWpKWVYzTmpSRWRoWVhCUE5qRTJNamcw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a3RJYkdGSlQwNXRSVmswTmpJMk56RWxNaklsTjBRbE1rTWxOMElsTWpKdVlXMWxKVEl5SlROQkpUSXlKVVUxSlRrd0pUaEVKVVUzSlVFM0pVSXdKVEl5SlRKREpUSXlkSGx3WlNVeU1pVXpRU1V5TW5OMGNtbHVaeVV5TWlVeVF5VXlNblpoYkhWbEpUSXlKVE5CSlRJeUpUSXlKVEpESlRJeVkyRjBaV2R2Y25rbE1qSWxNMEVsTWpKa1pXWmhkV3gwSlRJeUpUSkRKVEl5YVdRbE1qSWxNMEVsTWpKb1pFSlNUR0p1ZUVGWE9UUTJNVE15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RTVIY0ZCU1FsUk9ZamM1TnpZME15VXlNaVUzUkNVeVF5VTNRaVV5TW01aGJXVWxNaklsTTBFbE1qSWxSVGdsUWtZbE9VVWxSVFlsT0VVbFFUVWxNaklsTWtNbE1qSjBlWEJsSlRJeUpUTkJKVEl5YkdsdWF5VXlNaVV5UXlVeU1uWmhiSFZsSlRJeUpUTkJKVEl5SlRJeUpUSkRKVEl5WTJGMFpXZHZjbmtsTWpJbE0wRWxNakprWldaaGRXeDBKVEl5SlRKREpUSXlhV1FsTWpJbE0wRWxNakpSY1ZsVlNtNVZTa2hOTkRJMU56WTFKVEl5SlRkRUpUSkRKVGRDSlRJeWJtRnRaU1V5TWlVelFTVXlNaVZGTkNWQ1JTVkNSaVZGTnlWQlF5VkNRU1V5TWlVeVF5VXlNblI1Y0dVbE1qSWxNMEVsTWpKemRISnBibWNsTWpJbE1rTWxNakoyWVd4MVpTVXlNaVV6UVNVeU1pVXlNaVV5UXlVeU1tTmhkR1ZuYjNKNUpUSXlKVE5CSlRJeVpHVm1ZWFZzZENVeU1pVXlReVV5TW1sa0pUSXlKVE5CSlRJeWVXaDFUbnBtYUhSVlVEVTVNVE15TXlVeU1pVTNSQ1UxUkNVeVF5VXlNbkJ5YjNCekpUSXlKVE5CSlRkQ0pUSXllQ1V5TWlVelFUTXhOeVV5UXlVeU1ua2xNaklsTTBFMU5UUWxNa01sTWpKM0pUSXlKVE5CTWpJMEpUSkRKVEl5YUNVeU1pVXpRVGM0SlRKREpUSXllbWx1WkdWNEpUSXlKVE5CTkN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V5TW5OcGVtVWxNaklsTTBFeE9DVTNSQ1V5UXlVeU1uUmxlSFJDYkc5amF5VXlNaVV6UVNVMVFpVTNRaVV5TW5CdmMybDBhVzl1SlRJeUpUTkJKVGRDSlRJeWVDVXlNaVV6UVRFd0pUSkRKVEl5ZVNVeU1pVXpRVEFsTWtNbE1qSjNKVEl5SlROQkpUSXlkeTB5TUNVeU1pVXlReVV5TW1nbE1qSWxNMEVsTWpKb0pUSXlKVGRFSlRKREpUSXlkR1Y0ZENVeU1pVXpRU1V5TWlWRk9DVkNOeVZDTXlWRk9DVkNSQ1ZCUXlVeU1GUnlZWEFsTWpCSVlXNWtiR1Z5SlRJd0pVVTJKVGc1SlVFM0pVVTRKVUV4SlRoREpVVTFKVUUwSlRnMEpVVTNKVGt3SlRnM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YzFoWlVscHFjMHRqUWpFd016SXpNU1V5TWlVelFTVTNRaVV5TW1sa0pUSXlKVE5CSlRJeWMxaFpVbHBxYzB0alFqRXdNekl6TV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GZFdSNVRWcHhlWFpsTnpRek1qUTVKVEl5SlRkRUpUSkRKVGRDSlRJeWJtRnRaU1V5TWlVelFTVXlNaVZGTlNVNU1DVTRSQ1ZGTnlWQk55VkNNQ1V5TWlVeVF5VXlNblI1Y0dVbE1qSWxNMEVsTWpKemRISnBibWNsTWpJbE1rTWxNakoyWVd4MVpTVXlNaVV6UVNVeU1pVXlNaVV5UXlVeU1tTmhkR1ZuYjNKNUpUSXlKVE5CSlRJeVpHVm1ZWFZzZENVeU1pVXlReVV5TW1sa0pUSXlKVE5CSlRJeVZIbGhkVnAzUVhwb2F6UXlNVEF6Tk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WQxZDBOaVExZEZURlUyTmpnNU56SWxNaklsTjBRbE1rTWxOMElsTWpKdVlXMWxKVEl5SlROQkpUSXlKVVU0SlVKR0pUbEZKVVUySlRoRkpVRTFKVEl5SlRKREpUSXlkSGx3WlNVeU1pVXpRU1V5TW14cGJtc2xNaklsTWtNbE1qSjJZV3gxWlNVeU1pVXpRU1V5TWlVeU1pVXlReVV5TW1OaGRHVm5iM0o1SlRJeUpUTkJKVEl5WkdWbVlYVnNkQ1V5TWlVeVF5VXlNbWxrSlRJeUpUTkJKVEl5UkZCTFFXcFhkWE5XYWpZNE1qRTVNU1V5TWlVM1JDVXlReVUzUWlVeU1tNWhiV1VsTWpJbE0wRWxNaklsUlRRbFFrVWxRa1lsUlRjbFFVTWxRa0VsTWpJbE1rTWxNakowZVhCbEpUSXlKVE5CSlRJeWMzUnlhVzVuSlRJeUpUSkRKVEl5ZG1Gc2RXVWxNaklsTTBFbE1qSWxNaklsTWtNbE1qSmpZWFJsWjI5eWVTVXlNaVV6UVNVeU1tUmxabUYxYkhRbE1qSWxNa01sTWpKcFpDVXlNaVV6UVNVeU1rOXhVVzFsY0hGMlkyUTNPVEEzT0RRbE1qSWxOMFFsTlVRbE1rTWxNakp3Y205d2N5VXlNaVV6UVNVM1FpVXlNbmdsTWpJbE0wRXpNVGNsTWtNbE1qSjVKVEl5SlROQk5qa3dKVEpESlRJeWR5VXlNaVV6UVRJeU5DVXlReVV5TW1nbE1qSWxNMEUzT0NVeVF5VXlNbnBwYm1SbGVDVXlNaVV6UVRV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emFYcGxKVEl5SlROQk1UZ2xOMFFsTWtNbE1qSjBaWGgwUW14dlkyc2xNaklsTTBFbE5VSWxOMElsTWpKd2IzTnBkR2x2YmlVeU1pVXpRU1UzUWlVeU1uZ2xNaklsTTBFeE1DVXlReVV5TW5rbE1qSWxNMEV3SlRKREpUSXlkeVV5TWlVelFTVXlNbmN0TWpBbE1qSWxNa01sTWpKb0pUSXlKVE5CSlRJeWFDVXlNaVUzUkNVeVF5VXlNblJsZUhRbE1qSWxNMEVsTWpKdGNtVjBKVEl3SlVVNEpVSkdKVGswSlVVMUpUbENKVGxGSlVVNEpVRXlKVUZDSlVVMEpVSTRKVUZFSlVVMkpUazJKVUZFSlVVM0pVRTRKVGhDSlVVMUpVSkJKVGhH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VMFZ5UmxaelZHZDVhelU0TlRVek55VXlNaVV6UVNVM1FpVXlNbTVoYldVbE1qSWxNMEVsTWpKc2FXNXJaWElsTWpJbE1rTWxNakp3Y205d2N5VXlNaVV6UVNVM1FpVXlNbnBwYm1SbGVDVXlNaVV6UVRZbE4wUWxNa01sTWpKa1lYUmhRWFIwY21saWRYUmxjeVV5TWlVelFTVTFRaVUxUkNVeVF5VXlNbVp5YjIwbE1qSWxNMEVsTjBJbE1qSjRKVEl5SlROQk5ESTVKVEpESlRJeWVTVXlNaVV6UVRJeU5DVXlReVV5TW1GdVoyeGxKVEl5SlROQk5DNDNNVEl6T0RnNU9EQXpPRFEyT1NVeVF5VXlNbWxrSlRJeUpUTkJKVEl5Y2xWVVQyUjJabTl2YVRrME1URXdPU1V5TWlVM1JDVXlReVV5TW5SdkpUSXlKVE5CSlRkQ0pUSXllQ1V5TWlVelFUUXlPU1V5UXlVeU1ua2xNaklsTTBFeU9ESWxNa01sTWpKcFpDVXlNaVV6UVNVeU1reEtTMU5wVWtaSVZsZzFNVFF5TlRVbE1qSWxNa01sTWpKaGJtZHNaU1V5TWlVelFURXVOVGN3TnprMk16STJOemswT0RrM0pUZEVKVEpESlRJeVozSnZkWEFsTWpJbE0wRWxNaklsTWpJbE1rTWxNakpwWkNVeU1pVXpRU1V5TWxORmNrWldjMVJuZVdzMU9EVTFNemNsTWpJbE1rTWxNakpzYVc1bFUzUjViR1VsTWpJbE0wRWxOMElsTWpKc2FXNWxWMmxrZEdnbE1qSWxNMEV4TGpVbE4wUWxNa01sTWpKc2FXNXJaWEpVZVhCbEpUSXlKVE5CSlRJeVluSnZhMlZ1SlRJeUpUSkRKVEl5Ykc5amEyVmtKVEl5SlROQlptRnNjMlVsTWtNbE1qSndiMmx1ZEhNbE1qSWxNMEVsTlVJbE4wSWxNako0SlRJeUpUTkJOREk1SlRKREpUSXllU1V5TWlVelFUSTFNeVUzUkNVeVF5VTNRaVV5TW5nbE1qSWxNMEUwTWprbE1rTWxNako1SlRJeUpUTkJNalV6SlRkRUpUVkVKVEpESlRJeWRHVjRkQ1V5TWlVelFTVXlNaVV5TWlVeVF5VXlNblJsZUhSQ2JHOWpheVV5TWlVelFTVTFRaVUxUkNVM1JDVXlReVV5TW01UWIwMVRjMnh6VTNBeE1Ea3dOVFFsTWpJbE0wRWxOMElsTWpKdVlXMWxKVEl5SlROQkpUSXliR2x1YTJWeUpUSXlKVEpESlRJeWNISnZjSE1sTWpJbE0wRWxOMElsTWpKNmFXNWtaWGdsTWpJbE0wRTNKVGRFSlRKREpUSXlaR0YwWVVGMGRISnBZblYwWlhNbE1qSWxNMEVsTlVJbE5VUWxNa01sTWpKbWNtOXRKVEl5SlROQkpUZENKVEl5ZUNVeU1pVXpRVFF5T1NVeVF5VXlNbmtsTWpJbE0wRXpOakFsTWtNbE1qSmhibWRzWlNVeU1pVXpRVFF1TnpFeU16ZzRPVGd3TXpnME5qa2xNa01sTWpKcFpDVXlNaVV6UVNVeU1reEtTMU5wVWtaSVZsZzFNVFF5TlRVbE1qSWxOMFFsTWtNbE1qSjBieVV5TWlVelFTVTNRaVV5TW5nbE1qSWxNMEUwTWprbE1rTWxNako1SlRJeUpUTkJOREU0SlRKREpUSXlhV1FsTWpJbE0wRWxNako0UjBkVmNYbFJVMDl5TVRFeU5USXhKVEl5SlRKREpUSXlZVzVuYkdVbE1qSWxNMEV4TGpVM01EYzVOak15TmpjNU5EZzVOeVUzUkNVeVF5VXlNbWR5YjNWd0pUSXlKVE5CSlRJeUpUSXlKVEpESlRJeWFXUWxNaklsTTBFbE1qSnVVRzlOVTNOc2MxTndNVEE1TURVMEpUSXlKVEpESlRJeWJHbHVaVk4wZVd4bEpUSXlKVE5CSlRkQ0pUSXliR2x1WlZkcFpIUm9KVEl5SlROQk1TNDFKVGRFSlRKREpUSXliR2x1YTJWeVZIbHdaU1V5TWlVelFTVXlNbUp5YjJ0bGJpVXlNaVV5UXlVeU1teHZZMnRsWkNVeU1pVXpRV1poYkhObEpUSkRKVEl5Y0c5cGJuUnpKVEl5SlROQkpUVkNKVGRDSlRJeWVDVXlNaVV6UVRReU9TVXlReVV5TW5rbE1qSWxNMEV6T0RrbE4wUWxNa01sTjBJbE1qSjRKVEl5SlROQk5ESTVKVEpESlRJeWVTVXlNaVV6UVRNNE9TVTNSQ1UxUkNVeVF5VXlNblJsZUhRbE1qSWxNMEVsTWpJbE1qSWxNa01sTWpKMFpYaDBRbXh2WTJzbE1qSWxNMEVsTlVJbE5VUWxOMFFsTWtNbE1qSlJhbGRDUldGUVNXbGFNVFl4T0RVMUpUSXlKVE5CSlRkQ0pUSXlibUZ0WlNVeU1pVXpRU1V5TW14cGJtdGxjaVV5TWlVeVF5VXlNbkJ5YjNCekpUSXlKVE5CSlRkQ0pUSXllbWx1WkdWNEpUSXlKVE5CT0NVM1JDVXlReVV5TW1SaGRHRkJkSFJ5YVdKMWRHVnpKVEl5SlROQkpUVkNKVFZFSlRKREpUSXlabkp2YlNVeU1pVXpRU1UzUWlVeU1uZ2xNaklsTTBFME1qa2xNa01sTWpKNUpUSXlKVE5CTkRrMkpUSkRKVEl5WVc1bmJHVWxNaklsTTBFMExqY3hNak00T0RrNE1ETTRORFk1SlRKREpUSXlhV1FsTWpJbE0wRWxNako0UjBkVmNYbFJVMDl5TVRFeU5USXhKVEl5SlRkRUpUSkRKVEl5ZEc4bE1qSWxNMEVsTjBJbE1qSjRKVEl5SlROQk5ESTVKVEpESlRJeWVTVXlNaVV6UVRVMU5DVXlReVV5TW1sa0pUSXlKVE5CSlRJeVdGZHpZMFJIWVdGd1R6WXhOakk0TkNVeU1pVXlReVV5TW1GdVoyeGxKVEl5SlROQk1TNDFOekEzT1RZek1qWTNPVFE0T1RjbE4wUWxNa01sTWpKbmNtOTFjQ1V5TWlVelFTVXlNaVV5TWlVeVF5VXlNbWxrSlRJeUpUTkJKVEl5VVdwWFFrVmhVRWxwV2pFMk1UZzFOU1V5TWlVeVF5VXlNbXhwYm1WVGRIbHNaU1V5TWlVelFTVTNRaVV5TW14cGJtVlhhV1IwYUNVeU1pVXpRVEV1TlNVM1JDVXlReVV5TW14cGJtdGxjbFI1Y0dVbE1qSWxNMEVsTWpKaWNtOXJaVzRsTWpJbE1rTWxNakpzYjJOclpXUWxNaklsTTBGbVlXeHpaU1V5UXlVeU1uQnZhVzUwY3lVeU1pVXpRU1UxUWlVM1FpVXlNbmdsTWpJbE0wRTBNamtsTWtNbE1qSjVKVEl5SlROQk5USTFKVGRFSlRKREpUZENKVEl5ZUNVeU1pVXpRVFF5T1NVeVF5VXlNbmtsTWpJbE0wRTFNalVsTjBRbE5VUWxNa01sTWpKMFpYaDBKVEl5SlROQkpUSXlKVEl5SlRKREpUSXlkR1Y0ZEVKc2IyTnJKVEl5SlROQkpUVkNKVFZFSlRkRUpUSkRKVEl5VWs5cmNHbExUMEZDUWpjMk56a3lNU1V5TWlVelFTVTNRaVV5TW01aGJXVWxNaklsTTBFbE1qSnNhVzVyWlhJbE1qSWxNa01sTWpKd2NtOXdjeVV5TWlVelFTVTNRaVV5TW5wcGJtUmxlQ1V5TWlVelFUa2xOMFFsTWtNbE1qSmtZWFJoUVhSMGNtbGlkWFJsY3lVeU1pVXpRU1UxUWlVMVJDVXlReVV5TW1aeWIyMGxNaklsTTBFbE4wSWxNako0SlRJeUpUTkJOREk1SlRKREpUSXllU1V5TWlVelFUWXpNaVV5UXlVeU1tRnVaMnhsSlRJeUpUTkJOQzQzTVRJek9EZzVPREF6T0RRMk9TVXlReVV5TW1sa0pUSXlKVE5CSlRJeVdGZHpZMFJIWVdGd1R6WXhOakk0TkNVeU1pVTNSQ1V5UXlVeU1uUnZKVEl5SlROQkpUZENKVEl5ZUNVeU1pVXpRVFF5T1NVeVF5VXlNbmtsTWpJbE0wRTJPVEFsTWtNbE1qSnBaQ1V5TWlVelFTVXlNbk5ZV1ZKYWFuTkxZMEl4TURNeU16RWxNaklsTWtNbE1qSmhibWRzWlNVeU1pVXpRVEV1TlRjd056azJNekkyTnprME9EazNKVGRFSlRKREpUSXlaM0p2ZFhBbE1qSWxNMEVsTWpJbE1qSWxNa01sTWpKcFpDVXlNaVV6UVNVeU1sSlBhM0JwUzA5QlFrSTNOamM1TWpFbE1qSWxNa01sTWpKc2FXNWxVM1I1YkdVbE1qSWxNMEVsTjBJbE1qSnNhVzVsVjJsa2RHZ2xNaklsTTBFeExqVWxOMFFsTWtNbE1qSnNhVzVyWlhKVWVYQmxKVEl5SlROQkpUSXlZbkp2YTJWdUpUSXlKVEpESlRJeWJHOWphMlZrSlRJeUpUTkJabUZzYzJVbE1rTWxNakp3YjJsdWRITWxNaklsTTBFbE5VSWxOMElsTWpKNEpUSXlKVE5CTkRJNUpUSkRKVEl5ZVNVeU1pVXpRVFkyTVNVM1JDVXlReVUzUWlVeU1uZ2xNaklsTTBFME1qa2xNa01sTWpKNUpUSXlKVE5CTmpZeEpUZEVKVFZFSlRKREpUSXlkR1Y0ZENVeU1pVXpRU1V5TWlVeU1pVXlReVV5TW5SbGVIUkNiRzlqYXlVeU1pVXpRU1UxUWlVMVJDVTNSQ1UzUkNVeVF5VXlNbU52YlcxbGJuUnpKVEl5SlROQkpUVkNKVFZFSlRKREpUSXljR3gxWjJsdWN5VXlNaVV6UVNVM1FpVTNSQ1V5UXlVeU1tRnBRMjl1ZEdGcGJtVnljeVV5TWlVelFTVTNRaVUzUkNVeVF5VXlNbWx1YzJWeWRGQmhaMlZQY0hSekpUSXlKVE5CSlRkQ0pUZEVKVEpESlRJeWNHOXpkRkJoZVcxbGJuUWxNaklsTTBFbE4wSWxOMFFsTWtNbE1qSjBhR1Z0WlNVeU1pVXpRU1UzUWlVeU1uQmhaMlVsTWpJbE0wRWxOMElsTWpKaVlXTnJaM0p2ZFc1a1EyOXNiM0lsTWpJbE0wRWxNakowY21GdWMzQmhjbVZ1ZENVeU1pVTNSQ1UzUkNVM1JBPT0iLAoJIkZpbGVJZCIgOiAiY2NlNTllMTQtNjg4Ny00ZmViLTk2MjMtM2RmNDlhNGQxODVlIgp9Cg=="/>
    </extobj>
    <extobj name="E657119C-6982-421D-8BA7-E74DEB70A7D9-3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9Ua2xNa01sTWpKemFHOTNSM0pwWkNVeU1pVXpRWFJ5ZFdVbE1rTWxNakp5YVdOb1ZHVjRkQ1V5TWlVelFYUnlkV1VsTWtNbE1qSm9aV2xuYUhRbE1qSWxNMEV4TURBd0pUZEVKVEpESlRJeVpXeGxiV1Z1ZEhNbE1qSWxNMEVsTjBJbE1qSjFVa3RsYUZsb2NVSk1NelE1TWpjeEpUSXlKVE5CSlRkQ0pUSXlhV1FsTWpJbE0wRWxNakoxVWt0bGFGbG9jVUpNTXpRNU1qY3h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uWm9VMUJyWm1wTWNFMDBNak0yTURVbE1qSWxOMFFsTWtNbE4wSWxNakp1WVcxbEpUSXlKVE5CSlRJeUpVVTFKVGt3SlRoRUpVVTNKVUUzSlVJd0pUSXlKVEpESlRJeWRIbHdaU1V5TWlVelFTVXlNbk4wY21sdVp5VXlNaVV5UXlVeU1uWmhiSFZsSlRJeUpUTkJKVEl5SlRJeUpUSkRKVEl5WTJGMFpXZHZjbmtsTWpJbE0wRWxNakprWldaaGRXeDBKVEl5SlRKREpUSXlhV1FsTWpJbE0wRWxNakpzZEV0MVdVdG1lSE54TWpnMk56Z3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IyWkRUVk56VlhaMFpqTXhNVGc1T0NVeU1pVTNSQ1V5UXlVM1FpVXlNbTVoYldVbE1qSWxNMEVsTWpJbFJUZ2xRa1lsT1VVbFJUWWxPRVVsUVRVbE1qSWxNa01sTWpKMGVYQmxKVEl5SlROQkpUSXliR2x1YXlVeU1pVXlReVV5TW5aaGJIVmxKVEl5SlROQkpUSXlKVEl5SlRKREpUSXlZMkYwWldkdmNua2xNaklsTTBFbE1qSmtaV1poZFd4MEpUSXlKVEpESlRJeWFXUWxNaklsTTBFbE1qSkJaRVJoWVU5c1VYSnVOREUwTmpNNUpUSXlKVGRFSlRKREpUZENKVEl5Ym1GdFpTVXlNaVV6UVNVeU1pVkZOQ1ZDUlNWQ1JpVkZOeVZCUXlWQ1FTVXlNaVV5UXlVeU1uUjVjR1VsTWpJbE0wRWxNakp6ZEhKcGJtY2xNaklsTWtNbE1qSjJZV3gxWlNVeU1pVXpRU1V5TWlVeU1pVXlReVV5TW1OaGRHVm5iM0o1SlRJeUpUTkJKVEl5WkdWbVlYVnNkQ1V5TWlVeVF5VXlNbWxrSlRJeUpUTkJKVEl5Ym14UVJreDFSMEpRVlRNd05qSXpPU1V5TWlVM1JDVTFSQ1V5UXlVeU1uQnliM0J6SlRJeUpUTkJKVGRDSlRJeWVDVXlNaVV6UVRjM0pUSkRKVEl5ZVNVeU1pVXpRVEV6TkNVeVF5VXlNbmNsTWpJbE0wRTVOaVV5UXlVeU1tZ2xNaklsTTBFMU5DVXlReVV5TW5wcGJtUmxlQ1V5TWlVelFUR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1qSnphWHBsSlRJeUpUTkJNVGdsTjBRbE1rTWxNakowWlhoMFFteHZZMnNsTWpJbE0wRWxOVUlsTjBJbE1qSndiM05wZEdsdmJpVXlNaVV6UVNVM1FpVXlNbmdsTWpJbE0wRXhNQ1V5UXlVeU1ua2xNaklsTTBFd0pUSkRKVEl5ZHlVeU1pVXpRU1V5TW5jdE1qQWxNaklsTWtNbE1qSm9KVEl5SlROQkpUSXlhQ1V5TWlVM1JDVXlReVV5TW5SbGVIUWxNaklsTTBFbE1qSkJKVFZDTVRVbE0wRXdKVFZF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kbVpZVEhwUWNuVk9Vall3TVRNek5DVXlNaVV6UVNVM1FpVXlNbWxrSlRJeUpUTkJKVEl5ZG1aWVRIcFFjblZPVWpZd01UTXpOQ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mxRMDlhY1VaS2FVWjZNakE1T1RZd0pUSXlKVGRFSlRKREpUZENKVEl5Ym1GdFpTVXlNaVV6UVNVeU1pVkZOU1U1TUNVNFJDVkZOeVZCTnlWQ01DVXlNaVV5UXlVeU1uUjVjR1VsTWpJbE0wRWxNakp6ZEhKcGJtY2xNaklsTWtNbE1qSjJZV3gxWlNVeU1pVXpRU1V5TWlVeU1pVXlReVV5TW1OaGRHVm5iM0o1SlRJeUpUTkJKVEl5WkdWbVlYVnNkQ1V5TWlVeVF5VXlNbWxrSlRJeUpUTkJKVEl5WTFOUlJIWjRSVkJ5V0RJME1UWTVN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sbDVUbk5RVTNOWlRGQTVORGcxTXpjbE1qSWxOMFFsTWtNbE4wSWxNakp1WVcxbEpUSXlKVE5CSlRJeUpVVTRKVUpHSlRsRkpVVTJKVGhGSlVFMUpUSXlKVEpESlRJeWRIbHdaU1V5TWlVelFTVXlNbXhwYm1zbE1qSWxNa01sTWpKMllXeDFaU1V5TWlVelFTVXlNaVV5TWlVeVF5VXlNbU5oZEdWbmIzSjVKVEl5SlROQkpUSXlaR1ZtWVhWc2RDVXlNaVV5UXlVeU1tbGtKVEl5SlROQkpUSXlhVnBrUW5oS1owTnlRVGd3TkRZek1DVXlNaVUzUkNVeVF5VTNRaVV5TW01aGJXVWxNaklsTTBFbE1qSWxSVFFsUWtVbFFrWWxSVGNsUVVNbFFrRWxNaklsTWtNbE1qSjBlWEJsSlRJeUpUTkJKVEl5YzNSeWFXNW5KVEl5SlRKREpUSXlkbUZzZFdVbE1qSWxNMEVsTWpJbE1qSWxNa01sTWpKallYUmxaMjl5ZVNVeU1pVXpRU1V5TW1SbFptRjFiSFFsTWpJbE1rTWxNakpwWkNVeU1pVXpRU1V5TWxObGQwOVVTMDVwZEc0d05UUXlOVFFsTWpJbE4wUWxOVVFsTWtNbE1qSndjbTl3Y3lVeU1pVXpRU1UzUWlVeU1uZ2xNaklsTTBFeU16SWxNa01sTWpKNUpUSXlKVE5CTVRNMEpUSkRKVEl5ZHlVeU1pVXpRVGsySlRKREpUSXlhQ1V5TWlVelFUVTBKVEpESlRJeWVtbHVaR1Y0SlRJeUpUTkJNaV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k5wZW1VbE1qSWxNMEV4T0NVM1JDVXlReVV5TW5SbGVIUkNiRzlqYXlVeU1pVXpRU1UxUWlVM1FpVXlNbkJ2YzJsMGFXOXVKVEl5SlROQkpUZENKVEl5ZUNVeU1pVXpRVEV3SlRKREpUSXllU1V5TWlVelFUQWxNa01sTWpKM0pUSXlKVE5CSlRJeWR5MHlNQ1V5TWlVeVF5VXlNbWdsTWpJbE0wRWxNakpvSlRJeUpUZEVKVEpESlRJeWRHVjRkQ1V5TWlVelFTVXlNa0lsTlVJeE5TVXpRVEFsTlVR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sVUZWU1dsZFBSV0pRTURZME1EUXhKVEl5SlROQkpUZENKVEl5YVdRbE1qSWxNMEVsTWpKbFVGVlNXbGRQUldKUU1EWTBNRFF4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a1pMYzBOeVZFSkNWbEU0TWprM05qUWxNaklsTjBRbE1rTWxOMElsTWpKdVlXMWxKVEl5SlROQkpUSXlKVVUxSlRrd0pUaEVKVVUzSlVFM0pVSXdKVEl5SlRKREpUSXlkSGx3WlNVeU1pVXpRU1V5TW5OMGNtbHVaeVV5TWlVeVF5VXlNblpoYkhWbEpUSXlKVE5CSlRJeUpUSXlKVEpESlRJeVkyRjBaV2R2Y25rbE1qSWxNMEVsTWpKa1pXWmhkV3gwSlRJeUpUSkRKVEl5YVdRbE1qSWxNMEVsTWpKS1RuTlNkM3BMVWtwWk16SXhNREU0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WVWxaWVVWVWQwcG1aemMwTlRZMk5TVXlNaVUzUkNVeVF5VTNRaVV5TW01aGJXVWxNaklsTTBFbE1qSWxSVGdsUWtZbE9VVWxSVFlsT0VVbFFUVWxNaklsTWtNbE1qSjBlWEJsSlRJeUpUTkJKVEl5YkdsdWF5VXlNaVV5UXlVeU1uWmhiSFZsSlRJeUpUTkJKVEl5SlRJeUpUSkRKVEl5WTJGMFpXZHZjbmtsTWpJbE0wRWxNakprWldaaGRXeDBKVEl5SlRKREpUSXlhV1FsTWpJbE0wRWxNakpIZVdoblpVMTZTVTl6TWpFd056azVKVEl5SlRkRUpUSkRKVGRDSlRJeWJtRnRaU1V5TWlVelFTVXlNaVZGTkNWQ1JTVkNSaVZGTnlWQlF5VkNRU1V5TWlVeVF5VXlNblI1Y0dVbE1qSWxNMEVsTWpKemRISnBibWNsTWpJbE1rTWxNakoyWVd4MVpTVXlNaVV6UVNVeU1pVXlNaVV5UXlVeU1tTmhkR1ZuYjNKNUpUSXlKVE5CSlRJeVpHVm1ZWFZzZENVeU1pVXlReVV5TW1sa0pUSXlKVE5CSlRJeVdWcEtUMnRZWmtsUWRESTVNemMyTkNVeU1pVTNSQ1UxUkNVeVF5VXlNbkJ5YjNCekpUSXlKVE5CSlRkQ0pUSXllQ1V5TWlVelFUYzNKVEpESlRJeWVTVXlNaVV6UVRJek1DVXlReVV5TW5jbE1qSWxNMEU1TmlVeVF5VXlNbWdsTWpJbE0wRTFOQ1V5UXlVeU1ucHBibVJsZUNVeU1pVXpRVE1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p6YVhwbEpUSXlKVE5CTVRnbE4wUWxNa01sTWpKMFpYaDBRbXh2WTJzbE1qSWxNMEVsTlVJbE4wSWxNakp3YjNOcGRHbHZiaVV5TWlVelFTVTNRaVV5TW5nbE1qSWxNMEV4TUNVeVF5VXlNbmtsTWpJbE0wRXdKVEpESlRJeWR5VXlNaVV6UVNVeU1uY3RNakFsTWpJbE1rTWxNakpvSlRJeUpUTkJKVEl5YUNVeU1pVTNSQ1V5UXlVeU1uUmxlSFFsTWpJbE0wRWxNakpCSlRWQ01UVWxNMEV3SlRWR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VTFweVUxbGFZVTFIYXpRd01qY3dOaVV5TWlVelFTVTNRaVV5TW1sa0pUSXlKVE5CSlRJeVUxcHlVMWxhWVUxSGF6UXdNamN3Tml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ZYUhscWMyeFRXbEJtTnpNMU1USTVKVEl5SlRkRUpUSkRKVGRDSlRJeWJtRnRaU1V5TWlVelFTVXlNaVZGTlNVNU1DVTRSQ1ZGTnlWQk55VkNNQ1V5TWlVeVF5VXlNblI1Y0dVbE1qSWxNMEVsTWpKemRISnBibWNsTWpJbE1rTWxNakoyWVd4MVpTVXlNaVV6UVNVeU1pVXlNaVV5UXlVeU1tTmhkR1ZuYjNKNUpUSXlKVE5CSlRJeVpHVm1ZWFZzZENVeU1pVXlReVV5TW1sa0pUSXlKVE5CSlRJeWVXOWlSR1ZVYWtadWVqZzJPRFkxTV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UZoYzFaVVRVRlBkSGcxTkRFME5qY2xNaklsTjBRbE1rTWxOMElsTWpKdVlXMWxKVEl5SlROQkpUSXlKVVU0SlVKR0pUbEZKVVUySlRoRkpVRTFKVEl5SlRKREpUSXlkSGx3WlNVeU1pVXpRU1V5TW14cGJtc2xNaklsTWtNbE1qSjJZV3gxWlNVeU1pVXpRU1V5TWlVeU1pVXlReVV5TW1OaGRHVm5iM0o1SlRJeUpUTkJKVEl5WkdWbVlYVnNkQ1V5TWlVeVF5VXlNbWxrSlRJeUpUTkJKVEl5ZUV4RGFGcFpUMnRrV1RJMU1qZ3dNaVV5TWlVM1JDVXlReVUzUWlVeU1tNWhiV1VsTWpJbE0wRWxNaklsUlRRbFFrVWxRa1lsUlRjbFFVTWxRa0VsTWpJbE1rTWxNakowZVhCbEpUSXlKVE5CSlRJeWMzUnlhVzVuSlRJeUpUSkRKVEl5ZG1Gc2RXVWxNaklsTTBFbE1qSWxNaklsTWtNbE1qSmpZWFJsWjI5eWVTVXlNaVV6UVNVeU1tUmxabUYxYkhRbE1qSWxNa01sTWpKcFpDVXlNaVV6UVNVeU1rOVpRM3BtYUd4QlQwNDFORGc0TmpJbE1qSWxOMFFsTlVRbE1rTWxNakp3Y205d2N5VXlNaVV6UVNVM1FpVXlNbmdsTWpJbE0wRXlNeklsTWtNbE1qSjVKVEl5SlROQk1qTXdKVEpESlRJeWR5VXlNaVV6UVRrMkpUSkRKVEl5YUNVeU1pVXpRVFUwSlRKREpUSXllbWx1WkdWNEpUSXlKVE5CTkN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V5TW5OcGVtVWxNaklsTTBFeE9DVTNSQ1V5UXlVeU1uUmxlSFJDYkc5amF5VXlNaVV6UVNVMVFpVTNRaVV5TW5CdmMybDBhVzl1SlRJeUpUTkJKVGRDSlRJeWVDVXlNaVV6UVRFd0pUSkRKVEl5ZVNVeU1pVXpRVEFsTWtNbE1qSjNKVEl5SlROQkpUSXlkeTB5TUNVeU1pVXlReVV5TW1nbE1qSWxNMEVsTWpKb0pUSXlKVGRFSlRKREpUSXlkR1Y0ZENVeU1pVXpRU1V5TWtJbE5VSXpNU1V6UVRFMkpUVkV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JHVlhVRnBwZVVoYVdUa3dOekV5TnlVeU1pVXpRU1UzUWlVeU1tbGtKVEl5SlROQkpUSXliR1ZYVUZwcGVVaGFXVGt3TnpFeU55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RGVXUlhUSEo2VUhoSE5EWTNNall3SlRJeUpUZEVKVEpESlRkQ0pUSXlibUZ0WlNVeU1pVXpRU1V5TWlWRk5TVTVNQ1U0UkNWRk55VkJOeVZDTUNVeU1pVXlReVV5TW5SNWNHVWxNaklsTTBFbE1qSnpkSEpwYm1jbE1qSWxNa01sTWpKMllXeDFaU1V5TWlVelFTVXlNaVV5TWlVeVF5VXlNbU5oZEdWbmIzSjVKVEl5SlROQkpUSXlaR1ZtWVhWc2RDVXlNaVV5UXlVeU1tbGtKVEl5SlROQkpUSXliV2g0YldkR2VraHJUVGN6TURJNE15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5aNFZHeDNXRVpMWkhVMk5qa3hORFVsTWpJbE4wUWxNa01sTjBJbE1qSnVZVzFsSlRJeUpUTkJKVEl5SlVVNEpVSkdKVGxGSlVVMkpUaEZKVUUxSlRJeUpUSkRKVEl5ZEhsd1pTVXlNaVV6UVNVeU1teHBibXNsTWpJbE1rTWxNakoyWVd4MVpTVXlNaVV6UVNVeU1pVXlNaVV5UXlVeU1tTmhkR1ZuYjNKNUpUSXlKVE5CSlRJeVpHVm1ZWFZzZENVeU1pVXlReVV5TW1sa0pUSXlKVE5CSlRJeWVtdFpZWFpxYzBwelJ6YzVORFU1TXlVeU1pVTNSQ1V5UXlVM1FpVXlNbTVoYldVbE1qSWxNMEVsTWpJbFJUUWxRa1VsUWtZbFJUY2xRVU1sUWtFbE1qSWxNa01sTWpKMGVYQmxKVEl5SlROQkpUSXljM1J5YVc1bkpUSXlKVEpESlRJeWRtRnNkV1VsTWpJbE0wRWxNaklsTWpJbE1rTWxNakpqWVhSbFoyOXllU1V5TWlVelFTVXlNbVJsWm1GMWJIUWxNaklsTWtNbE1qSnBaQ1V5TWlVelFTVXlNbEp6VjNKSmVuWkJkMU0xTURFM05UVWxNaklsTjBRbE5VUWxNa01sTWpKd2NtOXdjeVV5TWlVelFTVTNRaVV5TW5nbE1qSWxNMEUzTnlVeVF5VXlNbmtsTWpJbE0wRXpNallsTWtNbE1qSjNKVEl5SlROQk9UWWxNa01sTWpKb0pUSXlKVE5CTlRRbE1rTWxNako2YVc1a1pYZ2xNaklsTTBFMU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JeWMybDZaU1V5TWlVelFURTRKVGRFSlRKREpUSXlkR1Y0ZEVKc2IyTnJKVEl5SlROQkpUVkNKVGRDSlRJeWNHOXphWFJwYjI0bE1qSWxNMEVsTjBJbE1qSjRKVEl5SlROQk1UQWxNa01sTWpKNUpUSXlKVE5CTUNVeVF5VXlNbmNsTWpJbE0wRWxNakozTFRJd0pUSXlKVEpESlRJeWFDVXlNaVV6UVNVeU1tZ2xNaklsTjBRbE1rTWxNakowWlhoMEpUSXlKVE5CSlRJeVFTVTFRak14SlROQk1UWWxOVVF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jBTV050VEZaMmFXeHZOakF3TnpFMUpUSXlKVE5CSlRkQ0pUSXlhV1FsTWpJbE0wRWxNakowU1dOdFRGWjJhV3h2TmpBd056RTF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QjNjMXBVUjJKWGNVMHdPVFl4T0RnbE1qSWxOMFFsTWtNbE4wSWxNakp1WVcxbEpUSXlKVE5CSlRJeUpVVTFKVGt3SlRoRUpVVTNKVUUzSlVJd0pUSXlKVEpESlRJeWRIbHdaU1V5TWlVelFTVXlNbk4wY21sdVp5VXlNaVV5UXlVeU1uWmhiSFZsSlRJeUpUTkJKVEl5SlRJeUpUSkRKVEl5WTJGMFpXZHZjbmtsTWpJbE0wRWxNakprWldaaGRXeDBKVEl5SlRKREpUSXlhV1FsTWpJbE0wRWxNakpoVTJ4YWRrTlRkM2RLTVRJMU9EWTF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FsRkpXWEZEYW1ORFVUZ3dPREk1T1NVeU1pVTNSQ1V5UXlVM1FpVXlNbTVoYldVbE1qSWxNMEVsTWpJbFJUZ2xRa1lsT1VVbFJUWWxPRVVsUVRVbE1qSWxNa01sTWpKMGVYQmxKVEl5SlROQkpUSXliR2x1YXlVeU1pVXlReVV5TW5aaGJIVmxKVEl5SlROQkpUSXlKVEl5SlRKREpUSXlZMkYwWldkdmNua2xNaklsTTBFbE1qSmtaV1poZFd4MEpUSXlKVEpESlRJeWFXUWxNaklsTTBFbE1qSk5jRmx4ZDNwaGFIWk5NVGszT0RnMEpUSXlKVGRFSlRKREpUZENKVEl5Ym1GdFpTVXlNaVV6UVNVeU1pVkZOQ1ZDUlNWQ1JpVkZOeVZCUXlWQ1FTVXlNaVV5UXlVeU1uUjVjR1VsTWpJbE0wRWxNakp6ZEhKcGJtY2xNaklsTWtNbE1qSjJZV3gxWlNVeU1pVXpRU1V5TWlVeU1pVXlReVV5TW1OaGRHVm5iM0o1SlRJeUpUTkJKVEl5WkdWbVlYVnNkQ1V5TWlVeVF5VXlNbWxrSlRJeUpUTkJKVEl5ZWt0dFJsSkVVWE5IYVRRM016RTJNQ1V5TWlVM1JDVTFSQ1V5UXlVeU1uQnliM0J6SlRJeUpUTkJKVGRDSlRJeWVDVXlNaVV6UVRJek1pVXlReVV5TW5rbE1qSWxNMEV6TWpZbE1rTWxNakozSlRJeUpUTkJPVFlsTWtNbE1qSm9KVEl5SlROQk5UUWxNa01sTWpKNmFXNWtaWGdsTWpJbE0wRTJ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jMmw2WlNVeU1pVXpRVEU0SlRkRUpUSkRKVEl5ZEdWNGRFSnNiMk5ySlRJeUpUTkJKVFZDSlRkQ0pUSXljRzl6YVhScGIyNGxNaklsTTBFbE4wSWxNako0SlRJeUpUTkJNVEFsTWtNbE1qSjVKVEl5SlROQk1DVXlReVV5TW5jbE1qSWxNMEVsTWpKM0xUSXdKVEl5SlRKREpUSXlhQ1V5TWlVelFTVXlNbWdsTWpJbE4wUWxNa01sTWpKMFpYaDBKVEl5SlROQkpUSXlRaVUxUWpFMUpVVkdKVUpESlRsQk1DVTFS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tVnJTMjVLYVVwbFJXZzJOekkwTVRZbE1qSWxNMEVsTjBJbE1qSnBaQ1V5TWlVelFTVXlNbVZyUzI1S2FVcGxSV2cyTnpJME1UW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WJsVmpjSEpNY0VsSmFUSXlNRFUwT1NVeU1pVTNSQ1V5UXlVM1FpVXlNbTVoYldVbE1qSWxNMEVsTWpJbFJUVWxPVEFsT0VRbFJUY2xRVGNsUWpBbE1qSWxNa01sTWpKMGVYQmxKVEl5SlROQkpUSXljM1J5YVc1bkpUSXlKVEpESlRJeWRtRnNkV1VsTWpJbE0wRWxNaklsTWpJbE1rTWxNakpqWVhSbFoyOXllU1V5TWlVelFTVXlNbVJsWm1GMWJIUWxNaklsTWtNbE1qSnBaQ1V5TWlVelFTVXlNbU5NYlZoeFZGQkNWV1k0T1RBM09Ea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WFUwTjFjVTUwZWxOTU9UWTNOamcxSlRJeUpUZEVKVEpESlRkQ0pUSXlibUZ0WlNVeU1pVXpRU1V5TWlWRk9DVkNSaVU1UlNWRk5pVTRSU1ZCTlNVeU1pVXlReVV5TW5SNWNHVWxNaklsTTBFbE1qSnNhVzVySlRJeUpUSkRKVEl5ZG1Gc2RXVWxNaklsTTBFbE1qSWxNaklsTWtNbE1qSmpZWFJsWjI5eWVTVXlNaVV6UVNVeU1tUmxabUYxYkhRbE1qSWxNa01sTWpKcFpDVXlNaVV6UVNVeU1tTlRWMDVzVEZkMVpsYzBOakU0T0RRbE1qSWxOMFFsTWtNbE4wSWxNakp1WVcxbEpUSXlKVE5CSlRJeUpVVTBKVUpGSlVKR0pVVTNKVUZESlVKQkpUSXlKVEpESlRJeWRIbHdaU1V5TWlVelFTVXlNbk4wY21sdVp5VXlNaVV5UXlVeU1uWmhiSFZsSlRJeUpUTkJKVEl5SlRJeUpUSkRKVEl5WTJGMFpXZHZjbmtsTWpJbE0wRWxNakprWldaaGRXeDBKVEl5SlRKREpUSXlhV1FsTWpJbE0wRWxNakpJYTB0UWFHOTFhbEZHTnprd01EVTVKVEl5SlRkRUpUVkVKVEpESlRJeWNISnZjSE1sTWpJbE0wRWxOMElsTWpKNEpUSXlKVE5CTnpjbE1rTWxNako1SlRJeUpUTkJOREl5SlRKREpUSXlkeVV5TWlVelFUazJKVEpESlRJeWFDVXlNaVV6UVRVMEpUSkRKVEl5ZW1sdVpHVjRKVEl5SlROQk55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eU1uTnBlbVVsTWpJbE0wRXhPQ1UzUkNVeVF5VXlNblJsZUhSQ2JHOWpheVV5TWlVelFTVTFRaVUzUWlVeU1uQnZjMmwwYVc5dUpUSXlKVE5CSlRkQ0pUSXllQ1V5TWlVelFURXdKVEpESlRJeWVTVXlNaVV6UVRBbE1rTWxNakozSlRJeUpUTkJKVEl5ZHkweU1DVXlNaVV5UXlVeU1tZ2xNaklsTTBFbE1qSm9KVEl5SlRkRUpUSkRKVEl5ZEdWNGRDVXlNaVV6UVNVeU1rRWxOVUl6TVNVelFURTJKVFZF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Wa2R1UW5KWGJXeHVUVEUzTlRrM05DVXlNaVV6UVNVM1FpVXlNbWxrSlRJeUpUTkJKVEl5VmtkdVFuSlhiV3h1VFRFM05UazNOQ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nZiVkJxWjBaSmJHdHVNREk1TURjMkpUSXlKVGRFSlRKREpUZENKVEl5Ym1GdFpTVXlNaVV6UVNVeU1pVkZOU1U1TUNVNFJDVkZOeVZCTnlWQ01DVXlNaVV5UXlVeU1uUjVjR1VsTWpJbE0wRWxNakp6ZEhKcGJtY2xNaklsTWtNbE1qSjJZV3gxWlNVeU1pVXpRU1V5TWlVeU1pVXlReVV5TW1OaGRHVm5iM0o1SlRJeUpUTkJKVEl5WkdWbVlYVnNkQ1V5TWlVeVF5VXlNbWxrSlRJeUpUTkJKVEl5ZFVSQmVIUmlaMVZGVERrd05qQTNN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uWjJSMjlZWTFOeWVGVXpPVGswTkRBbE1qSWxOMFFsTWtNbE4wSWxNakp1WVcxbEpUSXlKVE5CSlRJeUpVVTRKVUpHSlRsRkpVVTJKVGhGSlVFMUpUSXlKVEpESlRJeWRIbHdaU1V5TWlVelFTVXlNbXhwYm1zbE1qSWxNa01sTWpKMllXeDFaU1V5TWlVelFTVXlNaVV5TWlVeVF5VXlNbU5oZEdWbmIzSjVKVEl5SlROQkpUSXlaR1ZtWVhWc2RDVXlNaVV5UXlVeU1tbGtKVEl5SlROQkpUSXlla1IyWm01bGRHcHlSekk0TXpFeE1pVXlNaVUzUkNVeVF5VTNRaVV5TW01aGJXVWxNaklsTTBFbE1qSWxSVFFsUWtVbFFrWWxSVGNsUVVNbFFrRWxNaklsTWtNbE1qSjBlWEJsSlRJeUpUTkJKVEl5YzNSeWFXNW5KVEl5SlRKREpUSXlkbUZzZFdVbE1qSWxNMEVsTWpJbE1qSWxNa01sTWpKallYUmxaMjl5ZVNVeU1pVXpRU1V5TW1SbFptRjFiSFFsTWpJbE1rTWxNakpwWkNVeU1pVXpRU1V5TWxwWmEzcFpjRWxwY1Zrd056ZzRORGtsTWpJbE4wUWxOVVFsTWtNbE1qSndjbTl3Y3lVeU1pVXpRU1UzUWlVeU1uZ2xNaklsTTBFeU16SWxNa01sTWpKNUpUSXlKVE5CTkRJeUpUSkRKVEl5ZHlVeU1pVXpRVGsySlRKREpUSXlhQ1V5TWlVelFUVTBKVEpESlRJeWVtbHVaR1Y0SlRJeUpUTkJPQ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k5wZW1VbE1qSWxNMEV4T0NVM1JDVXlReVV5TW5SbGVIUkNiRzlqYXlVeU1pVXpRU1UxUWlVM1FpVXlNbkJ2YzJsMGFXOXVKVEl5SlROQkpUZENKVEl5ZUNVeU1pVXpRVEV3SlRKREpUSXllU1V5TWlVelFUQWxNa01sTWpKM0pUSXlKVE5CSlRJeWR5MHlNQ1V5TWlVeVF5VXlNbWdsTWpJbE0wRWxNakpvSlRJeUpUZEVKVEpESlRJeWRHVjRkQ1V5TWlVelFTVXlNa0lsTlVJek1TVXpRVEUySlRWR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Y205V1lXVnZiVXhJZERRME5USTBNaVV5TWlVelFTVTNRaVV5TW1sa0pUSXlKVE5CSlRJeWNtOVdZV1Z2YlV4SWREUTBOVEkwTWl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pWWtKWVIxTmpiWE5rTkRBNU9EWXhKVEl5SlRkRUpUSkRKVGRDSlRJeWJtRnRaU1V5TWlVelFTVXlNaVZGTlNVNU1DVTRSQ1ZGTnlWQk55VkNNQ1V5TWlVeVF5VXlNblI1Y0dVbE1qSWxNMEVsTWpKemRISnBibWNsTWpJbE1rTWxNakoyWVd4MVpTVXlNaVV6UVNVeU1pVXlNaVV5UXlVeU1tTmhkR1ZuYjNKNUpUSXlKVE5CSlRJeVpHVm1ZWFZzZENVeU1pVXlReVV5TW1sa0pUSXlKVE5CSlRJeWJWZE5WWFpyVTBScVpEVXdOek15Tl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WRIZDBwNFQzbHlkMms0TWprNE5qUWxNaklsTjBRbE1rTWxOMElsTWpKdVlXMWxKVEl5SlROQkpUSXlKVVU0SlVKR0pUbEZKVVUySlRoRkpVRTFKVEl5SlRKREpUSXlkSGx3WlNVeU1pVXpRU1V5TW14cGJtc2xNaklsTWtNbE1qSjJZV3gxWlNVeU1pVXpRU1V5TWlVeU1pVXlReVV5TW1OaGRHVm5iM0o1SlRJeUpUTkJKVEl5WkdWbVlYVnNkQ1V5TWlVeVF5VXlNbWxrSlRJeUpUTkJKVEl5ZDBWbmQzaG5SRWx2VWpZME1EWTJOQ1V5TWlVM1JDVXlReVUzUWlVeU1tNWhiV1VsTWpJbE0wRWxNaklsUlRRbFFrVWxRa1lsUlRjbFFVTWxRa0VsTWpJbE1rTWxNakowZVhCbEpUSXlKVE5CSlRJeWMzUnlhVzVuSlRJeUpUSkRKVEl5ZG1Gc2RXVWxNaklsTTBFbE1qSWxNaklsTWtNbE1qSmpZWFJsWjI5eWVTVXlNaVV6UVNVeU1tUmxabUYxYkhRbE1qSWxNa01sTWpKcFpDVXlNaVV6UVNVeU1rcHFkbmxPWTNKQlpFODNOamsxTWpNbE1qSWxOMFFsTlVRbE1rTWxNakp3Y205d2N5VXlNaVV6UVNVM1FpVXlNbmdsTWpJbE0wRXpPRGNsTWtNbE1qSjVKVEl5SlROQk1UTTBKVEpESlRJeWR5VXlNaVV6UVRrMkpUSkRKVEl5YUNVeU1pVXpRVFUwSlRKREpUSXllbWx1WkdWNEpUSXlKVE5CT1N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V5TW5OcGVtVWxNaklsTTBFeU1DVTNSQ1V5UXlVeU1uUmxlSFJDYkc5amF5VXlNaVV6UVNVMVFpVTNRaVV5TW5CdmMybDBhVzl1SlRJeUpUTkJKVGRDSlRJeWVDVXlNaVV6UVRFd0pUSkRKVEl5ZVNVeU1pVXpRVEFsTWtNbE1qSjNKVEl5SlROQkpUSXlkeTB5TUNVeU1pVXlReVV5TW1nbE1qSWxNMEVsTWpKb0pUSXlKVGRFSlRKREpUSXlkR1Y0ZENVeU1pVXpRU1V5TWt4TU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UjBac2FuZGtWazlaWmpRM09EQXpPQ1V5TWlVelFTVTNRaVV5TW1sa0pUSXlKVE5CSlRJeVIwWnNhbmRrVms5WlpqUTNPREF6T0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UVG1aWGVYZFdjMGhXTnpBd05EUXlKVEl5SlRkRUpUSkRKVGRDSlRJeWJtRnRaU1V5TWlVelFTVXlNaVZGTlNVNU1DVTRSQ1ZGTnlWQk55VkNNQ1V5TWlVeVF5VXlNblI1Y0dVbE1qSWxNMEVsTWpKemRISnBibWNsTWpJbE1rTWxNakoyWVd4MVpTVXlNaVV6UVNVeU1pVXlNaVV5UXlVeU1tTmhkR1ZuYjNKNUpUSXlKVE5CSlRJeVpHVm1ZWFZzZENVeU1pVXlReVV5TW1sa0pUSXlKVE5CSlRJeWRuWmtjMmRvZDIxeldEUXdOVFV5T0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WgxY25WdlIxTk9jMFEzT0RZek5qTWxNaklsTjBRbE1rTWxOMElsTWpKdVlXMWxKVEl5SlROQkpUSXlKVVU0SlVKR0pUbEZKVVUySlRoRkpVRTFKVEl5SlRKREpUSXlkSGx3WlNVeU1pVXpRU1V5TW14cGJtc2xNaklsTWtNbE1qSjJZV3gxWlNVeU1pVXpRU1V5TWlVeU1pVXlReVV5TW1OaGRHVm5iM0o1SlRJeUpUTkJKVEl5WkdWbVlYVnNkQ1V5TWlVeVF5VXlNbWxrSlRJeUpUTkJKVEl5VVcxWWVWUkVhazlZWnpreU9EVXhNU1V5TWlVM1JDVXlReVUzUWlVeU1tNWhiV1VsTWpJbE0wRWxNaklsUlRRbFFrVWxRa1lsUlRjbFFVTWxRa0VsTWpJbE1rTWxNakowZVhCbEpUSXlKVE5CSlRJeWMzUnlhVzVuSlRJeUpUSkRKVEl5ZG1Gc2RXVWxNaklsTTBFbE1qSWxNaklsTWtNbE1qSmpZWFJsWjI5eWVTVXlNaVV6UVNVeU1tUmxabUYxYkhRbE1qSWxNa01sTWpKcFpDVXlNaVV6UVNVeU1uTk1jMVJ5UkZwVFdIUTNPVE13TmpnbE1qSWxOMFFsTlVRbE1rTWxNakp3Y205d2N5VXlNaVV6UVNVM1FpVXlNbmdsTWpJbE0wRXpPRGNsTWtNbE1qSjVKVEl5SlROQk1qTXdKVEpESlRJeWR5VXlNaVV6UVRrMkpUSkRKVEl5YUNVeU1pVXpRVFUwSlRKREpUSXllbWx1WkdWNEpUSXlKVE5CTVRB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emFYcGxKVEl5SlROQk1qQWxOMFFsTWtNbE1qSjBaWGgwUW14dlkyc2xNaklsTTBFbE5VSWxOMElsTWpKd2IzTnBkR2x2YmlVeU1pVXpRU1UzUWlVeU1uZ2xNaklsTTBFeE1DVXlReVV5TW5rbE1qSWxNMEV3SlRKREpUSXlkeVV5TWlVelFTVXlNbmN0TWpBbE1qSWxNa01sTWpKb0pUSXlKVE5CSlRJeWFDVXlNaVUzUkNVeVF5VXlNblJsZUhRbE1qSWxNMEVsTWpKTVND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1wWmRXeEhRV05DWkVrMU16Y3lPVGdsTWpJbE0wRWxOMElsTWpKcFpDVXlNaVV6UVNVeU1tcFpkV3hIUVdOQ1pFazFNemN5T1RnbE1qSWxNa01sTWpKdVlXMWxKVEl5SlROQkpUSXljbVZqZEdGdVoyeGxKVEl5SlRKREpUSXlkR2wwYkdVbE1qSWxNMEVsTWp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V2twRVpWaEpja2x3ZWpNeE9UUXhOU1V5TWlVM1JDVXlReVUzUWlVeU1tNWhiV1VsTWpJbE0wRWxNaklsUlRVbE9UQWxPRVFsUlRjbFFUY2xRakFsTWpJbE1rTWxNakowZVhCbEpUSXlKVE5CSlRJeWMzUnlhVzVuSlRJeUpUSkRKVEl5ZG1Gc2RXVWxNaklsTTBFbE1qSWxNaklsTWtNbE1qSmpZWFJsWjI5eWVTVXlNaVV6UVNVeU1tUmxabUYxYkhRbE1qSWxNa01sTWpKcFpDVXlNaVV6UVNVeU1rbE1WM0J0ZGxCbVpXdzBOelkwT0RF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PYmtoeWJVaHpWMmROT0RreE1EazVKVEl5SlRkRUpUSkRKVGRDSlRJeWJtRnRaU1V5TWlVelFTVXlNaVZGT0NWQ1JpVTVSU1ZGTmlVNFJTVkJOU1V5TWlVeVF5VXlNblI1Y0dVbE1qSWxNMEVsTWpKc2FXNXJKVEl5SlRKREpUSXlkbUZzZFdVbE1qSWxNMEVsTWpJbE1qSWxNa01sTWpKallYUmxaMjl5ZVNVeU1pVXpRU1V5TW1SbFptRjFiSFFsTWpJbE1rTWxNakpwWkNVeU1pVXpRU1V5TWxkRWRrVllTM2xVU0U0ME1URTJOalVsTWpJbE4wUWxNa01sTjBJbE1qSnVZVzFsSlRJeUpUTkJKVEl5SlVVMEpVSkZKVUpHSlVVM0pVRkRKVUpCSlRJeUpUSkRKVEl5ZEhsd1pTVXlNaVV6UVNVeU1uTjBjbWx1WnlVeU1pVXlReVV5TW5aaGJIVmxKVEl5SlROQkpUSXlKVEl5SlRKREpUSXlZMkYwWldkdmNua2xNaklsTTBFbE1qSmtaV1poZFd4MEpUSXlKVEpESlRJeWFXUWxNaklsTTBFbE1qSk9TWFp0UTBaeWRtNVVORE0wTlRFMUpUSXlKVGRFSlRWRUpUSkRKVEl5Y0hKdmNITWxNaklsTTBFbE4wSWxNako0SlRJeUpUTkJNemczSlRKREpUSXllU1V5TWlVelFUTXlOaVV5UXlVeU1uY2xNaklsTTBFNU5pVXlReVV5TW1nbE1qSWxNMEUxTkNVeVF5VXlNbnBwYm1SbGVDVXlNaVV6UVRFeEpUSkRKVEl5WVc1bmJHVWxNaklsTTBFd0pUZEVKVEpESlRJeWMyaGhjR1ZUZEhsc1pTVXlNaVV6UVNVM1FpVXlNbUZzY0doaEpUSXlKVE5CTVNVM1JDVXlReVV5TW14cGJtVlRkSGxzWlNVeU1pVXpRU1UzUWlVeU1teHBibVZYYVdSMGFDVXlNaVV6UVRFdU5TVTNSQ1V5UXlVeU1tWnBiR3hUZEhsc1pTVXlNaVV6UVNVM1F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JeWMybDZaU1V5TWlVelFUSXdKVGRFSlRKREpUSXlkR1Y0ZEVKc2IyTnJKVEl5SlROQkpUVkNKVGRDSlRJeWNHOXphWFJwYjI0bE1qSWxNMEVsTjBJbE1qSjRKVEl5SlROQk1UQWxNa01sTWpKNUpUSXlKVE5CTUNVeVF5VXlNbmNsTWpJbE0wRWxNakozTFRJd0pUSXlKVEpESlRJeWFDVXlNaVV6UVNVeU1tZ2xNaklsTjBRbE1rTWxNakowWlhoMEpUSXlKVE5CSlRJeVNFd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QlVFTmtiV1ZPUWxOUk5UQXdNekF5SlRJeUpUTkJKVGRDSlRJeWFXUWxNaklsTTBFbE1qSkJVRU5rYldWT1FsTlJOVEF3TXpBeU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1GalIxQmtlRTFsZUUwMk5UQXlOVFlsTWpJbE4wUWxNa01sTjBJbE1qSnVZVzFsSlRJeUpUTkJKVEl5SlVVMUpUa3dKVGhFSlVVM0pVRTNKVUl3SlRJeUpUSkRKVEl5ZEhsd1pTVXlNaVV6UVNVeU1uTjBjbWx1WnlVeU1pVXlReVV5TW5aaGJIVmxKVEl5SlROQkpUSXlKVEl5SlRKREpUSXlZMkYwWldkdmNua2xNaklsTTBFbE1qSmtaV1poZFd4MEpUSXlKVEpESlRJeWFXUWxNaklsTTBFbE1qSkNkRlZpVEVGcldIWnNNalExT1RJeE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V1ZWc1JWUjZWV0psYkRVME1EWTNOaVV5TWlVM1JDVXlReVUzUWlVeU1tNWhiV1VsTWpJbE0wRWxNaklsUlRnbFFrWWxPVVVsUlRZbE9FVWxRVFVsTWpJbE1rTWxNakowZVhCbEpUSXlKVE5CSlRJeWJHbHVheVV5TWlVeVF5VXlNblpoYkhWbEpUSXlKVE5CSlRJeUpUSXlKVEpESlRJeVkyRjBaV2R2Y25rbE1qSWxNMEVsTWpKa1pXWmhkV3gwSlRJeUpUSkRKVEl5YVdRbE1qSWxNMEVsTWpKMlEzWkVkVTFUUVZKa01qWTJNelV6SlRJeUpUZEVKVEpESlRkQ0pUSXlibUZ0WlNVeU1pVXpRU1V5TWlWRk5DVkNSU1ZDUmlWRk55VkJReVZDUVNVeU1pVXlReVV5TW5SNWNHVWxNaklsTTBFbE1qSnpkSEpwYm1jbE1qSWxNa01sTWpKMllXeDFaU1V5TWlVelFTVXlNaVV5TWlVeVF5VXlNbU5oZEdWbmIzSjVKVEl5SlROQkpUSXlaR1ZtWVhWc2RDVXlNaVV5UXlVeU1tbGtKVEl5SlROQkpUSXlRMU51VW1aRVRIaFdTRFUxT1RFeE15VXlNaVUzUkNVMVJDVXlReVV5TW5CeWIzQnpKVEl5SlROQkpUZENKVEl5ZUNVeU1pVXpRVE00TnlVeVF5VXlNbmtsTWpJbE0wRTBNaklsTWtNbE1qSjNKVEl5SlROQk9UWWxNa01sTWpKb0pUSXlKVE5CTlRRbE1rTWxNako2YVc1a1pYZ2xNaklsTTBFeE1p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eU1uTnBlbVVsTWpJbE0wRXlNQ1UzUkNVeVF5VXlNblJsZUhSQ2JHOWpheVV5TWlVelFTVTFRaVUzUWlVeU1uQnZjMmwwYVc5dUpUSXlKVE5CSlRkQ0pUSXllQ1V5TWlVelFURXdKVEpESlRJeWVTVXlNaVV6UVRBbE1rTWxNakozSlRJeUpUTkJKVEl5ZHkweU1DVXlNaVV5UXlVeU1tZ2xNaklsTTBFbE1qSm9KVEl5SlRkRUpUSkRKVEl5ZEdWNGRDVXlNaVV6UVNVeU1raE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ZXcFBjWFZoWVhod1pUQTJPRFV6TkNVeU1pVXpRU1UzUWlVeU1tbGtKVEl5SlROQkpUSXlWV3BQY1hWaFlYaHdaVEEyT0RVek5DVXlNaVV5UXlVeU1tNWhiV1VsTWpJbE0wRWxNakp6ZEdGdVpHRnlaRlJsZUhRbE1qSWxNa01sTWpKMGFYUnNaU1V5TWlVelFTVXlNaVV5TWlVeVF5VXlNbU5oZEdWbmIzSjVKVEl5SlROQkpUSXljM1JoYm1SaGNtU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5VUWxNa01sTWpKd2NtOXdjeVV5TWlVelFTVTNRaVV5TW5nbE1qSWxNMEV4TlRVbE1rTWxNako1SlRJeUpUTkJNVFF4SlRKREpUSXlkeVV5TWlVelFURXdNQ1V5UXlVeU1tZ2xNaklsTTBFME1DVXlReVV5TW5wcGJtUmxlQ1V5TWlVelFURXpKVEpESlRJeVlXNW5iR1VsTWpJbE0wRXdKVGRFSlRKREpUSXljMmhoY0dWVGRIbHNaU1V5TWlVelFTVTNRaVV5TW1Gc2NHaGhKVEl5SlROQk1TVTNSQ1V5UXlVeU1teHBibVZUZEhsc1pTVXlNaVV6UVNVM1Fp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YzJsNlpTVXlNaVV6UVRJd0pUZEVKVEpESlRJeWRHVjRkRUpzYjJOckpUSXlKVE5CSlRWQ0pUZENKVEl5Y0c5emFYUnBiMjRsTWpJbE0wRWxOMElsTWpKNEpUSXlKVE5CTUNVeVF5VXlNbmtsTWpJbE0wRXdKVEpESlRJeWR5VXlNaVV6UVNVeU1uY2xNaklsTWtNbE1qSm9KVEl5SlROQkpUSXlhQ1V5TWlVM1JDVXlReVV5TW5SbGVIUWxNaklsTTBFbE1qSl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ZXeHVkRk5TYkd4UWJ6SXlOREUxTXlVeU1pVXpRU1UzUWlVeU1tbGtKVEl5SlROQkpUSXlWV3h1ZEZOU2JHeFFiekl5TkRFMU15VXlNaVV5UXlVeU1tNWhiV1VsTWpJbE0wRWxNakp6ZEdGdVpHRnlaRlJsZUhRbE1qSWxNa01sTWpKMGFYUnNaU1V5TWlVelFTVXlNaVV5TWlVeVF5VXlNbU5oZEdWbmIzSjVKVEl5SlROQkpUSXljM1JoYm1SaGNtU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5VUWxNa01sTWpKd2NtOXdjeVV5TWlVelFTVTNRaVV5TW5nbE1qSWxNMEV4TlRVbE1rTWxNako1SlRJeUpUTkJNak0zSlRKREpUSXlkeVV5TWlVelFURXdNQ1V5UXlVeU1tZ2xNaklsTTBFME1DVXlReVV5TW5wcGJtUmxlQ1V5TWlVelFURTBKVEpESlRJeVlXNW5iR1VsTWpJbE0wRXdKVGRFSlRKREpUSXljMmhoY0dWVGRIbHNaU1V5TWlVelFTVTNRaVV5TW1Gc2NHaGhKVEl5SlROQk1TVTNSQ1V5UXlVeU1teHBibVZUZEhsc1pTVXlNaVV6UVNVM1Fp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YzJsNlpTVXlNaVV6UVRJd0pUZEVKVEpESlRJeWRHVjRkRUpzYjJOckpUSXlKVE5CSlRWQ0pUZENKVEl5Y0c5emFYUnBiMjRsTWpJbE0wRWxOMElsTWpKNEpUSXlKVE5CTUNVeVF5VXlNbmtsTWpJbE0wRXdKVEpESlRJeWR5VXlNaVV6UVNVeU1uY2xNaklsTWtNbE1qSm9KVEl5SlROQkpUSXlhQ1V5TWlVM1JDVXlReVV5TW5SbGVIUWxNaklsTTBFbE1qSl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NIaFNjRmRRYkZCcFVUSTBOemc1TVNVeU1pVXpRU1UzUWlVeU1tbGtKVEl5SlROQkpUSXljSGhTY0ZkUWJGQnBVVEkwTnpnNU1TVXlNaVV5UXlVeU1tNWhiV1VsTWpJbE0wRWxNakp6ZEdGdVpHRnlaRlJsZUhRbE1qSWxNa01sTWpKMGFYUnNaU1V5TWlVelFTVXlNaVV5TWlVeVF5VXlNbU5oZEdWbmIzSjVKVEl5SlROQkpUSXljM1JoYm1SaGNtU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5VUWxNa01sTWpKd2NtOXdjeVV5TWlVelFTVTNRaVV5TW5nbE1qSWxNMEV4TlRVbE1rTWxNako1SlRJeUpUTkJNek16SlRKREpUSXlkeVV5TWlVelFURXdNQ1V5UXlVeU1tZ2xNaklsTTBFME1DVXlReVV5TW5wcGJtUmxlQ1V5TWlVelFURTFKVEpESlRJeVlXNW5iR1VsTWpJbE0wRXdKVGRFSlRKREpUSXljMmhoY0dWVGRIbHNaU1V5TWlVelFTVTNRaVV5TW1Gc2NHaGhKVEl5SlROQk1TVTNSQ1V5UXlVeU1teHBibVZUZEhsc1pTVXlNaVV6UVNVM1Fp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YzJsNlpTVXlNaVV6UVRJd0pUZEVKVEpESlRJeWRHVjRkRUpzYjJOckpUSXlKVE5CSlRWQ0pUZENKVEl5Y0c5emFYUnBiMjRsTWpJbE0wRWxOMElsTWpKNEpUSXlKVE5CTUNVeVF5VXlNbmtsTWpJbE0wRXdKVEpESlRJeWR5VXlNaVV6UVNVeU1uY2xNaklsTWtNbE1qSm9KVEl5SlROQkpUSXlhQ1V5TWlVM1JDVXlReVV5TW5SbGVIUWxNaklsTTBFbE1qSl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VNXNW5RWGh0UkdadFJETXdPRFF4TUNVeU1pVXpRU1UzUWlVeU1tbGtKVEl5SlROQkpUSXlTVzVuUVhodFJHWnRSRE13T0RReE1DVXlNaVV5UXlVeU1tNWhiV1VsTWpJbE0wRWxNakp6ZEdGdVpHRnlaRlJsZUhRbE1qSWxNa01sTWpKMGFYUnNaU1V5TWlVelFTVXlNaVV5TWlVeVF5VXlNbU5oZEdWbmIzSjVKVEl5SlROQkpUSXljM1JoYm1SaGNtU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5VUWxNa01sTWpKd2NtOXdjeVV5TWlVelFTVTNRaVV5TW5nbE1qSWxNMEV4TlRVbE1rTWxNako1SlRJeUpUTkJOREk1SlRKREpUSXlkeVV5TWlVelFURXdNQ1V5UXlVeU1tZ2xNaklsTTBFME1DVXlReVV5TW5wcGJtUmxlQ1V5TWlVelFURTJKVEpESlRJeVlXNW5iR1VsTWpJbE0wRXdKVGRFSlRKREpUSXljMmhoY0dWVGRIbHNaU1V5TWlVelFTVTNRaVV5TW1Gc2NHaGhKVEl5SlROQk1TVTNSQ1V5UXlVeU1teHBibVZUZEhsc1pTVXlNaVV6UVNVM1FpVTNSQ1V5UXlVeU1tWnBiR3hUZEhsc1pTVXlNaVV6UVNVM1FpVTNSQ1V5UXlVeU1uUm9aVzFsSlRJeUpUTkJKVGRDSlRkRUpUSkRKVEl5Y0dGMGFDVXlNaVV6UVNVMVFpVTNRaVV5TW14cGJtVlRkSGxzWlNVeU1pVXpRU1UzUWlVeU1teHBibVZYYVdSMGFDVXlNaVV6UVRBbE4wUWxNa01sTWpKbWFXeHNVM1I1YkdVbE1qSWxNMEVsTjBJbE1qSjBlWEJsSlRJeUpUTkJKVEl5Ym05dVpTVXlNaVUzUkNVeVF5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YzJsNlpTVXlNaVV6UVRJd0pUZEVKVEpESlRJeWRHVjRkRUpzYjJOckpUSXlKVE5CSlRWQ0pUZENKVEl5Y0c5emFYUnBiMjRsTWpJbE0wRWxOMElsTWpKNEpUSXlKVE5CTUNVeVF5VXlNbmtsTWpJbE0wRXdKVEpESlRJeWR5VXlNaVV6UVNVeU1uY2xNaklsTWtNbE1qSm9KVEl5SlROQkpUSXlhQ1V5TWlVM1JDVXlReVV5TW5SbGVIUWxNaklsTTBFbE1qSl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MwRndWbVJDY2tSMlN6UXdNVEV5TWlVeU1pVXpRU1UzUWlVeU1tNWhiV1VsTWpJbE0wRWxNakpzYVc1clpYSWxNaklsTWtNbE1qSndjbTl3Y3lVeU1pVXpRU1UzUWlVeU1ucHBibVJsZUNVeU1pVXpRVEUzSlRkRUpUSkRKVEl5WkdGMFlVRjBkSEpwWW5WMFpYTWxNaklsTTBFbE5VSWxOVVFsTWtNbE1qSm1jbTl0SlRJeUpUTkJKVGRDSlRJeWVDVXlNaVV6UVRNeU9DVXlReVV5TW5rbE1qSWxNMEV4TmpFbE1rTWxNakpoYm1kc1pTVXlNaVV6UVRNdU1UUXhOVGt5TmpVek5UZzVOemt6TmlVeVF5VXlNbWxrSlRJeUpUTkJKVEl5ZG1aWVRIcFFjblZPVWpZd01UTXpOQ1V5TWlVM1JDVXlReVV5TW5SdkpUSXlKVE5CSlRkQ0pUSXllQ1V5TWlVelFUTTROeVV5UXlVeU1ua2xNaklsTTBFeE5qRWxNa01sTWpKcFpDVXlNaVV6UVNVeU1uSnZWbUZsYjIxTVNIUTBORFV5TkRJbE1qSWxNa01sTWpKaGJtZHNaU1V5TWlVelFUQWxOMFFsTWtNbE1qSm5jbTkxY0NVeU1pVXpRU1V5TWlVeU1pVXlReVV5TW1sa0pUSXlKVE5CSlRJeWMwRndWbVJDY2tSMlN6UXdNVEV5TWlVeU1pVXlReVV5TW14cGJtVlRkSGxzWlNVeU1pVXpRU1UzUWlVeU1teHBibVZYYVdSMGFDVXlNaVV6UVRFdU5TVTNSQ1V5UXlVeU1teHBibXRsY2xSNWNHVWxNaklsTTBFbE1qSmljbTlyWlc0bE1qSWxNa01sTWpKc2IyTnJaV1FsTWpJbE0wRm1ZV3h6WlNVeVF5VXlNbkJ2YVc1MGN5VXlNaVV6UVNVMVFpVTNRaVV5TW5nbE1qSWxNMEV6TlRjdU5TVXlReVV5TW5rbE1qSWxNMEV4TmpFbE4wUWxNa01sTjBJbE1qSjRKVEl5SlROQk16VTNMalVsTWtNbE1qSjVKVEl5SlROQk1UWXhKVGRFSlRWRUpUSkRKVEl5ZEdWNGRDVXlNaVV6UVNVeU1pVXlNaVV5UXlVeU1uUmxlSFJDYkc5amF5VXlNaVV6UVNVMVFpVTFSQ1UzUkNVeVF5VXlNa0pTYkhOV1ZVbE5lRXMzTWpneU1EQWxNaklsTTBFbE4wSWxNakp1WVcxbEpUSXlKVE5CSlRJeWJHbHVhMlZ5SlRJeUpUSkRKVEl5Y0hKdmNITWxNaklsTTBFbE4wSWxNako2YVc1a1pYZ2xNaklsTTBFeE9DVTNSQ1V5UXlVeU1tUmhkR0ZCZEhSeWFXSjFkR1Z6SlRJeUpUTkJKVFZDSlRWRUpUSkRKVEl5Wm5KdmJTVXlNaVV6UVNVM1FpVXlNbmdsTWpJbE0wRXpNamdsTWtNbE1qSjVKVEl5SlROQk1qVTNKVEpESlRJeVlXNW5iR1VsTWpJbE0wRXpMakUwTVRVNU1qWTFNelU0T1RjNU16WWxNa01sTWpKcFpDVXlNaVV6UVNVeU1sTmFjbE5aV21GTlIyczBNREkzTURZbE1qSWxOMFFsTWtNbE1qSjBieVV5TWlVelFTVTNRaVV5TW5nbE1qSWxNMEV6T0RjbE1rTWxNako1SlRJeUpUTkJNalUzSlRKREpUSXlhV1FsTWpJbE0wRWxNakpIUm14cWQyUldUMWxtTkRjNE1ETTRKVEl5SlRKREpUSXlZVzVuYkdVbE1qSWxNMEV3SlRkRUpUSkRKVEl5WjNKdmRYQWxNaklsTTBFbE1qSWxNaklsTWtNbE1qSnBaQ1V5TWlVelFTVXlNa0pTYkhOV1ZVbE5lRXMzTWpneU1EQWxNaklsTWtNbE1qSnNhVzVsVTNSNWJHVWxNaklsTTBFbE4wSWxNakpzYVc1bFYybGtkR2dsTWpJbE0wRXhMalVsTjBRbE1rTWxNakpzYVc1clpYSlVlWEJsSlRJeUpUTkJKVEl5WW5KdmEyVnVKVEl5SlRKREpUSXliRzlqYTJWa0pUSXlKVE5CWm1Gc2MyVWxNa01sTWpKd2IybHVkSE1sTWpJbE0wRWxOVUlsTjBJbE1qSjRKVEl5SlROQk16VTNMalVsTWtNbE1qSjVKVEl5SlROQk1qVTNKVGRFSlRKREpUZENKVEl5ZUNVeU1pVXpRVE0xTnk0MUpUSkRKVEl5ZVNVeU1pVXpRVEkxTnlVM1JDVTFSQ1V5UXlVeU1uUmxlSFFsTWpJbE0wRWxNaklsTWpJbE1rTWxNakowWlhoMFFteHZZMnNsTWpJbE0wRWxOVUlsTlVRbE4wUWxNa01sTWpKc2RVaHVVWGh0VTFGM09UUXlNVE0xSlRJeUpUTkJKVGRDSlRJeWJtRnRaU1V5TWlVelFTVXlNbXhwYm10bGNpVXlNaVV5UXlVeU1uQnliM0J6SlRJeUpUTkJKVGRDSlRJeWVtbHVaR1Y0SlRJeUpUTkJNVGtsTjBRbE1rTWxNakprWVhSaFFYUjBjbWxpZFhSbGN5VXlNaVV6UVNVMVFpVTFSQ1V5UXlVeU1tWnliMjBsTWpJbE0wRWxOMElsTWpKNEpUSXlKVE5CTXpJNEpUSkRKVEl5ZVNVeU1pVXpRVE0xTXlVeVF5VXlNbUZ1WjJ4bEpUSXlKVE5CTXk0eE5ERTFPVEkyTlRNMU9EazNPVE0ySlRKREpUSXlhV1FsTWpJbE0wRWxNakowU1dOdFRGWjJhV3h2TmpBd056RTFKVEl5SlRkRUpUSkRKVEl5ZEc4bE1qSWxNMEVsTjBJbE1qSjRKVEl5SlROQk16ZzNKVEpESlRJeWVTVXlNaVV6UVRNMU15VXlReVV5TW1GdVoyeGxKVEl5SlROQk1DVXlReVV5TW1sa0pUSXlKVE5CSlRJeWFsbDFiRWRCWTBKa1NUVXpOekk1T0NVeU1pVTNSQ1V5UXlVeU1tZHliM1Z3SlRJeUpUTkJKVEl5SlRJeUpUSkRKVEl5YVdRbE1qSWxNMEVsTWpKc2RVaHVVWGh0VTFGM09UUXlNVE0xSlRJeUpUSkRKVEl5YkdsdVpWTjBlV3hsSlRJeUpUTkJKVGRDSlRJeWJHbHVaVmRwWkhSb0pUSXlKVE5CTVM0MUpUZEVKVEpESlRJeWJHbHVhMlZ5Vkhsd1pTVXlNaVV6UVNVeU1tSnliMnRsYmlVeU1pVXlReVV5TW14dlkydGxaQ1V5TWlVelFXWmhiSE5sSlRKREpUSXljRzlwYm5SekpUSXlKVE5CSlRWQ0pUZENKVEl5ZUNVeU1pVXpRVE0xTnk0MUpUSkRKVEl5ZVNVeU1pVXpRVE0xTXlVM1JDVXlReVUzUWlVeU1uZ2xNaklsTTBFek5UY3VOU1V5UXlVeU1ua2xNaklsTTBFek5UTWxOMFFsTlVRbE1rTWxNakowWlhoMEpUSXlKVE5CSlRJeUpUSXlKVEpESlRJeWRHVjRkRUpzYjJOckpUSXlKVE5CSlRWQ0pUVkVKVGRFSlRKREpUSXlVblZUYjBseVUzWmliVEUxTWprek9TVXlNaVV6UVNVM1FpVXlNbTVoYldVbE1qSWxNMEVsTWpKc2FXNXJaWElsTWpJbE1rTWxNakp3Y205d2N5VXlNaVV6UVNVM1FpVXlNbnBwYm1SbGVDVXlNaVV6UVRJd0pUZEVKVEpESlRJeVpHRjBZVUYwZEhKcFluVjBaWE1sTWpJbE0wRWxOVUlsTlVRbE1rTWxNakptY205dEpUSXlKVE5CSlRkQ0pUSXllQ1V5TWlVelFUTXlPQ1V5UXlVeU1ua2xNaklsTTBFME5Ea2xNa01sTWpKaGJtZHNaU1V5TWlVelFUTXVNVFF4TlRreU5qVXpOVGc1Tnprek5pVXlReVV5TW1sa0pUSXlKVE5CSlRJeVZrZHVRbkpYYld4dVRURTNOVGszTkNVeU1pVTNSQ1V5UXlVeU1uUnZKVEl5SlROQkpUZENKVEl5ZUNVeU1pVXpRVE00TnlVeVF5VXlNbmtsTWpJbE0wRTBORGtsTWtNbE1qSnBaQ1V5TWlVelFTVXlNa0ZRUTJSdFpVNUNVMUUxTURBek1ESWxNaklsTWtNbE1qSmhibWRzWlNVeU1pVXpRVEFsTjBRbE1rTWxNakpuY205MWNDVXlNaVV6UVNVeU1pVXlNaVV5UXlVeU1tbGtKVEl5SlROQkpUSXlVblZUYjBseVUzWmliVEUxTWprek9TVXlNaVV5UXlVeU1teHBibVZUZEhsc1pTVXlNaVV6UVNVM1FpVXlNbXhwYm1WWGFXUjBhQ1V5TWlVelFURXVOU1UzUkNVeVF5VXlNbXhwYm10bGNsUjVjR1VsTWpJbE0wRWxNakppY205clpXNGxNaklsTWtNbE1qSnNiMk5yWldRbE1qSWxNMEZtWVd4elpTVXlReVV5TW5CdmFXNTBjeVV5TWlVelFTVTFRaVUzUWlVeU1uZ2xNaklsTTBFek5UY3VOU1V5UXlVeU1ua2xNaklsTTBFME5Ea2xOMFFsTWtNbE4wSWxNako0SlRJeUpUTkJNelUzTGpVbE1rTWxNako1SlRJeUpUTkJORFE1SlRkRUpUVkVKVEpESlRJeWRHVjRkQ1V5TWlVelFTVXlNaVV5TWlVeVF5VXlNblJsZUhSQ2JHOWpheVV5TWlVelFTVTFRaVUxUkNVM1JDVXlReVV5TW5KcFVVcDJSblZIU2t3ek1UWXhNak1sTWpJbE0wRWxOMElsTWpKdVlXMWxKVEl5SlROQkpUSXliR2x1YTJWeUpUSXlKVEpESlRJeWNISnZjSE1sTWpJbE0wRWxOMElsTWpKNmFXNWtaWGdsTWpJbE0wRXlNU1UzUkNVeVF5VXlNbVJoZEdGQmRIUnlhV0oxZEdWekpUSXlKVE5CSlRWQ0pUVkVKVEpESlRJeVpuSnZiU1V5TWlVelFTVTNRaVV5TW5nbE1qSWxNMEUwT0RNbE1rTWxNako1SlRJeUpUTkJNVFl4SlRKREpUSXlZVzVuYkdVbE1qSWxNMEV6TGpFME1UVTVNalkxTXpVNE9UYzVNellsTWtNbE1qSnBaQ1V5TWlVelFTVXlNbkp2Vm1GbGIyMU1TSFEwTkRVeU5ESWxNaklsTjBRbE1rTWxNakowYnlVeU1pVXpRU1UzUWlVeU1uZ2xNaklsTTBFMU5EZ3VNek16TXpJNE1qUTNNRGN3TXlVeVF5VXlNbmtsTWpJbE0wRXhOakVsTWtNbE1qSnBaQ1V5TWlVelFXNTFiR3dsTWtNbE1qSmhibWRzWlNVeU1pVXpRVzUxYkd3bE4wUWxNa01sTWpKbmNtOTFjQ1V5TWlVelFTVXlNaVV5TWlVeVF5VXlNbWxrSlRJeUpUTkJKVEl5Y21sUlNuWkdkVWRLVERNeE5qRXlNeVV5TWlVeVF5VXlNbXhwYm1WVGRIbHNaU1V5TWlVelFTVTNRaVV5TW1WdVpFRnljbTkzVTNSNWJHVWxNaklsTTBFbE1qSnViMjVsSlRJeUpUSkRKVEl5YkdsdVpWZHBaSFJvSlRJeUpUTkJNUzQxSlRkRUpUSkRKVEl5YkdsdWEyVnlWSGx3WlNVeU1pVXpRU1V5TW01dmNtMWhiQ1V5TWlVeVF5VXlNbXh2WTJ0bFpDVXlNaVV6UVdaaGJITmxKVEpESlRJeWNHOXBiblJ6SlRJeUpUTkJKVFZDSlRWRUpUSkRKVEl5ZEdWNGRDVXlNaVV6UVNVeU1pVXlNaVV5UXlVeU1uUmxlSFJDYkc5amF5VXlNaVV6UVNVMVFpVTFSQ1UzUkNVeVF5VXlNa2hTU0hsWlZHRnBlbFUxTkRBM05qZ2xNaklsTTBFbE4wSWxNakp1WVcxbEpUSXlKVE5CSlRJeWJHbHVhMlZ5SlRJeUpUSkRKVEl5Y0hKdmNITWxNaklsTTBFbE4wSWxNako2YVc1a1pYZ2xNaklsTTBFeU1pVTNSQ1V5UXlVeU1tUmhkR0ZCZEhSeWFXSjFkR1Z6SlRJeUpUTkJKVFZDSlRWRUpUSkRKVEl5Wm5KdmJTVXlNaVV6UVNVM1FpVXlNbmdsTWpJbE0wRTBPRE1sTWtNbE1qSjVKVEl5SlROQk5EUTVKVEpESlRJeVlXNW5iR1VsTWpJbE0wRXpMakUwTVRVNU1qWTFNelU0T1RjNU16WWxNa01sTWpKcFpDVXlNaVV6UVNVeU1rRlFRMlJ0WlU1Q1UxRTFNREF6TURJbE1qSWxOMFFsTWtNbE1qSjBieVV5TWlVelFTVTNRaVV5TW5nbE1qSWxNMEUxTkRndU16TXpNekk0TWpRM01EY3dNeVV5UXlVeU1ua2xNaklsTTBFME5Ea2xNa01sTWpKcFpDVXlNaVV6UVc1MWJHd2xNa01sTWpKaGJtZHNaU1V5TWlVelFXNTFiR3dsTjBRbE1rTWxNakpuY205MWNDVXlNaVV6UVNVeU1pVXlNaVV5UXlVeU1tbGtKVEl5SlROQkpUSXlTRkpJZVZsVVlXbDZWVFUwTURjMk9DVXlNaVV5UXlVeU1teHBibVZUZEhsc1pTVXlNaVV6UVNVM1FpVXlNbVZ1WkVGeWNtOTNVM1I1YkdVbE1qSWxNMEVsTWpKdWIyNWxKVEl5SlRKREpUSXliR2x1WlZkcFpIUm9KVEl5SlROQk1TNDFKVGRFSlRKREpUSXliR2x1YTJWeVZIbHdaU1V5TWlVelFTVXlNbTV2Y20xaGJDVXlNaVV5UXlVeU1teHZZMnRsWkNVeU1pVXpRV1poYkhObEpUSkRKVEl5Y0c5cGJuUnpKVEl5SlROQkpUVkNKVFZFSlRKREpUSXlkR1Y0ZENVeU1pVXpRU1V5TWlVeU1pVXlReVV5TW5SbGVIUkNiRzlqYXlVeU1pVXpRU1UxUWlVMVJDVTNSQ1V5UXlVeU1uSlZWa05vYjFaSmJVRTNPVEk1TWpRbE1qSWxNMEVsTjBJbE1qSnVZVzFsSlRJeUpUTkJKVEl5YkdsdWEyVnlKVEl5SlRKREpUSXljSEp2Y0hNbE1qSWxNMEVsTjBJbE1qSjZhVzVrWlhnbE1qSWxNMEV5TXlVM1JDVXlReVV5TW1SaGRHRkJkSFJ5YVdKMWRHVnpKVEl5SlROQkpUVkNKVFZFSlRKREpUSXlabkp2YlNVeU1pVXpRU1UzUWlVeU1uZ2xNaklsTTBFMU5EZ3VNek16TXpJNE1qUTNNRGN3TXlVeVF5VXlNbmtsTWpJbE0wRXhOakFsTWtNbE1qSnBaQ1V5TWlVelFXNTFiR3dsTWtNbE1qSmhibWRzWlNVeU1pVXpRVzUxYkd3bE4wUWxNa01sTWpKMGJ5VXlNaVV6UVNVM1FpVXlNbmdsTWpJbE0wRTFORGd1TXpNek16STRNalEzTURjd015VXlReVV5TW5rbE1qSWxNMEUwTkRrbE1rTWxNakpwWkNVeU1pVXpRVzUxYkd3bE1rTWxNakpoYm1kc1pTVXlNaVV6UVc1MWJHd2xOMFFsTWtNbE1qSm5jbTkxY0NVeU1pVXpRU1V5TWlVeU1pVXlReVV5TW1sa0pUSXlKVE5CSlRJeWNsVldRMmh2VmtsdFFUYzVNamt5TkNVeU1pVXlReVV5TW14cGJtVlRkSGxzWlNVeU1pVXpRU1UzUWlVeU1tVnVaRUZ5Y205M1UzUjViR1VsTWpJbE0wRWxNakp1YjI1bEpUSXlKVEpESlRJeWJHbHVaVmRwWkhSb0pUSXlKVE5CTVM0MUpUZEVKVEpESlRJeWJHbHVhMlZ5Vkhsd1pTVXlNaVV6UVNVeU1tNXZjbTFoYkNVeU1pVXlReVV5TW14dlkydGxaQ1V5TWlVelFXWmhiSE5sSlRKREpUSXljRzlwYm5SekpUSXlKVE5CSlRWQ0pUVkVKVEpESlRJeWRHVjRkQ1V5TWlVelFTVXlNaVV5TWlVeVF5VXlNblJsZUhSQ2JHOWpheVV5TWlVelFTVTFRaVUxUkNVM1JDVXlReVV5TW1OR1YweHJRMVZZWTBrek5qTXdNRFVsTWpJbE0wRWxOMElsTWpKdVlXMWxKVEl5SlROQkpUSXliR2x1YTJWeUpUSXlKVEpESlRJeWNISnZjSE1sTWpJbE0wRWxOMElsTWpKNmFXNWtaWGdsTWpJbE0wRXlOQ1UzUkNVeVF5VXlNbVJoZEdGQmRIUnlhV0oxZEdWekpUSXlKVE5CSlRWQ0pUVkVKVEpESlRJeVpuSnZiU1V5TWlVelFTVTNRaVV5TW5nbE1qSWxNMEUwT0RNbE1rTWxNako1SlRJeUpUTkJNalUzSlRKREpUSXlZVzVuYkdVbE1qSWxNMEV6TGpFME1UVTVNalkxTXpVNE9UYzVNellsTWtNbE1qSnBaQ1V5TWlVelFTVXlNa2RHYkdwM1pGWlBXV1kwTnpnd016Z2xNaklsTjBRbE1rTWxNakowYnlVeU1pVXpRU1UzUWlVeU1uZ2xNaklsTTBFMU5EY3VNek16TXpJNE1qUTNNRGN3TXlVeVF5VXlNbmtsTWpJbE0wRXlOVGNsTWtNbE1qSnBaQ1V5TWlVelFXNTFiR3dsTWtNbE1qSmhibWRzWlNVeU1pVXpRVzUxYkd3bE4wUWxNa01sTWpKbmNtOTFjQ1V5TWlVelFTVXlNaVV5TWlVeVF5VXlNbWxrSlRJeUpUTkJKVEl5WTBaWFRHdERWVmhqU1RNMk16QXdOU1V5TWlVeVF5VXlNbXhwYm1WVGRIbHNaU1V5TWlVelFTVTNRaVV5TW1WdVpFRnljbTkzVTNSNWJHVWxNaklsTTBFbE1qSnViMjVsSlRJeUpUSkRKVEl5YkdsdVpWZHBaSFJvSlRJeUpUTkJNUzQxSlRkRUpUSkRKVEl5YkdsdWEyVnlWSGx3WlNVeU1pVXpRU1V5TW01dmNtMWhiQ1V5TWlVeVF5VXlNbXh2WTJ0bFpDVXlNaVV6UVdaaGJITmxKVEpESlRJeWNHOXBiblJ6SlRJeUpUTkJKVFZDSlRWRUpUSkRKVEl5ZEdWNGRDVXlNaVV6UVNVeU1pVXlNaVV5UXlVeU1uUmxlSFJDYkc5amF5VXlNaVV6UVNVMVFpVTFSQ1UzUkNVeVF5VXlNazlKYm5odlNtTnRhMFExTmpjNU9ETWxNaklsTTBFbE4wSWxNakp1WVcxbEpUSXlKVE5CSlRJeWJHbHVhMlZ5SlRJeUpUSkRKVEl5Y0hKdmNITWxNaklsTTBFbE4wSWxNako2YVc1a1pYZ2xNaklsTTBFeU5TVTNSQ1V5UXlVeU1tUmhkR0ZCZEhSeWFXSjFkR1Z6SlRJeUpUTkJKVFZDSlRWRUpUSkRKVEl5Wm5KdmJTVXlNaVV6UVNVM1FpVXlNbmdsTWpJbE0wRTBPRE1sTWtNbE1qSjVKVEl5SlROQk16VXpKVEpESlRJeVlXNW5iR1VsTWpJbE0wRXpMakUwTVRVNU1qWTFNelU0T1RjNU16WWxNa01sTWpKcFpDVXlNaVV6UVNVeU1tcFpkV3hIUVdOQ1pFazFNemN5T1RnbE1qSWxOMFFsTWtNbE1qSjBieVV5TWlVelFTVTNRaVV5TW5nbE1qSWxNMEUxTkRndU16TXpNekk0TWpRM01EY3dNeVV5UXlVeU1ua2xNaklsTTBFek5UTWxNa01sTWpKcFpDVXlNaVV6UVc1MWJHd2xNa01sTWpKaGJtZHNaU1V5TWlVelFXNTFiR3dsTjBRbE1rTWxNakpuY205MWNDVXlNaVV6UVNVeU1pVXlNaVV5UXlVeU1tbGtKVEl5SlROQkpUSXlUMGx1ZUc5S1kyMXJSRFUyTnprNE15VXlNaVV5UXlVeU1teHBibVZUZEhsc1pTVXlNaVV6UVNVM1FpVXlNbVZ1WkVGeWNtOTNVM1I1YkdVbE1qSWxNMEVsTWpKdWIyNWxKVEl5SlRKREpUSXliR2x1WlZkcFpIUm9KVEl5SlROQk1TNDFKVGRFSlRKREpUSXliR2x1YTJWeVZIbHdaU1V5TWlVelFTVXlNbTV2Y20xaGJDVXlNaVV5UXlVeU1teHZZMnRsWkNVeU1pVXpRV1poYkhObEpUSkRKVEl5Y0c5cGJuUnpKVEl5SlROQkpUVkNKVFZFSlRKREpUSXlkR1Y0ZENVeU1pVXpRU1V5TWlVeU1pVXlReVV5TW5SbGVIUkNiRzlqYXlVeU1pVXpRU1UxUWlVMVJDVTNSQ1V5UXlVeU1uUnFRbmRxV1ZSRlIzUXhPRGN6TkRnbE1qSWxNMEVsTjBJbE1qSnBaQ1V5TWlVelFTVXlNblJxUW5kcVdWUkZSM1F4T0Rjek5EZ2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NrTklkSGRtWm1KMlFqYzFNemM0TkNVeU1pVTNSQ1V5UXlVM1FpVXlNbTVoYldVbE1qSWxNMEVsTWpJbFJUVWxPVEFsT0VRbFJUY2xRVGNsUWpBbE1qSWxNa01sTWpKMGVYQmxKVEl5SlROQkpUSXljM1J5YVc1bkpUSXlKVEpESlRJeWRtRnNkV1VsTWpJbE0wRWxNaklsTWpJbE1rTWxNakpqWVhSbFoyOXllU1V5TWlVelFTVXlNbVJsWm1GMWJIUWxNaklsTWtNbE1qSnBaQ1V5TWlVelFTVXlNbGRMYTJsclUxbERUR0V4TXpBM05qS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VFIxQk5kMGh5UW1kb05EazBPRFEwSlRJeUpUZEVKVEpESlRkQ0pUSXlibUZ0WlNVeU1pVXpRU1V5TWlWRk9DVkNSaVU1UlNWRk5pVTRSU1ZCTlNVeU1pVXlReVV5TW5SNWNHVWxNaklsTTBFbE1qSnNhVzVySlRJeUpUSkRKVEl5ZG1Gc2RXVWxNaklsTTBFbE1qSWxNaklsTWtNbE1qSmpZWFJsWjI5eWVTVXlNaVV6UVNVeU1tUmxabUYxYkhRbE1qSWxNa01sTWpKcFpDVXlNaVV6UVNVeU1sVlNiRnBRU1dSWGQybzJNVEF4TnpRbE1qSWxOMFFsTWtNbE4wSWxNakp1WVcxbEpUSXlKVE5CSlRJeUpVVTBKVUpGSlVKR0pVVTNKVUZESlVKQkpUSXlKVEpESlRJeWRIbHdaU1V5TWlVelFTVXlNbk4wY21sdVp5VXlNaVV5UXlVeU1uWmhiSFZsSlRJeUpUTkJKVEl5SlRJeUpUSkRKVEl5WTJGMFpXZHZjbmtsTWpJbE0wRWxNakprWldaaGRXeDBKVEl5SlRKREpUSXlhV1FsTWpJbE0wRWxNakpsVFdSRFlsZFJaRk5DTkRNeE56QTJKVEl5SlRkRUpUVkVKVEpESlRJeWNISnZjSE1sTWpJbE0wRWxOMElsTWpKNEpUSXlKVE5CTmpNMUxqTXpNek15T0RJME56QTNNRE1sTWtNbE1qSjVKVEl5SlROQk1qYzNKVEpESlRJeWR5VXlNaVV6UVRrMkpUSkRKVEl5YUNVeU1pVXpRVFUwSlRKREpUSXllbWx1WkdWNEpUSXlKVE5CTWpZ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emFYcGxKVEl5SlROQk1UZ2xOMFFsTWtNbE1qSjBaWGgwUW14dlkyc2xNaklsTTBFbE5VSWxOMElsTWpKd2IzTnBkR2x2YmlVeU1pVXpRU1UzUWlVeU1uZ2xNaklsTTBFeE1DVXlReVV5TW5rbE1qSWxNMEV3SlRKREpUSXlkeVV5TWlVelFTVXlNbmN0TWpBbE1qSWxNa01sTWpKb0pUSXlKVE5CSlRJeWFDVXlNaVUzUkNVeVF5VXlNblJsZUhRbE1qSWxNMEVsTWpJbFJUUWxRa0VsUVRRbFJUVWxPRVlsT0RrbFJUY2xRalFsUVVZbFJUVWxPRUVsUVRB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sYjNkNVpWZFRjbFZrTWpRMk1URTJKVEl5SlROQkpUZENKVEl5Ym1GdFpTVXlNaVV6UVNVeU1teHBibXRsY2lVeU1pVXlReVV5TW5CeWIzQnpKVEl5SlROQkpUZENKVEl5ZW1sdVpHVjRKVEl5SlROQk1qY2xOMFFsTWtNbE1qSmtZWFJoUVhSMGNtbGlkWFJsY3lVeU1pVXpRU1UxUWlVMVJDVXlReVV5TW1aeWIyMGxNaklsTTBFbE4wSWxNako0SlRJeUpUTkJOVFEzTGpnNU5EY3pOamcwTWpFd05UTWxNa01sTWpKNUpUSXlKVE5CTXpBMEpUSkRKVEl5YVdRbE1qSWxNMEZ1ZFd4c0pUSkRKVEl5WVc1bmJHVWxNaklsTTBGdWRXeHNKVGRFSlRKREpUSXlkRzhsTWpJbE0wRWxOMElsTWpKNEpUSXlKVE5CTmpNMUxqTXpNek15T0RJME56QTNNRE1sTWtNbE1qSjVKVEl5SlROQk16QTBKVEpESlRJeVlXNW5iR1VsTWpJbE0wRXdKVEpESlRJeWFXUWxNaklsTTBFbE1qSjBha0ozYWxsVVJVZDBNVGczTXpRNEpUSXlKVGRFSlRKREpUSXlaM0p2ZFhBbE1qSWxNMEVsTWpJbE1qSWxNa01sTWpKcFpDVXlNaVV6UVNVeU1tVnZkM2xsVjFOeVZXUXlORFl4TVRZbE1qSWxNa01sTWpKc2FXNWxVM1I1YkdVbE1qSWxNMEVsTjBJbE1qSnNhVzVsVjJsa2RHZ2xNaklsTTBFeExqVWxOMFFsTWtNbE1qSnNhVzVyWlhKVWVYQmxKVEl5SlROQkpUSXlZbkp2YTJWdUpUSXlKVEpESlRJeWJHOWphMlZrSlRJeUpUTkJabUZzYzJVbE1rTWxNakp3YjJsdWRITWxNaklsTTBFbE5VSWxOMElsTWpKNEpUSXlKVE5CTlRreExqWXhOREF6TWpVME5EVTROemtsTWtNbE1qSjVKVEl5SlROQk16QTBKVGRFSlRKREpUZENKVEl5ZUNVeU1pVXpRVFU1TVM0Mk1UUXdNekkxTkRRMU9EYzVKVEpESlRJeWVTVXlNaVV6UVRNd05DVTNSQ1UxUkNVeVF5VXlNblJsZUhRbE1qSWxNMEVsTWpJbE1qSWxNa01sTWpKMFpYaDBRbXh2WTJzbE1qSWxNMEVsTlVJbE5VUWxOMFFsTWtNbE1qSmtSMkptYUhkSGNXVjJNak16TkRrekpUSXlKVE5CSlRkQ0pUSXlhV1FsTWpJbE0wRWxNakprUjJKbWFIZEhjV1YyTWpNek5Ea3pKVEl5SlRKREpUSXlibUZ0WlNVeU1pVXpRU1V5TW5OMFlYSjBKVEl5SlRKREpUSXlkR2wwYkdVbE1qSWxNMEVsTWpJbFJUVWxRa01sT0RBbFJUVWxRVGNsT0VJbE1rWWxSVGNsUWtJbE9UTWxSVFlsT1VRbE9VW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WRrTnhjVnBGUTNWNFdEQTVORE0yTUNVeU1pVTNSQ1V5UXlVM1FpVXlNbTVoYldVbE1qSWxNMEVsTWpJbFJUVWxPVEFsT0VRbFJUY2xRVGNsUWpBbE1qSWxNa01sTWpKMGVYQmxKVEl5SlROQkpUSXljM1J5YVc1bkpUSXlKVEpESlRJeWRtRnNkV1VsTWpJbE0wRWxNaklsTWpJbE1rTWxNakpqWVhSbFoyOXllU1V5TWlVelFTVXlNbVJsWm1GMWJIUWxNaklsTWtNbE1qSnBaQ1V5TWlVelFTVXlNa0pYV20xRVJIUlhjbFl3T0RNME1qS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NVdreEJUMDE2ZDFOWk1qWTRORFExSlRJeUpUZEVKVEpESlRkQ0pUSXlibUZ0WlNVeU1pVXpRU1V5TWlWRk9DVkNSaVU1UlNWRk5pVTRSU1ZCTlNVeU1pVXlReVV5TW5SNWNHVWxNaklsTTBFbE1qSnNhVzVySlRJeUpUSkRKVEl5ZG1Gc2RXVWxNaklsTTBFbE1qSWxNaklsTWtNbE1qSmpZWFJsWjI5eWVTVXlNaVV6UVNVeU1tUmxabUYxYkhRbE1qSWxNa01sTWpKcFpDVXlNaVV6UVNVeU1tSm5WMGRvUzJSc2RFMHlNemN6TkRFbE1qSWxOMFFsTWtNbE4wSWxNakp1WVcxbEpUSXlKVE5CSlRJeUpVVTBKVUpGSlVKR0pVVTNKVUZESlVKQkpUSXlKVEpESlRJeWRIbHdaU1V5TWlVelFTVXlNbk4wY21sdVp5VXlNaVV5UXlVeU1uWmhiSFZsSlRJeUpUTkJKVEl5SlRJeUpUSkRKVEl5WTJGMFpXZHZjbmtsTWpJbE0wRWxNakprWldaaGRXeDBKVEl5SlRKREpUSXlhV1FsTWpJbE0wRWxNakpTV1hWQlpVdEpVMWRZTWpZM01qZ3lKVEl5SlRkRUpUVkVKVEpESlRJeWNISnZjSE1sTWpJbE0wRWxOMElsTWpKNEpUSXlKVE5CT0RFMkxqRTVNRFE1TURjeU1qWTFOaklsTWtNbE1qSjVKVEl5SlROQk1qZ3hKVEpESlRJeWR5VXlNaVV6UVRFME9DNDFOekUwTWpnMU56RTBNamcxTmlVeVF5VXlNbWdsTWpJbE0wRTFNQ1V5UXlVeU1ucHBibVJsZUNVeU1pVXpRVEk0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rMWhkR2d1YldsdUtIY2xNa05vS1NVeVJqTWxNaklsTWtNbE1qSjVKVEl5SlROQkpUSXlNQ1V5TWlVM1JDVXlReVUzUWlVeU1tRmpkR2x2YmlVeU1pVXpRU1V5TW14cGJtVWxNaklsTWtNbE1qSjRKVEl5SlROQkpUSXlkeTFOWVhSb0xtMXBiaWgzSlRKRGFDa2xNa1l6SlRJeUpUSkRKVEl5ZVNVeU1pVXpRU1V5TWpBbE1qSWxOMFFsTWtNbE4wSWxNakpoWTNScGIyNGxNaklsTTBFbE1qSmpkWEoyWlNVeU1pVXlReVV5TW5neEpUSXlKVE5CSlRJeWR5VXlRazFoZEdndWJXbHVLSGNsTWtOb0tTVXlSak1sTWtZekpUSXlKVEpESlRJeWVURWxNaklsTTBFbE1qSXdKVEl5SlRKREpUSXllRElsTWpJbE0wRWxNakozSlRKQ1RXRjBhQzV0YVc0b2R5VXlRMmdwSlRKR015VXlSak1sTWpJbE1rTWxNako1TWlVeU1pVXpRU1V5TW1nbE1qSWxNa01sTWpKNEpUSXlKVE5CSlRJeWR5MU5ZWFJvTG0xcGJpaDNKVEpEYUNrbE1rWXpKVEl5SlRKREpUSXllU1V5TWlVelFTVXlNbWdsTWpJbE4wUWxNa01sTjBJbE1qSmhZM1JwYjI0bE1qSWxNMEVsTWpKc2FXNWxKVEl5SlRKREpUSXllQ1V5TWlVelFTVXlNazFoZEdndWJXbHVLSGNsTWtOb0tTVXlSak1sTWpJbE1rTWxNako1SlRJeUpUTkJKVEl5YUNVeU1pVTNSQ1V5UXlVM1FpVXlNbUZqZEdsdmJpVXlNaVV6UVNVeU1tTjFjblpsSlRJeUpUSkRKVEl5ZURFbE1qSWxNMEVsTWpJdFRXRjBhQzV0YVc0b2R5VXlRMmdwSlRKR015VXlSak1sTWpJbE1rTWxNako1TVNVeU1pVXpRU1V5TW1nbE1qSWxNa01sTWpKNE1pVXlNaVV6UVNVeU1pMU5ZWFJvTG0xcGJpaDNKVEpEYUNrbE1rWXpKVEpHTXlVeU1pVXlReVV5TW5reUpUSXlKVE5CSlRJeU1DVXlNaVV5UXlVeU1uZ2xNaklsTTBFbE1qSk5ZWFJvTG0xcGJpaDNKVEpEYUNrbE1rWXpKVEl5SlRKREpUSXllU1V5TWlVelFTVXlNakFsTWpJbE4wUWxNa01sTjBJbE1qSmhZM1JwYjI0bE1qSWxNMEVsTWpKamJHOXpaU1V5TWlVM1JDVTFSQ1UzUkNVMVJDVXlReVV5TW1admJuUlRkSGxzWlNVeU1pVXpRU1UzUWlVM1JDVXlReVV5TW5SbGVIUkNiRzlqYXlVeU1pVXpRU1UxUWlVM1FpVXlNbkJ2YzJsMGFXOXVKVEl5SlROQkpUZENKVEl5ZUNVeU1pVXpRVEV3SlRKREpUSXllU1V5TWlVelFUQWxNa01sTWpKM0pUSXlKVE5CSlRJeWR5MHlNQ1V5TWlVeVF5VXlNbWdsTWpJbE0wRWxNakpvSlRJeUpUZEVKVEpESlRJeWRHVjRkQ1V5TWlVelFTVXlNaVZGTkNWQ1JDVTRSU1ZGTkNWQ1JDVTRSQ1ZGTnlWQ1FpVTVNeVZGTmlVNVJTVTVReVV5UmlWRk9TVkJRaVU1T0NWRk5DVkNSQ1U0UkNWRk55VkNRaVU1TXlWRk5pVTVSU1U1UX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TlpUkVGWFQyVkNURmM1T1RVM09ERWxNaklsTTBFbE4wSWxNakp1WVcxbEpUSXlKVE5CSlRJeWJHbHVhMlZ5SlRJeUpUSkRKVEl5Y0hKdmNITWxNaklsTTBFbE4wSWxNako2YVc1a1pYZ2xNaklsTTBFeU9TVTNSQ1V5UXlVeU1tUmhkR0ZCZEhSeWFXSjFkR1Z6SlRJeUpUTkJKVFZDSlRWRUpUSkRKVEl5Wm5KdmJTVXlNaVV6UVNVM1FpVXlNbmdsTWpJbE0wRTNNekV1TXpNek16STRNalEzTURjd015VXlReVV5TW5rbE1qSWxNMEV6TURRbE1rTWxNakpoYm1kc1pTVXlNaVV6UVRNdU1UUXhOVGt5TmpVek5UZzVOemt6TmlVeVF5VXlNbWxrSlRJeUpUTkJKVEl5ZEdwQ2QycFpWRVZIZERFNE56TTBPQ1V5TWlVM1JDVXlReVV5TW5SdkpUSXlKVE5CSlRkQ0pUSXllQ1V5TWlVelFUZ3hOaTR4T1RBME9UQTNNakkyTlRZeUpUSkRKVEl5ZVNVeU1pVXpRVE13TkNVeVF5VXlNbWxrSlRJeUpUTkJKVEl5WkVkaVptaDNSM0ZsZGpJek16UTVNeVV5TWlVeVF5VXlNbUZ1WjJ4bEpUSXlKVE5CTUNVM1JDVXlReVV5TW1keWIzVndKVEl5SlROQkpUSXlKVEl5SlRKREpUSXlhV1FsTWpJbE0wRWxNakp2WWtSQlYwOWxRa3hYT1RrMU56Z3hKVEl5SlRKREpUSXliR2x1WlZOMGVXeGxKVEl5SlROQkpUZENKVEl5YkdsdVpWZHBaSFJvSlRJeUpUTkJNUzQxSlRkRUpUSkRKVEl5YkdsdWEyVnlWSGx3WlNVeU1pVXpRU1V5TW1KeWIydGxiaVV5TWlVeVF5VXlNbXh2WTJ0bFpDVXlNaVV6UVdaaGJITmxKVEpESlRJeWNHOXBiblJ6SlRJeUpUTkJKVFZDSlRkQ0pUSXllQ1V5TWlVelFUYzNNeTQzTmpFNU1EazBPRFE0TmpNekpUSkRKVEl5ZVNVeU1pVXpRVE13TkNVM1JDVXlReVUzUWlVeU1uZ2xNaklsTTBFM056TXVOell4T1RBNU5EZzBPRFl6TXlVeVF5VXlNbmtsTWpJbE0wRXpNRFFsTjBRbE5VUWxNa01sTWpKMFpYaDBKVEl5SlROQkpUSXlKVEl5SlRKREpUSXlkR1Y0ZEVKc2IyTnJKVEl5SlROQkpUVkNKVFZFSlRkRUpUZEVKVEpESlRJeVkyOXRiV1Z1ZEhNbE1qSWxNMEVsTlVJbE5VUWxNa01sTWpKd2JIVm5hVzV6SlRJeUpUTkJKVGRDSlRkRUpUSkRKVEl5WVdsRGIyNTBZV2x1WlhKekpUSXlKVE5CSlRkQ0pUZEVKVEpESlRJeWFXNXpaWEowVUdGblpVOXdkSE1sTWpJbE0wRWxOMElsTjBRbE1rTWxNakp3YjNOMFVHRjViV1Z1ZENVeU1pVXpRU1UzUWlVM1JDVXlReVV5TW5Sb1pXMWxKVEl5SlROQkpUZENKVEl5Y0dGblpTVXlNaVV6UVNVM1FpVXlNbUpoWTJ0bmNtOTFibVJEYjJ4dmNpVXlNaVV6UVNVeU1uUnlZVzV6Y0dGeVpXNTBKVEl5SlRkRUpUZEVKVGRFIiwKCSJGaWxlSWQiIDogImNhNTU5ZWNiLWUwZDctNGIzNi04NTMyLTk4ZWI3Y2I5NWMwMyIKfQo="/>
    </extobj>
    <extobj name="E657119C-6982-421D-8BA7-E74DEB70A7D9-4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9Ua2xNa01sTWpKemFHOTNSM0pwWkNVeU1pVXpRWFJ5ZFdVbE1rTWxNakp5YVdOb1ZHVjRkQ1V5TWlVelFYUnlkV1VsTWtNbE1qSm9aV2xuYUhRbE1qSWxNMEV4TURBd0pUZEVKVEpESlRJeVpXeGxiV1Z1ZEhNbE1qSWxNMEVsTjBJbE1qSkdZVXhuVW5OT2NIbFJOakU1TnpnNUpUSXlKVE5CSlRkQ0pUSXlhV1FsTWpJbE0wRWxNakpHWVV4blVuTk9jSGxSTmpFNU56ZzV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rWkhRVnBuYlZGcVEwSTRNamd3TURFbE1qSWxOMFFsTWtNbE4wSWxNakp1WVcxbEpUSXlKVE5CSlRJeUpVVTFKVGt3SlRoRUpVVTNKVUUzSlVJd0pUSXlKVEpESlRJeWRIbHdaU1V5TWlVelFTVXlNbk4wY21sdVp5VXlNaVV5UXlVeU1uWmhiSFZsSlRJeUpUTkJKVEl5SlRJeUpUSkRKVEl5WTJGMFpXZHZjbmtsTWpJbE0wRWxNakprWldaaGRXeDBKVEl5SlRKREpUSXlhV1FsTWpJbE0wRWxNakpSV2xSTVlWaHBWRUpoTnpRek9Ea3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lYWlFSRWxYYlVOeFpUQXlNekV4T0NVeU1pVTNSQ1V5UXlVM1FpVXlNbTVoYldVbE1qSWxNMEVsTWpJbFJUZ2xRa1lsT1VVbFJUWWxPRVVsUVRVbE1qSWxNa01sTWpKMGVYQmxKVEl5SlROQkpUSXliR2x1YXlVeU1pVXlReVV5TW5aaGJIVmxKVEl5SlROQkpUSXlKVEl5SlRKREpUSXlZMkYwWldkdmNua2xNaklsTTBFbE1qSmtaV1poZFd4MEpUSXlKVEpESlRJeWFXUWxNaklsTTBFbE1qSjBUbTFOY0ZOblpVUnVORFl5T0RFMUpUSXlKVGRFSlRKREpUZENKVEl5Ym1GdFpTVXlNaVV6UVNVeU1pVkZOQ1ZDUlNWQ1JpVkZOeVZCUXlWQ1FTVXlNaVV5UXlVeU1uUjVjR1VsTWpJbE0wRWxNakp6ZEhKcGJtY2xNaklsTWtNbE1qSjJZV3gxWlNVeU1pVXpRU1V5TWlVeU1pVXlReVV5TW1OaGRHVm5iM0o1SlRJeUpUTkJKVEl5WkdWbVlYVnNkQ1V5TWlVeVF5VXlNbWxrSlRJeUpUTkJKVEl5U2xkNVJHaFlZMFpRYXpBMU1UQTBPU1V5TWlVM1JDVTFSQ1V5UXlVeU1uQnliM0J6SlRJeUpUTkJKVGRDSlRJeWVDVXlNaVV6UVRJMU55VXlReVV5TW5rbE1qSWxNMEV4TXpNbE1rTWxNakozSlRJeUpUTkJNVGsxSlRKREpUSXlhQ1V5TWlVelFUVTBKVEpESlRJeWVtbHVaR1Y0SlRJeUpUTkJNU1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k5wZW1VbE1qSWxNMEV5TUNVM1JDVXlReVV5TW5SbGVIUkNiRzlqYXlVeU1pVXpRU1UxUWlVM1FpVXlNbkJ2YzJsMGFXOXVKVEl5SlROQkpUZENKVEl5ZUNVeU1pVXpRVEV3SlRKREpUSXllU1V5TWlVelFUQWxNa01sTWpKM0pUSXlKVE5CSlRJeWR5MHlNQ1V5TWlVeVF5VXlNbWdsTWpJbE0wRWxNakpvSlRJeUpUZEVKVEpESlRJeWRHVjRkQ1V5TWlVelFTVXlNaVZGTmlWQk1DVTRPQ1ZGTlNVNVF5VkNNQ1ZGTlNVNVJDVTRNQ1ZGT0NWQlJpVTROaVZGTlNVNE9DVkJRa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rTklZMUYxZG1kR1dtbzVNREUyTmpjbE1qSWxNMEVsTjBJbE1qSnBaQ1V5TWlVelFTVXlNa05JWTFGMWRtZEdXbW81TURFMk5qY2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ozVkRXVUpyYlhkbFZESTRNRE0xTVNVeU1pVTNSQ1V5UXlVM1FpVXlNbTVoYldVbE1qSWxNMEVsTWpJbFJUVWxPVEFsT0VRbFJUY2xRVGNsUWpBbE1qSWxNa01sTWpKMGVYQmxKVEl5SlROQkpUSXljM1J5YVc1bkpUSXlKVEpESlRJeWRtRnNkV1VsTWpJbE0wRWxNaklsTWpJbE1rTWxNakpqWVhSbFoyOXllU1V5TWlVelFTVXlNbVJsWm1GMWJIUWxNaklsTWtNbE1qSnBaQ1V5TWlVelFTVXlNbk4wV1hablkycHdlRms0TURJeU9ER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SFdtcG9jbEpvVEVGRk1ETTFOREE1SlRJeUpUZEVKVEpESlRkQ0pUSXlibUZ0WlNVeU1pVXpRU1V5TWlWRk9DVkNSaVU1UlNWRk5pVTRSU1ZCTlNVeU1pVXlReVV5TW5SNWNHVWxNaklsTTBFbE1qSnNhVzVySlRJeUpUSkRKVEl5ZG1Gc2RXVWxNaklsTTBFbE1qSWxNaklsTWtNbE1qSmpZWFJsWjI5eWVTVXlNaVV6UVNVeU1tUmxabUYxYkhRbE1qSWxNa01sTWpKcFpDVXlNaVV6UVNVeU1saFhUM2Q0YlV0RFpFSXhPREl5T0RNbE1qSWxOMFFsTWtNbE4wSWxNakp1WVcxbEpUSXlKVE5CSlRJeUpVVTBKVUpGSlVKR0pVVTNKVUZESlVKQkpUSXlKVEpESlRJeWRIbHdaU1V5TWlVelFTVXlNbk4wY21sdVp5VXlNaVV5UXlVeU1uWmhiSFZsSlRJeUpUTkJKVEl5SlRJeUpUSkRKVEl5WTJGMFpXZHZjbmtsTWpJbE0wRWxNakprWldaaGRXeDBKVEl5SlRKREpUSXlhV1FsTWpJbE0wRWxNakpzVWxOT1EwUkZXR2Q0TVRVME5ETXpKVEl5SlRkRUpUVkVKVEpESlRJeWNISnZjSE1sTWpJbE0wRWxOMElsTWpKNEpUSXlKVE5CTWpVM0pUSkRKVEl5ZVNVeU1pVXpRVEl6TkNVeVF5VXlNbmNsTWpJbE0wRXhPVFVsTWtNbE1qSm9KVEl5SlROQk5UUWxNa01sTWpKNmFXNWtaWGdsTWpJbE0wRXl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jMmw2WlNVeU1pVXpRVEl3SlRkRUpUSkRKVEl5ZEdWNGRFSnNiMk5ySlRJeUpUTkJKVFZDSlRkQ0pUSXljRzl6YVhScGIyNGxNaklsTTBFbE4wSWxNako0SlRJeUpUTkJNVEFsTWtNbE1qSjVKVEl5SlROQk1DVXlReVV5TW5jbE1qSWxNMEVsTWpKM0xUSXdKVEl5SlRKREpUSXlhQ1V5TWlVelFTVXlNbWdsTWpJbE4wUWxNa01sTWpKMFpYaDBKVEl5SlROQkpUSXlNVFlsTWpBbFJUa2xRVEVsUWprbFJUY2xPVUlsUWpRbFJUWWxPRVVsUVRVbFJUWWxPVGdsUVRBbFJUVWxRakFsT0RRbFJUWWxPVVlsUVRVbFJUZ2xRVVlsUVR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oxUjFsNFltbEdaVkJ5TURnd09ETTVKVEl5SlROQkpUZENKVEl5YVdRbE1qSWxNMEVsTWpKMVIxbDRZbWxHWlZCeU1EZ3dPRE01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azFzZUZWRlVuaHdUMFV4TmpZMk16TWxNaklsTjBRbE1rTWxOMElsTWpKdVlXMWxKVEl5SlROQkpUSXlKVVUxSlRrd0pUaEVKVVUzSlVFM0pVSXdKVEl5SlRKREpUSXlkSGx3WlNVeU1pVXpRU1V5TW5OMGNtbHVaeVV5TWlVeVF5VXlNblpoYkhWbEpUSXlKVE5CSlRJeUpUSXlKVEpESlRJeVkyRjBaV2R2Y25rbE1qSWxNMEVsTWpKa1pXWmhkV3gwSlRJeUpUSkRKVEl5YVdRbE1qSWxNMEVsTWpKdGQxZGxRMUZpUm5sRk56RTNOemcz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UMHBzYVhaVWIyTlJlRGd6TkRJeU5DVXlNaVUzUkNVeVF5VTNRaVV5TW01aGJXVWxNaklsTTBFbE1qSWxSVGdsUWtZbE9VVWxSVFlsT0VVbFFUVWxNaklsTWtNbE1qSjBlWEJsSlRJeUpUTkJKVEl5YkdsdWF5VXlNaVV5UXlVeU1uWmhiSFZsSlRJeUpUTkJKVEl5SlRJeUpUSkRKVEl5WTJGMFpXZHZjbmtsTWpJbE0wRWxNakprWldaaGRXeDBKVEl5SlRKREpUSXlhV1FsTWpJbE0wRWxNakpwY0VoNlJHUldTV1JWTURBd09UUXdKVEl5SlRkRUpUSkRKVGRDSlRJeWJtRnRaU1V5TWlVelFTVXlNaVZGTkNWQ1JTVkNSaVZGTnlWQlF5VkNRU1V5TWlVeVF5VXlNblI1Y0dVbE1qSWxNMEVsTWpKemRISnBibWNsTWpJbE1rTWxNakoyWVd4MVpTVXlNaVV6UVNVeU1pVXlNaVV5UXlVeU1tTmhkR1ZuYjNKNUpUSXlKVE5CSlRJeVpHVm1ZWFZzZENVeU1pVXlReVV5TW1sa0pUSXlKVE5CSlRJeVlXeFRZMjltYTIxWlRqZzBNakU0TnlVeU1pVTNSQ1UxUkNVeVF5VXlNbkJ5YjNCekpUSXlKVE5CSlRkQ0pUSXllQ1V5TWlVelFUSTFOeVV5UXlVeU1ua2xNaklsTTBFek16VWxNa01sTWpKM0pUSXlKVE5CTVRrMUpUSkRKVEl5YUNVeU1pVXpRVFUwSlRKREpUSXllbWx1WkdWNEpUSXlKVE5CTXlVeVF5VXlNbUZ1WjJ4bEpUSXlKVE5CTUNVM1JDVXlReVV5TW5Ob1lYQmxVM1I1YkdVbE1qSWxNMEVsTjBJbE1qSmhiSEJvWVNVeU1pVXpRVEVsTjBRbE1rTWxNakpzYVc1bFUzUjViR1VsTWpJbE0wRWxOMElsTWpKc2FXNWxWMmxrZEdnbE1qSWxNMEV4TGpVbE4wUWxNa01sTWpKbWFXeHNVM1I1YkdVbE1qSWxNMEVsTjB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V5TW5OcGVtVWxNaklsTTBFeU1DVTNSQ1V5UXlVeU1uUmxlSFJDYkc5amF5VXlNaVV6UVNVMVFpVTNRaVV5TW5CdmMybDBhVzl1SlRJeUpUTkJKVGRDSlRJeWVDVXlNaVV6UVRFd0pUSkRKVEl5ZVNVeU1pVXpRVEFsTWtNbE1qSjNKVEl5SlROQkpUSXlkeTB5TUNVeU1pVXlReVV5TW1nbE1qSWxNMEVsTWpKb0pUSXlKVGRFSlRKREpUSXlkR1Y0ZENVeU1pVXpRU1V5TWlWRk5TVTRPU1U0UkNWRk9TVTRNQ1U1TWlWRk5TVkJSaVU0TkNWRk5TVkJSQ1U1T0NWRk5TVTVPU1ZCT0NWRk5pVTRSQ1U1TlNWRk9DVTRSU1ZDTn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XBwY0dkeFUwMW1VV1F3T1RjM01ERWxNaklsTTBFbE4wSWxNakpwWkNVeU1pVXpRU1V5TW1wcGNHZHhVMDFtVVdRd09UYzNNREV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iRmxSVlVGR1EwRlZRVGs1TWpneU1TVXlNaVUzUkNVeVF5VTNRaVV5TW01aGJXVWxNaklsTTBFbE1qSWxSVFVsT1RBbE9FUWxSVGNsUVRjbFFqQWxNaklsTWtNbE1qSjBlWEJsSlRJeUpUTkJKVEl5YzNSeWFXNW5KVEl5SlRKREpUSXlkbUZzZFdVbE1qSWxNMEVsTWpJbE1qSWxNa01sTWpKallYUmxaMjl5ZVNVeU1pVXpRU1V5TW1SbFptRjFiSFFsTWpJbE1rTWxNakpwWkNVeU1pVXpRU1V5TWtoWFdYRmlVMXBCZW5neE1qYzRNRGN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JWbkZxUkV4MVIySmFNalUyTnpBMkpUSXlKVGRFSlRKREpUZENKVEl5Ym1GdFpTVXlNaVV6UVNVeU1pVkZPQ1ZDUmlVNVJTVkZOaVU0UlNWQk5TVXlNaVV5UXlVeU1uUjVjR1VsTWpJbE0wRWxNakpzYVc1ckpUSXlKVEpESlRJeWRtRnNkV1VsTWpJbE0wRWxNaklsTWpJbE1rTWxNakpqWVhSbFoyOXllU1V5TWlVelFTVXlNbVJsWm1GMWJIUWxNaklsTWtNbE1qSnBaQ1V5TWlVelFTVXlNblprVEZCUWFrTnBlV0U1TVRrMU1EWWxNaklsTjBRbE1rTWxOMElsTWpKdVlXMWxKVEl5SlROQkpUSXlKVVUwSlVKRkpVSkdKVVUzSlVGREpVSkJKVEl5SlRKREpUSXlkSGx3WlNVeU1pVXpRU1V5TW5OMGNtbHVaeVV5TWlVeVF5VXlNblpoYkhWbEpUSXlKVE5CSlRJeUpUSXlKVEpESlRJeVkyRjBaV2R2Y25rbE1qSWxNMEVsTWpKa1pXWmhkV3gwSlRJeUpUSkRKVEl5YVdRbE1qSWxNMEVsTWpKMGMwbHJiRWwwUjIxR016UXdPREUzSlRJeUpUZEVKVFZFSlRKREpUSXljSEp2Y0hNbE1qSWxNMEVsTjBJbE1qSjRKVEl5SlROQk1qUTJMalVsTWtNbE1qSjVKVEl5SlROQk5ETTJKVEpESlRJeWR5VXlNaVV6UVRJeE5pVXlReVV5TW1nbE1qSWxNMEUxTkNVeVF5VXlNbnBwYm1SbGVDVXlNaVV6UVRRbE1rTWxNakpoYm1kc1pTVXlNaVV6UVRBbE4wUWxNa01sTWpKemFHRndaVk4wZVd4bEpUSXlKVE5CSlRkQ0pUSXlZV3h3YUdFbE1qSWxNMEV4SlRkRUpUSkRKVEl5YkdsdVpWTjBlV3hsSlRJeUpUTkJKVGRDSlRJeWJHbHVaVmRwWkhSb0pUSXlKVE5CTVM0MUpUZEVKVEpESlRJeVptbHNiRk4wZVd4bEpUSXlKVE5CSlRkQ0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emFYcGxKVEl5SlROQk1qQWxOMFFsTWtNbE1qSjBaWGgwUW14dlkyc2xNaklsTTBFbE5VSWxOMElsTWpKd2IzTnBkR2x2YmlVeU1pVXpRU1UzUWlVeU1uZ2xNaklsTTBFeE1DVXlReVV5TW5rbE1qSWxNMEV3SlRKREpUSXlkeVV5TWlVelFTVXlNbmN0TWpBbE1qSWxNa01sTWpKb0pUSXlKVE5CSlRJeWFDVXlNaVUzUkNVeVF5VXlNblJsZUhRbE1qSWxNMEVsTWpJbFJUUWxRamdsT0VJbFJUUWxRamdsT0RBbFJUWWxPVVFsUVRFbFJUWWxPVFVsUWpRbFJUWWxPVFVsUWpBbE1qQkJURlVsTWpBbFJUWWxRallsT0RnbFJUZ2xRalFsUWpr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uVVhGMWNXMURjbk5TT1RZeE5qVXhKVEl5SlROQkpUZENKVEl5Ym1GdFpTVXlNaVV6UVNVeU1teHBibXRsY2lVeU1pVXlReVV5TW5CeWIzQnpKVEl5SlROQkpUZENKVEl5ZW1sdVpHVjRKVEl5SlROQk5TVTNSQ1V5UXlVeU1tUmhkR0ZCZEhSeWFXSjFkR1Z6SlRJeUpUTkJKVFZDSlRWRUpUSkRKVEl5Wm5KdmJTVXlNaVV6UVNVM1FpVXlNbmdsTWpJbE0wRXpOVFF1TlNVeVF5VXlNbmtsTWpJbE0wRXhPRGNsTWtNbE1qSmhibWRzWlNVeU1pVXpRVFF1TnpFeU16ZzRPVGd3TXpnME5qa2xNa01sTWpKcFpDVXlNaVV6UVNVeU1rWmhUR2RTYzA1d2VWRTJNVGszT0RrbE1qSWxOMFFsTWtNbE1qSjBieVV5TWlVelFTVTNRaVV5TW5nbE1qSWxNMEV6TlRRdU5TVXlReVV5TW5rbE1qSWxNMEV5TXpRbE1rTWxNakpwWkNVeU1pVXpRU1V5TWtOSVkxRjFkbWRHV21vNU1ERTJOamNsTWpJbE1rTWxNakpoYm1kc1pTVXlNaVV6UVRFdU5UY3dOemsyTXpJMk56azBPRGszSlRkRUpUSkRKVEl5WjNKdmRYQWxNaklsTTBFbE1qSWxNaklsTWtNbE1qSnBaQ1V5TWlVelFTVXlNbWRSY1hWeGJVTnljMUk1TmpFMk5URWxNaklsTWtNbE1qSnNhVzVsVTNSNWJHVWxNaklsTTBFbE4wSWxNakpzYVc1bFYybGtkR2dsTWpJbE0wRXhMalVsTjBRbE1rTWxNakpzYVc1clpYSlVlWEJsSlRJeUpUTkJKVEl5WW5KdmEyVnVKVEl5SlRKREpUSXliRzlqYTJWa0pUSXlKVE5CWm1Gc2MyVWxNa01sTWpKd2IybHVkSE1sTWpJbE0wRWxOVUlsTjBJbE1qSjRKVEl5SlROQk16VTBMalVsTWtNbE1qSjVKVEl5SlROQk1qRXdMalVsTjBRbE1rTWxOMElsTWpKNEpUSXlKVE5CTXpVMExqVWxNa01sTWpKNUpUSXlKVE5CTWpFd0xqVWxOMFFsTlVRbE1rTWxNakowWlhoMEpUSXlKVE5CSlRJeUpUSXlKVEpESlRJeWRHVjRkRUpzYjJOckpUSXlKVE5CSlRWQ0pUVkVKVGRFSlRKREpUSXlkVWxFZFVoMmJrOW1TRGsyTXpnME55VXlNaVV6UVNVM1FpVXlNbTVoYldVbE1qSWxNMEVsTWpKc2FXNXJaWElsTWpJbE1rTWxNakp3Y205d2N5VXlNaVV6UVNVM1FpVXlNbnBwYm1SbGVDVXlNaVV6UVRZbE4wUWxNa01sTWpKa1lYUmhRWFIwY21saWRYUmxjeVV5TWlVelFTVTFRaVUxUkNVeVF5VXlNbVp5YjIwbE1qSWxNMEVsTjBJbE1qSjRKVEl5SlROQk16VTBMalVsTWtNbE1qSjVKVEl5SlROQk1qZzRKVEpESlRJeVlXNW5iR1VsTWpJbE0wRTBMamN4TWpNNE9EazRNRE00TkRZNUpUSkRKVEl5YVdRbE1qSWxNMEVsTWpKRFNHTlJkWFpuUmxwcU9UQXhOalkzSlRJeUpUZEVKVEpESlRJeWRHOGxNaklsTTBFbE4wSWxNako0SlRJeUpUTkJNelUwTGpVbE1rTWxNako1SlRJeUpUTkJNek0xSlRKREpUSXlhV1FsTWpJbE0wRWxNakoxUjFsNFltbEdaVkJ5TURnd09ETTVKVEl5SlRKREpUSXlZVzVuYkdVbE1qSWxNMEV4TGpVM01EYzVOak15TmpjNU5EZzVOeVUzUkNVeVF5VXlNbWR5YjNWd0pUSXlKVE5CSlRJeUpUSXlKVEpESlRJeWFXUWxNaklsTTBFbE1qSjFTVVIxU0hadVQyWklPVFl6T0RRM0pUSXlKVEpESlRJeWJHbHVaVk4wZVd4bEpUSXlKVE5CSlRkQ0pUSXliR2x1WlZkcFpIUm9KVEl5SlROQk1TNDFKVGRFSlRKREpUSXliR2x1YTJWeVZIbHdaU1V5TWlVelFTVXlNbUp5YjJ0bGJpVXlNaVV5UXlVeU1teHZZMnRsWkNVeU1pVXpRV1poYkhObEpUSkRKVEl5Y0c5cGJuUnpKVEl5SlROQkpUVkNKVGRDSlRJeWVDVXlNaVV6UVRNMU5DNDFKVEpESlRJeWVTVXlNaVV6UVRNeE1TNDFKVGRFSlRKREpUZENKVEl5ZUNVeU1pVXpRVE0xTkM0MUpUSkRKVEl5ZVNVeU1pVXpRVE14TVM0MUpUZEVKVFZFSlRKREpUSXlkR1Y0ZENVeU1pVXpRU1V5TWlVeU1pVXlReVV5TW5SbGVIUkNiRzlqYXlVeU1pVXpRU1UxUWlVMVJDVTNSQ1V5UXlVeU1tdEJUVko0VGxkT2MyUTNORFF5T0RVbE1qSWxNMEVsTjBJbE1qSnVZVzFsSlRJeUpUTkJKVEl5YkdsdWEyVnlKVEl5SlRKREpUSXljSEp2Y0hNbE1qSWxNMEVsTjBJbE1qSjZhVzVrWlhnbE1qSWxNMEUzSlRkRUpUSkRKVEl5WkdGMFlVRjBkSEpwWW5WMFpYTWxNaklsTTBFbE5VSWxOVVFsTWtNbE1qSm1jbTl0SlRJeUpUTkJKVGRDSlRJeWVDVXlNaVV6UVRNMU5DNDFKVEpESlRJeWVTVXlNaVV6UVRNNE9TVXlReVV5TW1GdVoyeGxKVEl5SlROQk5DNDNNVEl6T0RnNU9EQXpPRFEyT1NVeVF5VXlNbWxrSlRJeUpUTkJKVEl5ZFVkWmVHSnBSbVZRY2pBNE1EZ3pPU1V5TWlVM1JDVXlReVV5TW5SdkpUSXlKVE5CSlRkQ0pUSXllQ1V5TWlVelFUTTFOQzQxSlRKREpUSXllU1V5TWlVelFUUXpOaVV5UXlVeU1tbGtKVEl5SlROQkpUSXlhbWx3WjNGVFRXWlJaREE1Tnpjd01TVXlNaVV5UXlVeU1tRnVaMnhsSlRJeUpUTkJNUzQxTnpBM09UWXpNalkzT1RRNE9UY2xOMFFsTWtNbE1qSm5jbTkxY0NVeU1pVXpRU1V5TWlVeU1pVXlReVV5TW1sa0pUSXlKVE5CSlRJeWEwRk5VbmhPVjA1elpEYzBOREk0TlNVeU1pVXlReVV5TW14cGJtVlRkSGxzWlNVeU1pVXpRU1UzUWlVeU1teHBibVZYYVdSMGFDVXlNaVV6UVRFdU5TVTNSQ1V5UXlVeU1teHBibXRsY2xSNWNHVWxNaklsTTBFbE1qSmljbTlyWlc0bE1qSWxNa01sTWpKc2IyTnJaV1FsTWpJbE0wRm1ZV3h6WlNVeVF5VXlNbkJ2YVc1MGN5VXlNaVV6UVNVMVFpVTFSQ1V5UXlVeU1uUmxlSFFsTWpJbE0wRWxNaklsTWpJbE1rTWxNakowWlhoMFFteHZZMnNsTWpJbE0wRWxOVUlsTlVRbE4wUWxOMFFsTWtNbE1qSmpiMjF0Wlc1MGN5VXlNaVV6UVNVMVFpVTFSQ1V5UXlVeU1uQnNkV2RwYm5NbE1qSWxNMEVsTjBJbE4wUWxNa01sTWpKaGFVTnZiblJoYVc1bGNuTWxNaklsTTBFbE4wSWxOMFFsTWtNbE1qSnBibk5sY25SUVlXZGxUM0IwY3lVeU1pVXpRU1UzUWlVM1JDVXlReVV5TW5CdmMzUlFZWGx0Wlc1MEpUSXlKVE5CSlRkQ0pUZEVKVEpESlRJeWRHaGxiV1VsTWpJbE0wRWxOMElsTWpKd1lXZGxKVEl5SlROQkpUZENKVEl5WW1GamEyZHliM1Z1WkVOdmJHOXlKVEl5SlROQkpUSXlkSEpoYm5Od1lYSmxiblFsTWpJbE4wUWxOMFFsTjBRPSIsCgkiRmlsZUlkIiA6ICJiOTI2MWYwNy1lODhhLTQyMWUtOTY0My0wNmRjMDAxMGM2NjQiCn0K"/>
    </extobj>
    <extobj name="E657119C-6982-421D-8BA7-E74DEB70A7D9-5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d09Ua2xNa01sTWpKemFHOTNSM0pwWkNVeU1pVXpRWFJ5ZFdVbE1rTWxNakp5YVdOb1ZHVjRkQ1V5TWlVelFYUnlkV1VsTWtNbE1qSm9aV2xuYUhRbE1qSWxNMEV4TURBd0pUZEVKVEpESlRJeVpXeGxiV1Z1ZEhNbE1qSWxNMEVsTjBJbE1qSkNablJsWkhCaFVYUnJOemd5TXpBMEpUSXlKVE5CSlRkQ0pUSXlhV1FsTWpJbE0wRWxNakpDWm5SbFpIQmhVWFJyTnpneU16QTB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aHFRa3BpVW5SNGRVTXdOamMzT1RZbE1qSWxOMFFsTWtNbE4wSWxNakp1WVcxbEpUSXlKVE5CSlRJeUpVVTFKVGt3SlRoRUpVVTNKVUUzSlVJd0pUSXlKVEpESlRJeWRIbHdaU1V5TWlVelFTVXlNbk4wY21sdVp5VXlNaVV5UXlVeU1uWmhiSFZsSlRJeUpUTkJKVEl5SlRJeUpUSkRKVEl5WTJGMFpXZHZjbmtsTWpJbE0wRWxNakprWldaaGRXeDBKVEl5SlRKREpUSXlhV1FsTWpJbE0wRWxNakoyUkZObVNGUlRTbVZDTXpFM01EazB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VrNVFlVXREU0ZGSFVETTVNakV4TkNVeU1pVTNSQ1V5UXlVM1FpVXlNbTVoYldVbE1qSWxNMEVsTWpJbFJUZ2xRa1lsT1VVbFJUWWxPRVVsUVRVbE1qSWxNa01sTWpKMGVYQmxKVEl5SlROQkpUSXliR2x1YXlVeU1pVXlReVV5TW5aaGJIVmxKVEl5SlROQkpUSXlKVEl5SlRKREpUSXlZMkYwWldkdmNua2xNaklsTTBFbE1qSmtaV1poZFd4MEpUSXlKVEpESlRJeWFXUWxNaklsTTBFbE1qSmtVVzFCY1V0UFRrbHBPVGN5TkRjMUpUSXlKVGRFSlRKREpUZENKVEl5Ym1GdFpTVXlNaVV6UVNVeU1pVkZOQ1ZDUlNWQ1JpVkZOeVZCUXlWQ1FTVXlNaVV5UXlVeU1uUjVjR1VsTWpJbE0wRWxNakp6ZEhKcGJtY2xNaklsTWtNbE1qSjJZV3gxWlNVeU1pVXpRU1V5TWlVeU1pVXlReVV5TW1OaGRHVm5iM0o1SlRJeUpUTkJKVEl5WkdWbVlYVnNkQ1V5TWlVeVF5VXlNbWxrSlRJeUpUTkJKVEl5VG5ScWQzRjJUblJPVVRJNE56QTVPU1V5TWlVM1JDVTFSQ1V5UXlVeU1uQnliM0J6SlRJeUpUTkJKVGRDSlRJeWVDVXlNaVV6UVRJM05pVXlReVV5TW5rbE1qSWxNMEU0T0NVeVF5VXlNbmNsTWpJbE0wRXhNekVsTWtNbE1qSm9KVEl5SlROQk16SWxNa01sTWpKNmFXNWtaWGdsTWpJbE0wRXhKVEpESlRJeVlXNW5iR1VsTWpJbE0wRXdKVGRFSlRKREpUSXljMmhoY0dWVGRIbHNaU1V5TWlVelFTVTNRaVV5TW1Gc2NHaGhKVEl5SlROQk1TVTNSQ1V5UXlVeU1teHBibVZUZEhsc1pTVXlNaVV6UVNVM1FpVXlNbXhwYm1WWGFXUjBhQ1V5TWlVelFURXVOU1UzUkNVeVF5VXlNbVpwYkd4VGRIbHNaU1V5TWlVelFTVTNR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kR1Y0ZEVGc2FXZHVKVEl5SlROQkpUSXlZMlZ1ZEdWeUpUSXlKVEpESlRJeWRrRnNhV2R1SlRJeUpUTkJKVEl5Yldsa1pHeGxKVEl5SlRkRUpUSkRKVEl5ZEdWNGRFSnNiMk5ySlRJeUpUTkJKVFZDSlRkQ0pUSXljRzl6YVhScGIyNGxNaklsTTBFbE4wSWxNako0SlRJeUpUTkJNVEFsTWtNbE1qSjVKVEl5SlROQk1DVXlReVV5TW5jbE1qSWxNMEVsTWpKM0xUSXdKVEl5SlRKREpUSXlhQ1V5TWlVelFTVXlNbWdsTWpJbE4wUWxNa01sTWpKMFpYaDBKVEl5SlROQkpUSXlKVVU0SlVFeUpVRkNKVVU1SlRrNUpVRTBKVVUySlRrMUpVSXdKVEl3SlRKR0pUSXdKVVU1SlRrNUpVRTBKVVUySlRrMUpVSXd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ZEVKVEpESlRJeWJXZHdiRUpCYjFKR1NEUXhNekl6TWlVeU1pVXpRU1UzUWlVeU1tbGtKVEl5SlROQkpUSXliV2R3YkVKQmIxSkdTRFF4TXpJek1p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clNsQm1VVkJ6UkhGU01EYzRNVFU0SlRJeUpUZEVKVEpESlRkQ0pUSXlibUZ0WlNVeU1pVXpRU1V5TWlWRk5TVTVNQ1U0UkNWRk55VkJOeVZDTUNVeU1pVXlReVV5TW5SNWNHVWxNaklsTTBFbE1qSnpkSEpwYm1jbE1qSWxNa01sTWpKMllXeDFaU1V5TWlVelFTVXlNaVV5TWlVeVF5VXlNbU5oZEdWbmIzSjVKVEl5SlROQkpUSXlaR1ZtWVhWc2RDVXlNaVV5UXlVeU1tbGtKVEl5SlROQkpUSXlSbEJOWTNKcFJsUnNWemt3TXprME5D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s5TFVFOTJZbXBNUVZNME5ESTVPVEVsTWpJbE4wUWxNa01sTjBJbE1qSnVZVzFsSlRJeUpUTkJKVEl5SlVVNEpVSkdKVGxGSlVVMkpUaEZKVUUxSlRJeUpUSkRKVEl5ZEhsd1pTVXlNaVV6UVNVeU1teHBibXNsTWpJbE1rTWxNakoyWVd4MVpTVXlNaVV6UVNVeU1pVXlNaVV5UXlVeU1tTmhkR1ZuYjNKNUpUSXlKVE5CSlRJeVpHVm1ZWFZzZENVeU1pVXlReVV5TW1sa0pUSXlKVE5CSlRJeVFXbFVkbk5VU2xkSFp6QXlPVGN5TVNVeU1pVTNSQ1V5UXlVM1FpVXlNbTVoYldVbE1qSWxNMEVsTWpJbFJUUWxRa1VsUWtZbFJUY2xRVU1sUWtFbE1qSWxNa01sTWpKMGVYQmxKVEl5SlROQkpUSXljM1J5YVc1bkpUSXlKVEpESlRJeWRtRnNkV1VsTWpJbE0wRWxNaklsTWpJbE1rTWxNakpqWVhSbFoyOXllU1V5TWlVelFTVXlNbVJsWm1GMWJIUWxNaklsTWtNbE1qSnBaQ1V5TWlVelFTVXlNbkY1UjNwM2VIcElVVlkxTmpnMU1ESWxNaklsTjBRbE5VUWxNa01sTWpKd2NtOXdjeVV5TWlVelFTVTNRaVV5TW5nbE1qSWxNMEV5TlRZbE1rTWxNako1SlRJeUpUTkJNVFE1SlRKREpUSXlkeVV5TWlVelFURTNNU1V5UXlVeU1tZ2xNaklsTTBFek1pVXlReVV5TW5wcGJtUmxlQ1V5TWlVelFUSWxNa01sTWpKaGJtZHNaU1V5TWlVelFUQWxOMFFsTWtNbE1qSnphR0Z3WlZOMGVXeGxKVEl5SlROQkpUZENKVEl5WVd4d2FHRWxNaklsTTBFeEpUZEVKVEpESlRJeWJHbHVaVk4wZVd4bEpUSXlKVE5CSlRkQ0pUSXliR2x1WlZkcFpIUm9KVEl5SlROQk1TNDFKVGRFSlRKREpUSXlabWxzYkZOMGVXeGxKVEl5SlROQkpUZEN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1qSjBaWGgwUVd4cFoyNGxNaklsTTBFbE1qSmpaVzUwWlhJbE1qSWxNa01sTWpKMlFXeHBaMjRsTWpJbE0wRWxNakp0YVdSa2JHVWxNaklsTjBRbE1rTWxNakowWlhoMFFteHZZMnNsTWpJbE0wRWxOVUlsTjBJbE1qSndiM05wZEdsdmJpVXlNaVV6UVNVM1FpVXlNbmdsTWpJbE0wRXhNQ1V5UXlVeU1ua2xNaklsTTBFd0pUSkRKVEl5ZHlVeU1pVXpRU1V5TW5jdE1qQWxNaklsTWtNbE1qSm9KVEl5SlROQkpUSXlhQ1V5TWlVM1JDVXlReVV5TW5SbGVIUWxNaklsTTBFbE1qSWxSVGNsUVVNbFFUWWxSVFVsT0VZbFFqY2xSVFVsUVRRbE9EUWxSVGNsT1RBbE9EWWxSVFFsUWpnbE9FVWxSVGNsT0RrbFFqa2xSVFlsUVVVbE9FRWxSVFlsT0RNbE9EVWxSVFVsT0RZbFFqVWxSVFVsT0RnbFFUUWxSVFlsT1RZbFFVU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bGEyWkJRMk5sYlhWbU1UWXpNVFl5SlRJeUpUTkJKVGRDSlRJeWFXUWxNaklsTTBFbE1qSmxhMlpCUTJObGJYVm1NVFl6TVRZeU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1acVNscHRXRTFFY1dnMU16QTJOallsTWpJbE4wUWxNa01sTjBJbE1qSnVZVzFsSlRJeUpUTkJKVEl5SlVVMUpUa3dKVGhFSlVVM0pVRTNKVUl3SlRJeUpUSkRKVEl5ZEhsd1pTVXlNaVV6UVNVeU1uTjBjbWx1WnlVeU1pVXlReVV5TW5aaGJIVmxKVEl5SlROQkpUSXlKVEl5SlRKREpUSXlZMkYwWldkdmNua2xNaklsTTBFbE1qSmtaV1poZFd4MEpUSXlKVEpESlRJeWFXUWxNaklsTTBFbE1qSkRXRkI0WTNkWmMyRlBNVE00TWpNMU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WVcxUmJFeDFVR1JyU0RFMk5qZzBNU1V5TWlVM1JDVXlReVUzUWlVeU1tNWhiV1VsTWpJbE0wRWxNaklsUlRnbFFrWWxPVVVsUlRZbE9FVWxRVFVsTWpJbE1rTWxNakowZVhCbEpUSXlKVE5CSlRJeWJHbHVheVV5TWlVeVF5VXlNblpoYkhWbEpUSXlKVE5CSlRJeUpUSXlKVEpESlRJeVkyRjBaV2R2Y25rbE1qSWxNMEVsTWpKa1pXWmhkV3gwSlRJeUpUSkRKVEl5YVdRbE1qSWxNMEVsTWpKcWNHNUxhM2RGZEhaRk9EUXpOVGd5SlRJeUpUZEVKVEpESlRkQ0pUSXlibUZ0WlNVeU1pVXpRU1V5TWlWRk5DVkNSU1ZDUmlWRk55VkJReVZDUVNVeU1pVXlReVV5TW5SNWNHVWxNaklsTTBFbE1qSnpkSEpwYm1jbE1qSWxNa01sTWpKMllXeDFaU1V5TWlVelFTVXlNaVV5TWlVeVF5VXlNbU5oZEdWbmIzSjVKVEl5SlROQkpUSXlaR1ZtWVhWc2RDVXlNaVV5UXlVeU1tbGtKVEl5SlROQkpUSXlaMGRvVEhOcVIwdHBiVEV5TXpVek9TVXlNaVUzUkNVMVJDVXlReVV5TW5CeWIzQnpKVEl5SlROQkpUZENKVEl5ZUNVeU1pVXpRVEkxTVNVeVF5VXlNbmtsTWpJbE0wRXlNVEFsTWtNbE1qSjNKVEl5SlROQk1UZ3hKVEpESlRJeWFDVXlNaVV6UVRNeUpUSkRKVEl5ZW1sdVpHVjRKVEl5SlROQk15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eU1uUmxlSFJCYkdsbmJpVXlNaVV6UVNVeU1tTmxiblJsY2lVeU1pVXlReVV5TW5aQmJHbG5iaVV5TWlVelFTVXlNbTFwWkdSc1pTVXlNaVUzUkNVeVF5VXlNblJsZUhSQ2JHOWpheVV5TWlVelFTVTFRaVUzUWlVeU1uQnZjMmwwYVc5dUpUSXlKVE5CSlRkQ0pUSXllQ1V5TWlVelFURXdKVEpESlRJeWVTVXlNaVV6UVRBbE1rTWxNakozSlRJeUpUTkJKVEl5ZHkweU1DVXlNaVV5UXlVeU1tZ2xNaklsTTBFbE1qSm9KVEl5SlRkRUpUSkRKVEl5ZEdWNGRDVXlNaVV6UVNVeU1reGFReVV5TUNWRk5TVkNSQ1U1TWlWRk5DVkNPQ1U0TUNWRk5TVTRReVU1TmlWRk5DVkNPQ1U0UlNWRk5TVTRNQ1U1TWlWRk5pVTVOU1ZDTUNWRk55VkNOQ1ZCTWlWRk5TVkNReVU1TlNWRk55VTVOQ1U1UmlWRk5pVTRPQ1U1TU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a1pOYWxKSFEyaHBVRUkxTkRnd016QWxNaklsTTBFbE4wSWxNakpwWkNVeU1pVXpRU1V5TWtaTmFsSkhRMmhwVUVJMU5EZ3dNekF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kR0puYjJSTFVFdHlaalE1TVRrd055VXlNaVUzUkNVeVF5VTNRaVV5TW01aGJXVWxNaklsTTBFbE1qSWxSVFVsT1RBbE9FUWxSVGNsUVRjbFFqQWxNaklsTWtNbE1qSjBlWEJsSlRJeUpUTkJKVEl5YzNSeWFXNW5KVEl5SlRKREpUSXlkbUZzZFdVbE1qSWxNMEVsTWpJbE1qSWxNa01sTWpKallYUmxaMjl5ZVNVeU1pVXpRU1V5TW1SbFptRjFiSFFsTWpJbE1rTWxNakpwWkNVeU1pVXpRU1V5TW1aRWJFVjJiMGRFUm0wMk9EWTROamd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jZaV2xFV1UxMWMzRmtPRFkzTVRRNUpUSXlKVGRFSlRKREpUZENKVEl5Ym1GdFpTVXlNaVV6UVNVeU1pVkZPQ1ZDUmlVNVJTVkZOaVU0UlNWQk5TVXlNaVV5UXlVeU1uUjVjR1VsTWpJbE0wRWxNakpzYVc1ckpUSXlKVEpESlRJeWRtRnNkV1VsTWpJbE0wRWxNaklsTWpJbE1rTWxNakpqWVhSbFoyOXllU1V5TWlVelFTVXlNbVJsWm1GMWJIUWxNaklsTWtNbE1qSnBaQ1V5TWlVelFTVXlNa1Y1VkdOVVptcE5SMlExTlRnNE5qTWxNaklsTjBRbE1rTWxOMElsTWpKdVlXMWxKVEl5SlROQkpUSXlKVVUwSlVKRkpVSkdKVVUzSlVGREpVSkJKVEl5SlRKREpUSXlkSGx3WlNVeU1pVXpRU1V5TW5OMGNtbHVaeVV5TWlVeVF5VXlNblpoYkhWbEpUSXlKVE5CSlRJeUpUSXlKVEpESlRJeVkyRjBaV2R2Y25rbE1qSWxNMEVsTWpKa1pXWmhkV3gwSlRJeUpUSkRKVEl5YVdRbE1qSWxNMEVsTWpKbWMwbERhV1ZaWjJOc056azVPRE16SlRJeUpUZEVKVFZFSlRKREpUSXljSEp2Y0hNbE1qSWxNMEVsTjBJbE1qSjRKVEl5SlROQk1qVTJKVEpESlRJeWVTVXlNaVV6UVRJM01TVXlReVV5TW5jbE1qSWxNMEV4TnpFbE1rTWxNakpvSlRJeUpUTkJNeklsTWtNbE1qSjZhVzVrWlhnbE1qSWxNMEUwSlRKREpUSXlZVzVuYkdVbE1qSWxNMEV3SlRkRUpUSkRKVEl5YzJoaGNHVlRkSGxzWlNVeU1pVXpRU1UzUWlVeU1tRnNjR2hoSlRJeUpUTkJNU1UzUkNVeVF5VXlNbXhwYm1WVGRIbHNaU1V5TWlVelFTVTNRaVV5TW14cGJtVlhhV1IwYUNVeU1pVXpRVEV1TlNVM1JDVXlReVV5TW1acGJHeFRkSGxzWlNVeU1pVXpRU1UzU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ZEdWNGRFRnNhV2R1SlRJeUpUTkJKVEl5WTJWdWRHVnlKVEl5SlRKREpUSXlka0ZzYVdkdUpUSXlKVE5CSlRJeWJXbGtaR3hsSlRJeUpUZEVKVEpESlRJeWRHVjRkRUpzYjJOckpUSXlKVE5CSlRWQ0pUZENKVEl5Y0c5emFYUnBiMjRsTWpJbE0wRWxOMElsTWpKNEpUSXlKVE5CTVRBbE1rTWxNako1SlRJeUpUTkJNQ1V5UXlVeU1uY2xNaklsTTBFbE1qSjNMVEl3SlRJeUpUSkRKVEl5YUNVeU1pVXpRU1V5TW1nbE1qSWxOMFFsTWtNbE1qSjBaWGgwSlRJeUpUTkJKVEl5TmpSTEpUSXdKVU16SlRrM0pUSXdOREFsTWpCaWFYUWxNakFsUlRVbE9EQWxPVElsUlRZbE9UVWxRakFsTWpCU1QwMG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MGFVbDBaVWhXY1c5ek9UVXhORFUySlRJeUpUTkJKVGRDSlRJeWFXUWxNaklsTTBFbE1qSjBhVWwwWlVoV2NXOXpPVFV4TkRVMk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1sRlkzTlBlVlZyY1ZVMk16VTBPVElsTWpJbE4wUWxNa01sTjBJbE1qSnVZVzFsSlRJeUpUTkJKVEl5SlVVMUpUa3dKVGhFSlVVM0pVRTNKVUl3SlRJeUpUSkRKVEl5ZEhsd1pTVXlNaVV6UVNVeU1uTjBjbWx1WnlVeU1pVXlReVV5TW5aaGJIVmxKVEl5SlROQkpUSXlKVEl5SlRKREpUSXlZMkYwWldkdmNua2xNaklsTTBFbE1qSmtaV1poZFd4MEpUSXlKVEpESlRJeWFXUWxNaklsTTBFbE1qSnVURUZRVkhGNlMxQmFNamszTWpFek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VDFKRVoyaFJRbkJwUkRNd05ESTFOaVV5TWlVM1JDVXlReVUzUWlVeU1tNWhiV1VsTWpJbE0wRWxNaklsUlRnbFFrWWxPVVVsUlRZbE9FVWxRVFVsTWpJbE1rTWxNakowZVhCbEpUSXlKVE5CSlRJeWJHbHVheVV5TWlVeVF5VXlNblpoYkhWbEpUSXlKVE5CSlRJeUpUSXlKVEpESlRJeVkyRjBaV2R2Y25rbE1qSWxNMEVsTWpKa1pXWmhkV3gwSlRJeUpUSkRKVEl5YVdRbE1qSWxNMEVsTWpKblNXcGtSVXR4Y1c1T09UTTFNVGN4SlRJeUpUZEVKVEpESlRkQ0pUSXlibUZ0WlNVeU1pVXpRU1V5TWlWRk5DVkNSU1ZDUmlWRk55VkJReVZDUVNVeU1pVXlReVV5TW5SNWNHVWxNaklsTTBFbE1qSnpkSEpwYm1jbE1qSWxNa01sTWpKMllXeDFaU1V5TWlVelFTVXlNaVV5TWlVeVF5VXlNbU5oZEdWbmIzSjVKVEl5SlROQkpUSXlaR1ZtWVhWc2RDVXlNaVV5UXlVeU1tbGtKVEl5SlROQkpUSXlUV1pVVUc5VFduSnhkRFV4TnpJM01TVXlNaVUzUkNVMVJDVXlReVV5TW5CeWIzQnpKVEl5SlROQkpUZENKVEl5ZUNVeU1pVXpRVEkxTVNVeVF5VXlNbmtsTWpJbE0wRXpNeklsTWtNbE1qSjNKVEl5SlROQk1UZ3hKVEpESlRJeWFDVXlNaVV6UVRNeUpUSkRKVEl5ZW1sdVpHVjRKVEl5SlROQk5TVXlReVV5TW1GdVoyeGxKVEl5SlROQk1DVTNSQ1V5UXlVeU1uTm9ZWEJsVTNSNWJHVWxNaklsTTBFbE4wSWxNakpoYkhCb1lTVXlNaVV6UVRFbE4wUWxNa01sTWpKc2FXNWxVM1I1YkdVbE1qSWxNMEVsTjBJbE1qSnNhVzVsVjJsa2RHZ2xNaklsTTBFeExqVWxOMFFsTWtNbE1qSm1hV3hzVTNSNWJHVWxNaklsTTBFbE4w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eU1uUmxlSFJCYkdsbmJpVXlNaVV6UVNVeU1tTmxiblJsY2lVeU1pVXlReVV5TW5aQmJHbG5iaVV5TWlVelFTVXlNbTFwWkdSc1pTVXlNaVUzUkNVeVF5VXlNblJsZUhSQ2JHOWpheVV5TWlVelFTVTFRaVUzUWlVeU1uQnZjMmwwYVc5dUpUSXlKVE5CSlRkQ0pUSXllQ1V5TWlVelFURXdKVEpESlRJeWVTVXlNaVV6UVRBbE1rTWxNakozSlRJeUpUTkJKVEl5ZHkweU1DVXlNaVV5UXlVeU1tZ2xNaklsTTBFbE1qSm9KVEl5SlRkRUpUSkRKVEl5ZEdWNGRDVXlNaVV6UVNVeU1rZHZiR1J6WTJodGFXUjBKVEl3SlVVMEpVSTRKVGd3SlVVMkpVRkRKVUV4SlVVNEpVSkdKVUZFSlVVMEpVSkNKVUV6SlVVMEpVSkdKVUZGSlVVMkpVRkVKVUV6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VMVJuZUhGWVVVTnpXalUyTnpZNU1TVXlNaVV6UVNVM1FpVXlNbWxrSlRJeUpUTkJKVEl5VTFSbmVIRllVVU56V2pVMk56WTVNU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nhlV2xyUWt0VlIwWlpNamcwTmpneEpUSXlKVGRFSlRKREpUZENKVEl5Ym1GdFpTVXlNaVV6UVNVeU1pVkZOU1U1TUNVNFJDVkZOeVZCTnlWQ01DVXlNaVV5UXlVeU1uUjVjR1VsTWpJbE0wRWxNakp6ZEhKcGJtY2xNaklsTWtNbE1qSjJZV3gxWlNVeU1pVXpRU1V5TWlVeU1pVXlReVV5TW1OaGRHVm5iM0o1SlRJeUpUTkJKVEl5WkdWbVlYVnNkQ1V5TWlVeVF5VXlNbWxrSlRJeUpUTkJKVEl5ZW1WVmNVVk1hV3RNWkRrek16QXhN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scFBVV05hZDNOMmMwdzROelF3TVRNbE1qSWxOMFFsTWtNbE4wSWxNakp1WVcxbEpUSXlKVE5CSlRJeUpVVTRKVUpHSlRsRkpVVTJKVGhGSlVFMUpUSXlKVEpESlRJeWRIbHdaU1V5TWlVelFTVXlNbXhwYm1zbE1qSWxNa01sTWpKMllXeDFaU1V5TWlVelFTVXlNaVV5TWlVeVF5VXlNbU5oZEdWbmIzSjVKVEl5SlROQkpUSXlaR1ZtWVhWc2RDVXlNaVV5UXlVeU1tbGtKVEl5SlROQkpUSXllR2hNZGtWdFNVTkxRamN5T0RRM055VXlNaVUzUkNVeVF5VTNRaVV5TW01aGJXVWxNaklsTTBFbE1qSWxSVFFsUWtVbFFrWWxSVGNsUVVNbFFrRWxNaklsTWtNbE1qSjBlWEJsSlRJeUpUTkJKVEl5YzNSeWFXNW5KVEl5SlRKREpUSXlkbUZzZFdVbE1qSWxNMEVsTWpJbE1qSWxNa01sTWpKallYUmxaMjl5ZVNVeU1pVXpRU1V5TW1SbFptRjFiSFFsTWpJbE1rTWxNakpwWkNVeU1pVXpRU1V5TWtwVlRIRldVbUZJWkdvNE5UWTNOVFlsTWpJbE4wUWxOVVFsTWtNbE1qSndjbTl3Y3lVeU1pVXpRU1UzUWlVeU1uZ2xNaklsTTBFeU16a2xNa01sTWpKNUpUSXlKVE5CTXprekpUSkRKVEl5ZHlVeU1pVXpRVEl3TlNVeVF5VXlNbWdsTWpJbE0wRXpNaVV5UXlVeU1ucHBibVJsZUNVeU1pVXpRVFlsTWtNbE1qSmhibWRzWlNVeU1pVXpRVEFsTjBRbE1rTWxNakp6YUdGd1pWTjBlV3hsSlRJeUpUTkJKVGRDSlRJeVlXeHdhR0VsTWpJbE0wRXhKVGRFSlRKREpUSXliR2x1WlZOMGVXeGxKVEl5SlROQkpUZENKVEl5YkdsdVpWZHBaSFJvSlRJeUpUTkJNUzQxSlRkRUpUSkRKVEl5Wm1sc2JGTjBlV3hsSlRJeUpUTkJKVGRD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owWlhoMFFXeHBaMjRsTWpJbE0wRWxNakpqWlc1MFpYSWxNaklsTWtNbE1qSjJRV3hwWjI0bE1qSWxNMEVsTWpKdGFXUmtiR1VsTWpJbE4wUWxNa01sTWpKMFpYaDBRbXh2WTJzbE1qSWxNMEVsTlVJbE4wSWxNakp3YjNOcGRHbHZiaVV5TWlVelFTVTNRaVV5TW5nbE1qSWxNMEV4TUNVeVF5VXlNbmtsTWpJbE0wRXdKVEpESlRJeWR5VXlNaVV6UVNVeU1uY3RNakFsTWpJbE1rTWxNakpvSlRJeUpUTkJKVEl5YUNVeU1pVTNSQ1V5UXlVeU1uUmxlSFFsTWpJbE0wRWxNaklsUlRRbFFqa2xPVGdsUlRjbFFUY2xRVVlsUlRrbE9EY2xPRVFsUlRZbE9VVWxPRFFsUlRNbE9EQWxPREVsUlRRbFFrUWxPVGtsUlRZbE9UVWxRakFsUlRZbFFUTWxPREFsUlRZbE9VWWxRVFVsUlRRbFFqZ2xPRVVsUlRVbE9UVWxPRFlsUlRVbE9EQWxRa01sUlRZbFFUQWxRVEVsUlRZbFFVUWxRVE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nBkbXR0WkZsa1JWTktOemcwTlRZeUpUSXlKVE5CSlRkQ0pUSXlhV1FsTWpJbE0wRWxNakpwZG10dFpGbGtSVk5LTnpnME5UWXl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aElTWEZoVVdWUWVWSXlNRFl4TmpnbE1qSWxOMFFsTWtNbE4wSWxNakp1WVcxbEpUSXlKVE5CSlRJeUpVVTFKVGt3SlRoRUpVVTNKVUUzSlVJd0pUSXlKVEpESlRJeWRIbHdaU1V5TWlVelFTVXlNbk4wY21sdVp5VXlNaVV5UXlVeU1uWmhiSFZsSlRJeUpUTkJKVEl5SlRJeUpUSkRKVEl5WTJGMFpXZHZjbmtsTWpJbE0wRWxNakprWldaaGRXeDBKVEl5SlRKREpUSXlhV1FsTWpJbE0wRWxNakpwVG1wemRFeFVaWFJUT1RVeU5ESTJ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JVWmFUSE5OYTBsV1VEVTVOelkzT1NVeU1pVTNSQ1V5UXlVM1FpVXlNbTVoYldVbE1qSWxNMEVsTWpJbFJUZ2xRa1lsT1VVbFJUWWxPRVVsUVRVbE1qSWxNa01sTWpKMGVYQmxKVEl5SlROQkpUSXliR2x1YXlVeU1pVXlReVV5TW5aaGJIVmxKVEl5SlROQkpUSXlKVEl5SlRKREpUSXlZMkYwWldkdmNua2xNaklsTTBFbE1qSmtaV1poZFd4MEpUSXlKVEpESlRJeWFXUWxNaklsTTBFbE1qSnpUV1ZJWVc5YVEybHFOek0xTWpZNUpUSXlKVGRFSlRKREpUZENKVEl5Ym1GdFpTVXlNaVV6UVNVeU1pVkZOQ1ZDUlNWQ1JpVkZOeVZCUXlWQ1FTVXlNaVV5UXlVeU1uUjVjR1VsTWpJbE0wRWxNakp6ZEhKcGJtY2xNaklsTWtNbE1qSjJZV3gxWlNVeU1pVXpRU1V5TWlVeU1pVXlReVV5TW1OaGRHVm5iM0o1SlRJeUpUTkJKVEl5WkdWbVlYVnNkQ1V5TWlVeVF5VXlNbWxrSlRJeUpUTkJKVEl5VEdkaVYwMUNVMUJ4U2pVM01URXdOQ1V5TWlVM1JDVTFSQ1V5UXlVeU1uQnliM0J6SlRJeUpUTkJKVGRDSlRJeWVDVXlNaVV6UVRJek5pVXlReVV5TW5rbE1qSWxNMEUwTlRRbE1rTWxNakozSlRJeUpUTkJNakV4SlRKREpUSXlhQ1V5TWlVelFUTXlKVEpESlRJeWVtbHVaR1Y0SlRJeUpUTkJOeVV5UXlVeU1tRnVaMnhsSlRJeUpUTkJNQ1UzUkNVeVF5VXlNbk5vWVhCbFUzUjViR1VsTWpJbE0wRWxOMElsTWpKaGJIQm9ZU1V5TWlVelFURWxOMFFsTWtNbE1qSnNhVzVsVTNSNWJHVWxNaklsTTBFbE4wSWxNakpzYVc1bFYybGtkR2dsTWpJbE0wRXhMalVsTjBRbE1rTWxNakptYVd4c1UzUjViR1VsTWpJbE0wRWxOME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lJsZUhSQmJHbG5iaVV5TWlVelFTVXlNbU5sYm5SbGNpVXlNaVV5UXlVeU1uWkJiR2xuYmlVeU1pVXpRU1V5TW0xcFpHUnNaU1V5TWlVM1JDVXlReVV5TW5SbGVIUkNiRzlqYXlVeU1pVXpRU1UxUWlVM1FpVXlNbkJ2YzJsMGFXOXVKVEl5SlROQkpUZENKVEl5ZUNVeU1pVXpRVEV3SlRKREpUSXllU1V5TWlVelFUQWxNa01sTWpKM0pUSXlKVE5CSlRJeWR5MHlNQ1V5TWlVeVF5VXlNbWdsTWpJbE0wRWxNakpvSlRJeUpUZEVKVEpESlRJeWRHVjRkQ1V5TWlVelFTVXlNaVZGTlNVNU5TVTROaVV5TUNVeVJpVXlNQ1ZGTkNWQ1JDVTVPU1ZGTmlVNU5TVkNNQ1ZGTnlWQlF5VkJOaVZGTlNVNFJpVkNOeVZGTmlVNE1TVkJNaVZGTlNWQk5DVTRSQ1ZGTkNWQ09DVTRSU1ZGTnlWQ1FpVTVNeVZGTmlVNVJTVTVReVZGTmlVNFJpVTVNQ1ZGTkNWQ1FTVkJO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rdDBZbkpyVWxKaFdFODVNak0yTWpVbE1qSWxNMEVsTjBJbE1qSnVZVzFsSlRJeUpUTkJKVEl5YkdsdWEyVnlKVEl5SlRKREpUSXljSEp2Y0hNbE1qSWxNMEVsTjBJbE1qSjZhVzVrWlhnbE1qSWxNMEU0SlRkRUpUSkRKVEl5WkdGMFlVRjBkSEpwWW5WMFpYTWxNaklsTTBFbE5VSWxOVVFsTWtNbE1qSm1jbTl0SlRJeUpUTkJKVGRDSlRJeWVDVXlNaVV6UVRNME1TNDFKVEpESlRJeWVTVXlNaVV6UVRFeU1DVXlReVV5TW1GdVoyeGxKVEl5SlROQk5DNDNNVEl6T0RnNU9EQXpPRFEyT1NVeVF5VXlNbWxrSlRJeUpUTkJKVEl5UW1aMFpXUndZVkYwYXpjNE1qTXdOQ1V5TWlVM1JDVXlReVV5TW5SdkpUSXlKVE5CSlRkQ0pUSXllQ1V5TWlVelFUTTBNUzQxSlRKREpUSXllU1V5TWlVelFURTBPU1V5UXlVeU1tbGtKVEl5SlROQkpUSXliV2R3YkVKQmIxSkdTRFF4TXpJek1pVXlNaVV5UXlVeU1tRnVaMnhsSlRJeUpUTkJNUzQxTnpBM09UWXpNalkzT1RRNE9UY2xOMFFsTWtNbE1qSm5jbTkxY0NVeU1pVXpRU1V5TWlVeU1pVXlReVV5TW1sa0pUSXlKVE5CSlRJeVMzUmljbXRTVW1GWVR6a3lNell5TlNVeU1pVXlReVV5TW14cGJtVlRkSGxzWlNVeU1pVXpRU1UzUWlVeU1teHBibVZYYVdSMGFDVXlNaVV6UVRFdU5TVTNSQ1V5UXlVeU1teHBibXRsY2xSNWNHVWxNaklsTTBFbE1qSmljbTlyWlc0bE1qSWxNa01sTWpKc2IyTnJaV1FsTWpJbE0wRm1ZV3h6WlNVeVF5VXlNbkJ2YVc1MGN5VXlNaVV6UVNVMVFpVTNRaVV5TW5nbE1qSWxNMEV6TkRFdU5TVXlReVV5TW5rbE1qSWxNMEV4TXpRdU5TVTNSQ1V5UXlVM1FpVXlNbmdsTWpJbE0wRXpOREV1TlNVeVF5VXlNbmtsTWpJbE0wRXhNelF1TlNVM1JDVTFSQ1V5UXlVeU1uUmxlSFFsTWpJbE0wRWxNaklsTWpJbE1rTWxNakowWlhoMFFteHZZMnNsTWpJbE0wRWxOVUlsTlVRbE4wUWxNa01sTWpKU1MyRm9hMDkwZEhGNk5EQTBPRFEzSlRJeUpUTkJKVGRDSlRJeWFXUWxNaklsTTBFbE1qSlNTMkZvYTA5MGRIRjZOREEwT0RRM0pUSXlKVEpESlRJeWJtRnRaU1V5TWlVelFTVXlNbXhwYm10bGNpVXlNaVV5UXlVeU1uUmxlSFFsTWpJbE0wRWxNaklsTWpJbE1rTWxNakpuY205MWNDVXlNaVV6UVNVeU1pVXlNaVV5UXlVeU1teHBibXRsY2xSNWNHVWxNaklsTTBFbE1qSmljbTlyWlc0bE1qSWxNa01sTWpKd2IybHVkSE1sTWpJbE0wRWxOVUlsTjBJbE1qSjRKVEl5SlROQk16UXhMalVsTWtNbE1qSjVKVEl5SlROQk1UazFMalVsTjBRbE1rTWxOMElsTWpKNEpUSXlKVE5CTXpReExqVWxNa01sTWpKNUpUSXlKVE5CTVRrMUxqVWxOMFFsTlVRbE1rTWxNakpzYjJOclpXUWxNaklsTTBGbVlXeHpaU1V5UXlVeU1tUmhkR0ZCZEhSeWFXSjFkR1Z6SlRJeUpUTkJKVFZDSlRWRUpUSkRKVEl5Y0hKdmNITWxNaklsTTBFbE4wSWxNako2YVc1a1pYZ2xNaklsTTBFNUpUZEVKVEpESlRJeWJHbHVaVk4wZVd4bEpUSXlKVE5CSlRkQ0pUSXliR2x1WlZkcFpIUm9KVEl5SlROQk1TNDFKVGRFSlRKREpUSXlabkp2YlNVeU1pVXpRU1UzUWlVeU1uZ2xNaklsTTBFek5ERXVOU1V5UXlVeU1ua2xNaklsTTBFeE9ERWxNa01sTWpKaGJtZHNaU1V5TWlVelFUUXVOekV5TXpnNE9UZ3dNemcwTmprbE1rTWxNakpwWkNVeU1pVXpRU1V5TW0xbmNHeENRVzlTUmtnME1UTXlNeklsTWpJbE4wUWxNa01sTWpKMGJ5VXlNaVV6UVNVM1FpVXlNbWxrSlRJeUpUTkJKVEl5Wld0bVFVTmpaVzExWmpFMk16RTJNaVV5TWlVeVF5VXlNbmdsTWpJbE0wRXpOREV1TlNVeVF5VXlNbmtsTWpJbE0wRXlNVEFsTWtNbE1qSmhibWRzWlNVeU1pVXpRVEV1TlRjd056azJNekkyTnprME9EazNKVGRFSlRKREpUSXlkR1Y0ZEVKc2IyTnJKVEl5SlROQkpUVkNKVFZFSlRkRUpUSkRKVEl5U2xWalpGaE9SSEYzVFRNeE9EWTRPU1V5TWlVelFTVTNRaVV5TW1sa0pUSXlKVE5CSlRJeVNsVmpaRmhPUkhGM1RUTXhPRFk0T1NVeU1pVXlReVV5TW01aGJXVWxNaklsTTBFbE1qSnNhVzVyWlhJbE1qSWxNa01sTWpKMFpYaDBKVEl5SlROQkpUSXlKVEl5SlRKREpUSXlaM0p2ZFhBbE1qSWxNMEVsTWpJbE1qSWxNa01sTWpKc2FXNXJaWEpVZVhCbEpUSXlKVE5CSlRJeVluSnZhMlZ1SlRJeUpUSkRKVEl5Y0c5cGJuUnpKVEl5SlROQkpUVkNKVGRDSlRJeWVDVXlNaVV6UVRNME1TNDFKVEpESlRJeWVTVXlNaVV6UVRJMU5pNDFKVGRFSlRKREpUZENKVEl5ZUNVeU1pVXpRVE0wTVM0MUpUSkRKVEl5ZVNVeU1pVXpRVEkxTmk0MUpUZEVKVFZFSlRKREpUSXliRzlqYTJWa0pUSXlKVE5CWm1Gc2MyVWxNa01sTWpKa1lYUmhRWFIwY21saWRYUmxjeVV5TWlVelFTVTFRaVUxUkNVeVF5VXlNbkJ5YjNCekpUSXlKVE5CSlRkQ0pUSXllbWx1WkdWNEpUSXlKVE5CTVRBbE4wUWxNa01sTWpKc2FXNWxVM1I1YkdVbE1qSWxNMEVsTjBJbE1qSnNhVzVsVjJsa2RHZ2xNaklsTTBFeExqVWxOMFFsTWtNbE1qSm1jbTl0SlRJeUpUTkJKVGRDSlRJeWVDVXlNaVV6UVRNME1TNDFKVEpESlRJeWVTVXlNaVV6UVRJME1pVXlReVV5TW1GdVoyeGxKVEl5SlROQk5DNDNNVEl6T0RnNU9EQXpPRFEyT1NVeVF5VXlNbWxrSlRJeUpUTkJKVEl5Wld0bVFVTmpaVzExWmpFMk16RTJNaVV5TWlVM1JDVXlReVV5TW5SdkpUSXlKVE5CSlRkQ0pUSXlhV1FsTWpJbE0wRWxNakpHVFdwU1IwTm9hVkJDTlRRNE1ETXdKVEl5SlRKREpUSXllQ1V5TWlVelFUTTBNUzQxSlRKREpUSXllU1V5TWlVelFUSTNNU1V5UXlVeU1tRnVaMnhsSlRJeUpUTkJNUzQxTnpBM09UWXpNalkzT1RRNE9UY2xOMFFsTWtNbE1qSjBaWGgwUW14dlkyc2xNaklsTTBFbE5VSWxOVVFsTjBRbE1rTWxNakpvVUU5S2JHbFRWRmw2T0RReU1qZ3hKVEl5SlROQkpUZENKVEl5YVdRbE1qSWxNMEVsTWpKb1VFOUtiR2xUVkZsNk9EUXlNamd4SlRJeUpUSkRKVEl5Ym1GdFpTVXlNaVV6UVNVeU1teHBibXRsY2lVeU1pVXlReVV5TW5SbGVIUWxNaklsTTBFbE1qSWxNaklsTWtNbE1qSm5jbTkxY0NVeU1pVXpRU1V5TWlVeU1pVXlReVV5TW14cGJtdGxjbFI1Y0dVbE1qSWxNMEVsTWpKaWNtOXJaVzRsTWpJbE1rTWxNakp3YjJsdWRITWxNaklsTTBFbE5VSWxOMElsTWpKNEpUSXlKVE5CTXpReExqVWxNa01sTWpKNUpUSXlKVE5CTXpFM0xqVWxOMFFsTWtNbE4wSWxNako0SlRJeUpUTkJNelF4TGpVbE1rTWxNako1SlRJeUpUTkJNekUzTGpVbE4wUWxOVVFsTWtNbE1qSnNiMk5yWldRbE1qSWxNMEZtWVd4elpTVXlReVV5TW1SaGRHRkJkSFJ5YVdKMWRHVnpKVEl5SlROQkpUVkNKVFZFSlRKREpUSXljSEp2Y0hNbE1qSWxNMEVsTjBJbE1qSjZhVzVrWlhnbE1qSWxNMEV4TVNVM1JDVXlReVV5TW14cGJtVlRkSGxzWlNVeU1pVXpRU1UzUWlVeU1teHBibVZYYVdSMGFDVXlNaVV6UVRFdU5TVTNSQ1V5UXlVeU1tWnliMjBsTWpJbE0wRWxOMElsTWpKNEpUSXlKVE5CTXpReExqVWxNa01sTWpKNUpUSXlKVE5CTXpBekpUSkRKVEl5WVc1bmJHVWxNaklsTTBFMExqY3hNak00T0RrNE1ETTRORFk1SlRKREpUSXlhV1FsTWpJbE0wRWxNakpHVFdwU1IwTm9hVkJDTlRRNE1ETXdKVEl5SlRkRUpUSkRKVEl5ZEc4bE1qSWxNMEVsTjBJbE1qSnBaQ1V5TWlVelFTVXlNblJwU1hSbFNGWnhiM001TlRFME5UWWxNaklsTWtNbE1qSjRKVEl5SlROQk16UXhMalVsTWtNbE1qSjVKVEl5SlROQk16TXlKVEpESlRJeVlXNW5iR1VsTWpJbE0wRXhMalUzTURjNU5qTXlOamM1TkRnNU55VTNSQ1V5UXlVeU1uUmxlSFJDYkc5amF5VXlNaVV6UVNVMVFpVTFSQ1UzUkNVeVF5VXlNa1IyYm1KQlYyeEZXSFU1TWprNU16UWxNaklsTTBFbE4wSWxNakpwWkNVeU1pVXpRU1V5TWtSMmJtSkJWMnhGV0hVNU1qazVNelFsTWpJbE1rTWxNakp1WVcxbEpUSXlKVE5CSlRJeWJHbHVhMlZ5SlRJeUpUSkRKVEl5ZEdWNGRDVXlNaVV6UVNVeU1pVXlNaVV5UXlVeU1tZHliM1Z3SlRJeUpUTkJKVEl5SlRJeUpUSkRKVEl5YkdsdWEyVnlWSGx3WlNVeU1pVXpRU1V5TW1KeWIydGxiaVV5TWlVeVF5VXlNbkJ2YVc1MGN5VXlNaVV6UVNVMVFpVTNRaVV5TW5nbE1qSWxNMEV6TkRFdU5TVXlReVV5TW5rbE1qSWxNMEV6TnpndU5TVTNSQ1V5UXlVM1FpVXlNbmdsTWpJbE0wRXpOREV1TlNVeVF5VXlNbmtsTWpJbE0wRXpOemd1TlNVM1JDVTFSQ1V5UXlVeU1teHZZMnRsWkNVeU1pVXpRV1poYkhObEpUSkRKVEl5WkdGMFlVRjBkSEpwWW5WMFpYTWxNaklsTTBFbE5VSWxOVVFsTWtNbE1qSndjbTl3Y3lVeU1pVXpRU1UzUWlVeU1ucHBibVJsZUNVeU1pVXpRVEV5SlRkRUpUSkRKVEl5YkdsdVpWTjBlV3hsSlRJeUpUTkJKVGRDSlRJeWJHbHVaVmRwWkhSb0pUSXlKVE5CTVM0MUpUZEVKVEpESlRJeVpuSnZiU1V5TWlVelFTVTNRaVV5TW5nbE1qSWxNMEV6TkRFdU5TVXlReVV5TW5rbE1qSWxNMEV6TmpRbE1rTWxNakpoYm1kc1pTVXlNaVV6UVRRdU56RXlNemc0T1Rnd016ZzBOamtsTWtNbE1qSnBaQ1V5TWlVelFTVXlNblJwU1hSbFNGWnhiM001TlRFME5UWWxNaklsTjBRbE1rTWxNakowYnlVeU1pVXpRU1UzUWlVeU1tbGtKVEl5SlROQkpUSXlVMVJuZUhGWVVVTnpXalUyTnpZNU1TVXlNaVV5UXlVeU1uZ2xNaklsTTBFek5ERXVOU1V5UXlVeU1ua2xNaklsTTBFek9UTWxNa01sTWpKaGJtZHNaU1V5TWlVelFURXVOVGN3TnprMk16STJOemswT0RrM0pUZEVKVEpESlRJeWRHVjRkRUpzYjJOckpUSXlKVE5CSlRWQ0pUVkVKVGRFSlRKREpUSXlSRzU2VkZSb1QyTjNXVE0xT0RZNU55VXlNaVV6UVNVM1FpVXlNbWxrSlRJeUpUTkJKVEl5Ukc1NlZGUm9UMk4zV1RNMU9EWTVOeVV5TWlVeVF5VXlNbTVoYldVbE1qSWxNMEVsTWpKc2FXNXJaWElsTWpJbE1rTWxNakowWlhoMEpUSXlKVE5CSlRJeUpUSXlKVEpESlRJeVozSnZkWEFsTWpJbE0wRWxNaklsTWpJbE1rTWxNakpzYVc1clpYSlVlWEJsSlRJeUpUTkJKVEl5WW5KdmEyVnVKVEl5SlRKREpUSXljRzlwYm5SekpUSXlKVE5CSlRWQ0pUZENKVEl5ZUNVeU1pVXpRVE0wTVM0MUpUSkRKVEl5ZVNVeU1pVXpRVFF6T1M0MUpUZEVKVEpESlRkQ0pUSXllQ1V5TWlVelFUTTBNUzQxSlRKREpUSXllU1V5TWlVelFUUXpPUzQxSlRkRUpUVkVKVEpESlRJeWJHOWphMlZrSlRJeUpUTkJabUZzYzJVbE1rTWxNakprWVhSaFFYUjBjbWxpZFhSbGN5VXlNaVV6UVNVMVFpVTFSQ1V5UXlVeU1uQnliM0J6SlRJeUpUTkJKVGRDSlRJeWVtbHVaR1Y0SlRJeUpUTkJNVE1sTjBRbE1rTWxNakpzYVc1bFUzUjViR1VsTWpJbE0wRWxOMElsTWpKc2FXNWxWMmxrZEdnbE1qSWxNMEV4TGpVbE4wUWxNa01sTWpKbWNtOXRKVEl5SlROQkpUZENKVEl5WVc1bmJHVWxNaklsTTBFMExqY3hNak00T0RrNE1ETTRORFk1SlRKREpUSXllQ1V5TWlVelFUTTBNUzQxSlRKREpUSXllU1V5TWlVelFUUXlOU1V5UXlVeU1tbGtKVEl5SlROQkpUSXlVMVJuZUhGWVVVTnpXalUyTnpZNU1TVXlNaVUzUkNVeVF5VXlNblJ2SlRJeUpUTkJKVGRDSlRJeWFXUWxNaklsTTBFbE1qSnBkbXR0WkZsa1JWTktOemcwTlRZeUpUSXlKVEpESlRJeWVDVXlNaVV6UVRNME1TNDFKVEpESlRJeWVTVXlNaVV6UVRRMU5DVXlReVV5TW1GdVoyeGxKVEl5SlROQk1TNDFOekEzT1RZek1qWTNPVFE0T1RjbE4wUWxNa01sTWpKMFpYaDBRbXh2WTJzbE1qSWxNMEVsTlVJbE5VUWxOMFFsTjBRbE1rTWxNakpqYjIxdFpXNTBjeVV5TWlVelFTVTFRaVUxUkNVeVF5VXlNbkJzZFdkcGJuTWxNaklsTTBFbE4wSWxOMFFsTWtNbE1qSmhhVU52Ym5SaGFXNWxjbk1sTWpJbE0wRWxOMElsTjBRbE1rTWxNakpwYm5ObGNuUlFZV2RsVDNCMGN5VXlNaVV6UVNVM1FpVTNSQ1V5UXlVeU1uQnZjM1JRWVhsdFpXNTBKVEl5SlROQkpUZENKVGRFSlRKREpUSXlkR2hsYldVbE1qSWxNMEVsTjBJbE1qSndZV2RsSlRJeUpUTkJKVGRDSlRJeVltRmphMmR5YjNWdVpFTnZiRzl5SlRJeUpUTkJKVEl5ZEhKaGJuTndZWEpsYm5RbE1qSWxOMFFsTjBRbE4wUT0iLAoJIkZpbGVJZCIgOiAiMjhlOWZjOGUtODk1MS00YjdlLWFiMWYtNzlhNmNmYTg1Zjg1Igp9Cg=="/>
    </extobj>
  </extobjs>
</s:customData>
</file>

<file path=customXml/itemProps1.xml><?xml version="1.0" encoding="utf-8"?>
<ds:datastoreItem xmlns:ds="http://schemas.openxmlformats.org/officeDocument/2006/customXml" ds:itemID="{E5E8D7B0-0EA7-4ACF-8EC7-566364F197FD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2493</Words>
  <Application>Microsoft Office PowerPoint</Application>
  <PresentationFormat>宽屏</PresentationFormat>
  <Paragraphs>177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Calibri</vt:lpstr>
      <vt:lpstr>Alimama ShuHeiTi Bold</vt:lpstr>
      <vt:lpstr>AlibabaPuHuiTi_2_65_Medium</vt:lpstr>
      <vt:lpstr>HarmonyOS Sans SC Black</vt:lpstr>
      <vt:lpstr>Wingdings</vt:lpstr>
      <vt:lpstr>微软雅黑</vt:lpstr>
      <vt:lpstr>Arial</vt:lpstr>
      <vt:lpstr>HarmonyOS Sans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雅萍 崔</cp:lastModifiedBy>
  <cp:revision>175</cp:revision>
  <dcterms:created xsi:type="dcterms:W3CDTF">2026-04-10T06:20:00Z</dcterms:created>
  <dcterms:modified xsi:type="dcterms:W3CDTF">2026-07-17T08:07:26Z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77F7030757BE451B952D6E59414A655C_13</vt:lpwstr>
  </property>
</Properties>
</file>